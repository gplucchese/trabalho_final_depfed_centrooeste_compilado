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82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947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Abertura. Apresentar o objetivo: entender que perfis de candidatos a Deputado Federal existem no Centro-Oeste quando se combinam idade, escolaridade, patrimônio e gasto de campanha. Todos os números vêm da execução do notebook sobre os arquivos do TSE.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o fio condutor: cada etapa responde uma pergunta e alimenta a seguinte. O cluster criado na etapa 5 vira item da cesta do Apriori (etapa 7) e referência da detecção de anomalias por grupo (etapa 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Objetivo: identificar perfis de candidatos e testar se o gasto de campanha é uma dimensão própria. População: todos os 692 candidatos a Deputado Federal nas 4 UFs do Centro-Oeste. Fontes: base de candidatos e bens do TSE (gerada em 08/09/2026) e despesas contratadas (22/09 no DF; 29/09 nos demais). A eleição ocorre em 04/10/2026, então o resultado ainda não existe na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Idade: quase simétrica, com mediana de 48 anos. Anos de estudo: 65% têm superior completo, então a variável discrimina pouco no topo. Bens e gasto: bimodais após o log, com uma massa em zero (28% e 22%) e um sino entre dezenas de milhares e milhões de reais. Essas massas em zero vão comandar os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Spearman de 0,52: relação moderada. Os números laranja são os quadrantes: 77 candidatos têm bens e não gastaram; 116 não têm bens e gastaram. Idade e gasto quase não se relacionam (0,14). Esse descolamento é o que o gasto acrescenta à clusterização.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Perfil geral: maioria masculina, branca e com superior completo. Empresário e advogado são as ocupações mais citadas. Estas proporções são a linha de base para o índice de concentração dos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Testamos K de 2 a 10 com o Bisecting K-Means do notebook 02, que a cada passo divide o grupo de maior inércia média. As três curvas mostram o trade-off: K=4 tem os melhores índices (silhueta 0,510 e DB 0,853), mas K=5 perde pouco (silhueta 0,488). A linha cinza é o K-Means comum, que em K=5 cai para 0,347. A partir de 6 as curvas pioram e o ganho de WCSS é marginal.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Defesa do K=5 com honestidade: os índices favorecem K=4, mas a perda em K=5 é pequena (0,510 para 0,488), e o quinto corte revela dois perfis sociais opostos dentro do grupo sem recursos. Com K=6 o algoritmo só parte o grupo C (52 + 26), a silhueta cai para 0,474 e o DB sobe para 0,995. A queda do WCSS é de 22,5% até K=4 e de no máximo 7% por passo depois disso.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árvore mostra a ordem das divisões. O 1º corte separa quem tem recursos (418) de quem não tem. O 2º separa, entre os sem patrimônio, quem fez campanha (112). O 3º isola quem tem bens mas não gastou (78). O 4º corte, que leva a K=5, divide o grupo sem bens e sem despesas por idade e escolaridade.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Radar dos centróides na escala 0–1, com as quatro variáveis: idade, tempo de estudo, bens declarados e despesas declaradas. A tem tudo alto. B tem despesas, mas não bens. C tem bens, mas não despesas. D e E ficam em zero nos dois eixos financeiros e se distinguem por idade e estudo: o polígono de D é o menor em todos os eixos.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tem tudo: patrimônio mediano de R$ 644 mil e despesas medianas de R$ 133 mil. B faz campanha sem patrimônio e é paritário em gênero. C tem patrimônio e não gastou. D é jovem, 77% solteiro, sem superior completo e majoritariamente feminino. E, com o mesmo zero em recursos, é mais velho, 68% com superior, 75% masculino e 70% branco.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padrões mais fortes: D é o único grupo majoritariamente feminino (55%) e 77% solteiro, e ninguém nele tem superior completo. E é 75% masculino e 70% branco. B tem 50% de mulheres e 58% de pretos e pardos. A concentra casados (61%) e superior completo (79%).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Índice de concentração: participação no cluster dividida pela participação na base (1,0 = igual à base). Políticos de carreira e legendas grandes estão em A. PSOL, MISSÃO e PDT, em B. DC e AGIR, nos três grupos sem campanha (C, D e E). Aposentados, estudantes e donas de casa aparecem 5,8 vezes mais em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nomes foram definidos pelo grupo e conferidos contra os dados por uma checagem automática no notebook: A e C têm bens; A e B têm despesas; C não tem despesas; D é mais jovem e menos escolarizado que E. O nome de E deve ser lido como contraste com D, já que o tempo de estudo de E (14,7 anos) é próximo da média da base (14,1).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Seguimos o notebook 03: qcut sobre o rank, o que sempre gera 4 faixas de 173 candidatos. Sem o rank, o qcut daria 2 faixas para os anos de estudo e 3 para os bens. O custo: valores empatados são repartidos pela ordem das linhas. Em anos de estudo, Q3 e Q4 são ambos 16 anos, e Q2 mistura 13 e 16. Por isso só 'Estudo=Q1' (sem superior completo) é interpretado; para escolaridade usamos o grau de instrução.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Cesta do notebook 03: cada candidato é uma cesta com 97 itens possíveis. Suporte mínimo de 2% (pelo menos 14 candidatos), itemsets de até 3 itens e lift de pelo menos 1, o que gera 3.534 itemsets e 12.084 regras. Nos grafos, cada cluster mostra 1 regra financeira (a que define o cluster) e 2 cadastrais (as que ajudam a interpretar).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Dado o cluster, que características aparecem com lift alto? B: 92% em Bens=Q1, com PSOL e PDT concentrados. C: 97% em Despesas=Q1, e o DC aparece 3,3 vezes mais. D: 84% sem superior completo e ensino médio completo 2,7 vezes mais. Em E, as regras cadastrais de maior lift usam Estudo=Q2/Q4, que é artefato do rank; por isso E se caracteriza melhor pela ficha técnica. As regras de A têm lift baixo porque A é 60% da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Despesas no quartil mais alto com superior completo levam a A em 100% dos 149 casos. Bens altos sem despesas levam a C com lift de 8,4. Sem superior completo e até 40 anos leva a D com lift de 5,6, a regra cadastral mais forte da análise. PSOL leva a B com lift de 2,9 e DC leva a C com lift de 3,3. Para E, as regras cadastrais são fracas (lift de cerca de 1,5): E não é previsto por um atributo isolado.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A, B, C e D, a regra financeira reproduz o nome e as cadastrais acrescentam o perfil. Para E, as regras confirmam 'sem bens nem despesas' (lift 8,1), mas 'escolarizados' só se sustenta em contraste com D. Sugestão: manter o nome e dizer isso explicitamente, ou usar algo como 'Mais velhos sem bens nem despesas'.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Parâmetros do notebook 04: 200 árvores e contaminação de 0,05. O modo 'auto' marcaria 35% da base. A curva de scores ordenados cai de forma íngreme até cerca de -0,10 e depois sobe quase em linha reta; o corte de 5% cai exatamente em -0,10. Além disso, 35 casos podem ser examinados um a um. Por cluster: max(5%, 2/n), que dá 5% em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 27 dos 35 atípicos globais, a variável que mais os afasta da população é o tempo de estudo. A mediana dos atípicos é de 4 anos de estudo, contra 16 dos típicos. Seguem-se as idades extremas (85 e 86 anos) e combinações raras, como fundamental incompleto com R$ 1 milhão de despesas. Como o log comprime os patrimônios, as fortunas não aparecem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 a escala de cada cluster, a pergunta muda. Em A surgem as grandes fortunas que o olhar global não destacava: R$ 103,7 milhões, R$ 86,8 milhões aos 26 anos e R$ 66,8 milhões aos 29. Surge também quem está em A com despesa quase nula (R$ 40). Em C, D e E, os atípicos são casos de fronteira, com poucos reais de bens ou despesas num grupo de zeros. 14 candidatos são atípicos nos dois olhares e 22 só dentro do próprio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Responder às perguntas 1 a 4: perfis, o que os diferencia, regras-chave e anomalias. Enfatizar que os três primeiros cortes são financeiros e que o quinto revela dois perfis sociais opostos entre os candidatos sem recursos.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Separar o que já se esperava (legendas grandes concentram recursos; patrimônio e campanha andam juntos no topo) do que é novo (patrimônio e campanha se descolam na base; paridade de gênero em B; dois perfis sociais opostos sem recursos; o Isolation Forest aponta escolaridade, e não riqueza). Fechar com a contribuição.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de referência para perguntas da banca. Cada decisão está documentada no notebook, na célula correspondente.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</a:rPr>
              <a:t>ELEIÇÕES 2026 · DEPUTADO FEDERAL · CENTRO-OESTE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863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Quem tem, quem gasta e quem só concorre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2" y="2998549"/>
            <a:ext cx="5146828" cy="1436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 dirty="0" err="1">
                <a:solidFill>
                  <a:srgbClr val="CADCFC"/>
                </a:solidFill>
                <a:latin typeface="Calibri"/>
              </a:rPr>
              <a:t>Perfis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candidatos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por</a:t>
            </a:r>
            <a:r>
              <a:rPr lang="pt-BR" sz="1600" b="0" i="0" dirty="0">
                <a:solidFill>
                  <a:srgbClr val="CADCFC"/>
                </a:solidFill>
                <a:latin typeface="Calibri"/>
              </a:rPr>
              <a:t>:</a:t>
            </a:r>
            <a:endParaRPr lang="pt-BR" sz="1600" dirty="0">
              <a:solidFill>
                <a:srgbClr val="CADCFC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pt-BR" sz="1600" dirty="0">
                <a:solidFill>
                  <a:srgbClr val="CADCFC"/>
                </a:solidFill>
                <a:latin typeface="Calibri"/>
              </a:rPr>
              <a:t>- C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lusterização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 (Bisecting K-Means), </a:t>
            </a:r>
            <a:endParaRPr lang="pt-BR" sz="1600" b="0" i="0" dirty="0">
              <a:solidFill>
                <a:srgbClr val="CADCFC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pt-BR" sz="1600" dirty="0">
                <a:solidFill>
                  <a:srgbClr val="CADCFC"/>
                </a:solidFill>
                <a:latin typeface="Calibri"/>
              </a:rPr>
              <a:t>- R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egras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associação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 (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Apriori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) </a:t>
            </a:r>
            <a:endParaRPr lang="pt-BR" sz="1600" b="0" i="0" dirty="0">
              <a:solidFill>
                <a:srgbClr val="CADCFC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pt-BR" sz="1600" dirty="0">
                <a:solidFill>
                  <a:srgbClr val="CADCFC"/>
                </a:solidFill>
                <a:latin typeface="Calibri"/>
              </a:rPr>
              <a:t>- D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etecção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anomalias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 (Isolation Forest)</a:t>
            </a:r>
            <a:endParaRPr lang="pt-BR" sz="1600" b="0" i="0" dirty="0">
              <a:solidFill>
                <a:srgbClr val="CADCFC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pt-BR" sz="1600" dirty="0">
                <a:solidFill>
                  <a:srgbClr val="CADCFC"/>
                </a:solidFill>
                <a:latin typeface="Calibri"/>
              </a:rPr>
              <a:t>*D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espesas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campanha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como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 4ª </a:t>
            </a:r>
            <a:r>
              <a:rPr sz="1600" b="0" i="0" dirty="0" err="1">
                <a:solidFill>
                  <a:srgbClr val="CADCFC"/>
                </a:solidFill>
                <a:latin typeface="Calibri"/>
              </a:rPr>
              <a:t>variável</a:t>
            </a:r>
            <a:r>
              <a:rPr sz="1600" b="0" i="0" dirty="0">
                <a:solidFill>
                  <a:srgbClr val="CADCFC"/>
                </a:solidFill>
                <a:latin typeface="Calibri"/>
              </a:rPr>
              <a:t>-driver (K = 5)</a:t>
            </a:r>
          </a:p>
        </p:txBody>
      </p:sp>
      <p:sp>
        <p:nvSpPr>
          <p:cNvPr id="13" name="Oval 12"/>
          <p:cNvSpPr/>
          <p:nvPr/>
        </p:nvSpPr>
        <p:spPr>
          <a:xfrm>
            <a:off x="8915400" y="914400"/>
            <a:ext cx="1097280" cy="10972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418</a:t>
            </a:r>
          </a:p>
        </p:txBody>
      </p:sp>
      <p:sp>
        <p:nvSpPr>
          <p:cNvPr id="14" name="Oval 13"/>
          <p:cNvSpPr/>
          <p:nvPr/>
        </p:nvSpPr>
        <p:spPr>
          <a:xfrm>
            <a:off x="10332720" y="914400"/>
            <a:ext cx="1097280" cy="10972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112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0" y="2240280"/>
            <a:ext cx="1097280" cy="109728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78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0" y="2240280"/>
            <a:ext cx="1097280" cy="1097280"/>
          </a:xfrm>
          <a:prstGeom prst="ellipse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44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2240280"/>
            <a:ext cx="1097280" cy="1097280"/>
          </a:xfrm>
          <a:prstGeom prst="ellipse">
            <a:avLst/>
          </a:prstGeom>
          <a:solidFill>
            <a:srgbClr val="D55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661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Os 5 perfis encontrados (candidatos por cluster)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556FF712-C011-7FBF-1E41-3FDD7AD7C65C}"/>
              </a:ext>
            </a:extLst>
          </p:cNvPr>
          <p:cNvSpPr txBox="1"/>
          <p:nvPr/>
        </p:nvSpPr>
        <p:spPr>
          <a:xfrm>
            <a:off x="5484625" y="5012505"/>
            <a:ext cx="1724043" cy="1528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pt-BR" sz="1600" i="1" dirty="0">
                <a:solidFill>
                  <a:schemeClr val="accent2"/>
                </a:solidFill>
              </a:rPr>
              <a:t>Renata Borges</a:t>
            </a:r>
            <a:br>
              <a:rPr lang="pt-BR" sz="1600" i="1" dirty="0">
                <a:solidFill>
                  <a:schemeClr val="accent2"/>
                </a:solidFill>
                <a:latin typeface="Calibri"/>
              </a:rPr>
            </a:br>
            <a:r>
              <a:rPr lang="pt-BR" sz="1600" i="1" dirty="0">
                <a:solidFill>
                  <a:schemeClr val="accent2"/>
                </a:solidFill>
                <a:latin typeface="Calibri"/>
              </a:rPr>
              <a:t>Fabio Silveira</a:t>
            </a:r>
          </a:p>
          <a:p>
            <a:pPr>
              <a:spcAft>
                <a:spcPts val="400"/>
              </a:spcAft>
            </a:pPr>
            <a:r>
              <a:rPr lang="pt-BR" sz="1600" b="0" i="1" dirty="0">
                <a:solidFill>
                  <a:schemeClr val="accent2"/>
                </a:solidFill>
                <a:latin typeface="Calibri"/>
              </a:rPr>
              <a:t>Vitor</a:t>
            </a:r>
            <a:r>
              <a:rPr lang="pt-BR" sz="1600" i="1" dirty="0">
                <a:solidFill>
                  <a:schemeClr val="accent2"/>
                </a:solidFill>
                <a:latin typeface="Calibri"/>
              </a:rPr>
              <a:t> Henrique</a:t>
            </a:r>
            <a:br>
              <a:rPr lang="pt-BR" sz="1600" i="1" dirty="0">
                <a:solidFill>
                  <a:schemeClr val="accent2"/>
                </a:solidFill>
                <a:latin typeface="Calibri"/>
              </a:rPr>
            </a:br>
            <a:r>
              <a:rPr lang="pt-BR" sz="1600" i="1" dirty="0">
                <a:solidFill>
                  <a:schemeClr val="accent2"/>
                </a:solidFill>
                <a:latin typeface="Calibri"/>
              </a:rPr>
              <a:t>Otavio Mendes</a:t>
            </a:r>
            <a:br>
              <a:rPr lang="pt-BR" sz="1600" i="1" dirty="0">
                <a:solidFill>
                  <a:schemeClr val="accent2"/>
                </a:solidFill>
                <a:latin typeface="Calibri"/>
              </a:rPr>
            </a:br>
            <a:r>
              <a:rPr lang="pt-BR" sz="1600" i="1" dirty="0">
                <a:solidFill>
                  <a:schemeClr val="accent2"/>
                </a:solidFill>
              </a:rPr>
              <a:t>Gino Lucchese</a:t>
            </a:r>
            <a:br>
              <a:rPr lang="pt-BR" sz="1600" i="1" dirty="0">
                <a:solidFill>
                  <a:schemeClr val="accent2"/>
                </a:solidFill>
              </a:rPr>
            </a:br>
            <a:r>
              <a:rPr lang="pt-BR" sz="1600" i="1" dirty="0">
                <a:solidFill>
                  <a:schemeClr val="accent2"/>
                </a:solidFill>
              </a:rPr>
              <a:t>Felipe Santos</a:t>
            </a:r>
            <a:endParaRPr sz="1600" b="0" i="1" dirty="0">
              <a:solidFill>
                <a:schemeClr val="accent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ROTEIRO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Como a história foi construída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D2433"/>
                </a:solidFill>
                <a:latin typeface="Cambria"/>
              </a:rP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Objetivo, população e fontes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73736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17520" y="1920240"/>
            <a:ext cx="502920" cy="502920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D2433"/>
                </a:solidFill>
                <a:latin typeface="Cambria"/>
              </a:rPr>
              <a:t>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4436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Join candidatos × despesas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73736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03520" y="1920240"/>
            <a:ext cx="502920" cy="502920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D2433"/>
                </a:solidFill>
                <a:latin typeface="Cambria"/>
              </a:rPr>
              <a:t>Descritiva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4436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4 variáveis-driver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73736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589519" y="19202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D2433"/>
                </a:solidFill>
                <a:latin typeface="Cambria"/>
              </a:rPr>
              <a:t>Escolha de 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94436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Cotovelo, silhueta e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73736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875519" y="1920240"/>
            <a:ext cx="502920" cy="502920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2560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D2433"/>
                </a:solidFill>
                <a:latin typeface="Cambria"/>
              </a:rPr>
              <a:t>Clusters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294436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K = 5, árvore e radar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77639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D2433"/>
                </a:solidFill>
                <a:latin typeface="Cambria"/>
              </a:rPr>
              <a:t>Nomeação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8464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Ficha e composição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3977639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17520" y="4160520"/>
            <a:ext cx="502920" cy="502920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800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D2433"/>
                </a:solidFill>
                <a:latin typeface="Cambria"/>
              </a:rPr>
              <a:t>Regras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18464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Apriori nos 2 sentidos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3977639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303520" y="41605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800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D2433"/>
                </a:solidFill>
                <a:latin typeface="Cambria"/>
              </a:rPr>
              <a:t>Validação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18464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Regras × nomes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3977639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589519" y="4160520"/>
            <a:ext cx="502920" cy="502920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4800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D2433"/>
                </a:solidFill>
                <a:latin typeface="Cambria"/>
              </a:rPr>
              <a:t>Anomalias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19" y="518464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Global e por cluster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3977639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875519" y="4160520"/>
            <a:ext cx="502920" cy="502920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4800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D2433"/>
                </a:solidFill>
                <a:latin typeface="Cambria"/>
              </a:rPr>
              <a:t>Conclusões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19" y="518464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O que aprendemos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52514E"/>
                </a:solidFill>
                <a:latin typeface="Calibri"/>
              </a:rPr>
              <a:t>Em laranja: as duas etapas centrais da defesa, a escolha de K = 5 e a validação dos nomes pelas regras.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01 · CONTEXTUALIZAÇÃO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Objetivo, população e 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120640" cy="3293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50" b="1" i="0" dirty="0" err="1">
                <a:solidFill>
                  <a:srgbClr val="EB6834"/>
                </a:solidFill>
                <a:latin typeface="Calibri"/>
              </a:rPr>
              <a:t>Objetivo</a:t>
            </a:r>
            <a:r>
              <a:rPr sz="1450" b="1" i="0" dirty="0">
                <a:solidFill>
                  <a:srgbClr val="EB6834"/>
                </a:solidFill>
                <a:latin typeface="Calibri"/>
              </a:rPr>
              <a:t> 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Descobrir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que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perfis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de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candidatos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existem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ao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combinar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idade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, tempo de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estudo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, bens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declarados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despesas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de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campanha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, 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como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eles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se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distribuem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por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gênero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,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cor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/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raça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,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profissão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partido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50" b="1" i="0" dirty="0" err="1">
                <a:solidFill>
                  <a:srgbClr val="EB6834"/>
                </a:solidFill>
                <a:latin typeface="Calibri"/>
              </a:rPr>
              <a:t>População</a:t>
            </a:r>
            <a:r>
              <a:rPr sz="1450" b="1" i="0" dirty="0">
                <a:solidFill>
                  <a:srgbClr val="EB6834"/>
                </a:solidFill>
                <a:latin typeface="Calibri"/>
              </a:rPr>
              <a:t>  </a:t>
            </a:r>
            <a:r>
              <a:rPr sz="1450" b="1" i="0" dirty="0">
                <a:solidFill>
                  <a:srgbClr val="1D2433"/>
                </a:solidFill>
                <a:latin typeface="Calibri"/>
              </a:rPr>
              <a:t>692 </a:t>
            </a:r>
            <a:r>
              <a:rPr sz="1450" b="1" i="0" dirty="0" err="1">
                <a:solidFill>
                  <a:srgbClr val="1D2433"/>
                </a:solidFill>
                <a:latin typeface="Calibri"/>
              </a:rPr>
              <a:t>candidatos</a:t>
            </a:r>
            <a:r>
              <a:rPr sz="1450" b="1" i="0" dirty="0">
                <a:solidFill>
                  <a:srgbClr val="1D2433"/>
                </a:solidFill>
                <a:latin typeface="Calibri"/>
              </a:rPr>
              <a:t> a </a:t>
            </a:r>
            <a:r>
              <a:rPr sz="1450" b="1" i="0" dirty="0" err="1">
                <a:solidFill>
                  <a:srgbClr val="1D2433"/>
                </a:solidFill>
                <a:latin typeface="Calibri"/>
              </a:rPr>
              <a:t>Deputado</a:t>
            </a:r>
            <a:r>
              <a:rPr sz="1450" b="1" i="0" dirty="0">
                <a:solidFill>
                  <a:srgbClr val="1D2433"/>
                </a:solidFill>
                <a:latin typeface="Calibri"/>
              </a:rPr>
              <a:t> Federal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, com 27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partidos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e 94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ocupações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declaradas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50" b="1" i="0" dirty="0" err="1">
                <a:solidFill>
                  <a:srgbClr val="EB6834"/>
                </a:solidFill>
                <a:latin typeface="Calibri"/>
              </a:rPr>
              <a:t>Região</a:t>
            </a:r>
            <a:r>
              <a:rPr sz="1450" b="1" i="0" dirty="0">
                <a:solidFill>
                  <a:srgbClr val="EB6834"/>
                </a:solidFill>
                <a:latin typeface="Calibri"/>
              </a:rPr>
              <a:t>  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Centro-Oeste: Distrito Federal, Goiás, Mato Grosso do Sul e Mato Grosso.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50" b="1" i="0" dirty="0">
                <a:solidFill>
                  <a:srgbClr val="EB6834"/>
                </a:solidFill>
                <a:latin typeface="Calibri"/>
              </a:rPr>
              <a:t>Fontes (TSE) 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Cadastro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de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candidatos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e bens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declarados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(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gerado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em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08/09/2026) 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despesas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contratadas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por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candidato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(112.061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linhas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de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todos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os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cargos;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geradas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em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22–29/09/2026).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50" b="1" i="0" dirty="0" err="1">
                <a:solidFill>
                  <a:srgbClr val="EB6834"/>
                </a:solidFill>
                <a:latin typeface="Calibri"/>
              </a:rPr>
              <a:t>Limite</a:t>
            </a:r>
            <a:r>
              <a:rPr sz="1450" b="1" i="0" dirty="0">
                <a:solidFill>
                  <a:srgbClr val="EB6834"/>
                </a:solidFill>
                <a:latin typeface="Calibri"/>
              </a:rPr>
              <a:t> temporal 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Eleição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em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04/10/2026: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sem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resultado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na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base, e a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prestação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de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contas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ainda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 é </a:t>
            </a:r>
            <a:r>
              <a:rPr sz="1450" b="0" i="0" dirty="0" err="1">
                <a:solidFill>
                  <a:srgbClr val="1D2433"/>
                </a:solidFill>
                <a:latin typeface="Calibri"/>
              </a:rPr>
              <a:t>parcial</a:t>
            </a:r>
            <a:r>
              <a:rPr sz="1450" b="0" i="0" dirty="0">
                <a:solidFill>
                  <a:srgbClr val="1D2433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39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D2433"/>
                </a:solidFill>
                <a:latin typeface="Cambria"/>
              </a:rPr>
              <a:t>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D2433"/>
                </a:solidFill>
                <a:latin typeface="Calibri"/>
              </a:rPr>
              <a:t>262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candidatos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D2433"/>
                </a:solidFill>
                <a:latin typeface="Calibri"/>
              </a:rPr>
              <a:t>R$ 58,4 mi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gastos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41% mulheres · mediana 48 anos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50876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89720" y="1691639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D2433"/>
                </a:solidFill>
                <a:latin typeface="Cambria"/>
              </a:rPr>
              <a:t>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28600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D2433"/>
                </a:solidFill>
                <a:latin typeface="Calibri"/>
              </a:rPr>
              <a:t>169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candidatos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D2433"/>
                </a:solidFill>
                <a:latin typeface="Calibri"/>
              </a:rPr>
              <a:t>R$ 38,2 mi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gastos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38% mulheres · mediana 49 anos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79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59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D2433"/>
                </a:solidFill>
                <a:latin typeface="Cambria"/>
              </a:rPr>
              <a:t>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17719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D2433"/>
                </a:solidFill>
                <a:latin typeface="Calibri"/>
              </a:rPr>
              <a:t>138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candidatos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D2433"/>
                </a:solidFill>
                <a:latin typeface="Calibri"/>
              </a:rPr>
              <a:t>R$ 41,7 mi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gastos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38% mulheres · mediana 48 anos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840479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4023359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D2433"/>
                </a:solidFill>
                <a:latin typeface="Cambria"/>
              </a:rPr>
              <a:t>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617719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D2433"/>
                </a:solidFill>
                <a:latin typeface="Calibri"/>
              </a:rPr>
              <a:t>123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candidatos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D2433"/>
                </a:solidFill>
                <a:latin typeface="Calibri"/>
              </a:rPr>
              <a:t>R$ 31,4 mi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gastos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37% mulheres · mediana 49 anos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0F39F8AB-CC61-FFD9-86C7-6149B8962AA5}"/>
              </a:ext>
            </a:extLst>
          </p:cNvPr>
          <p:cNvSpPr txBox="1"/>
          <p:nvPr/>
        </p:nvSpPr>
        <p:spPr>
          <a:xfrm>
            <a:off x="6485138" y="5997345"/>
            <a:ext cx="4670542" cy="78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pt-BR" sz="2000" dirty="0"/>
              <a:t>Total despesas contratadas &gt; </a:t>
            </a:r>
            <a:r>
              <a:rPr lang="pt-BR" sz="2000" b="1" dirty="0">
                <a:latin typeface="Cambria"/>
              </a:rPr>
              <a:t>R$ 169,8 mi </a:t>
            </a:r>
            <a:endParaRPr lang="pt-BR" sz="2000" dirty="0"/>
          </a:p>
          <a:p>
            <a:pPr algn="l">
              <a:lnSpc>
                <a:spcPct val="100000"/>
              </a:lnSpc>
              <a:spcAft>
                <a:spcPts val="400"/>
              </a:spcAft>
            </a:pPr>
            <a:endParaRPr sz="2800" b="1" i="0" dirty="0">
              <a:latin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03 · ANÁLISE DESCRITIVA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Duas variáveis bem-comportadas e duas com massa em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01_histogra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69150"/>
            <a:ext cx="7589520" cy="463409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83879" y="1463040"/>
          <a:ext cx="3520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Idade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Estudo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Bens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Gasto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48,6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14,1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R$ 2,0 mi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R$ 245 mil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R$ 209 mil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R$ 36 mil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Máximo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R$ 103,7 mi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R$ 3,0 mi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% zeros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Assimetria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0,12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-1,71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8,8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D2433"/>
                          </a:solidFill>
                          <a:latin typeface="Calibri"/>
                        </a:rPr>
                        <a:t>2,6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183879" y="406908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251960"/>
            <a:ext cx="30632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</a:rPr>
              <a:t>O que isso antecipa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D2433"/>
                </a:solidFill>
                <a:latin typeface="Calibri"/>
              </a:rPr>
              <a:t>A escolaridade quase não varia no topo e isola quem tem baixa instrução.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D2433"/>
                </a:solidFill>
                <a:latin typeface="Calibri"/>
              </a:rPr>
              <a:t>Com massas em zero em bens e gasto, os clusters tendem a separar 'tem' de 'não tem'.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03 · ANÁLISE DESCRITIVA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Patrimônio e gasto andam juntos, mas não são a mesma coisa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02_bens_x_ga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25266"/>
            <a:ext cx="11338559" cy="42817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806440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5870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têm bens e gastam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5806440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5870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gastam sem bens declarados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806440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5870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têm bens, mas não gastaram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5806440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5870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sem bens e sem gasto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03 · ANÁLISE DESCRITIVA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Quem são os candidatos, antes de qualquer algoritmo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03_perfil_categor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49360"/>
            <a:ext cx="11338560" cy="30905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4632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D2433"/>
                </a:solidFill>
                <a:latin typeface="Cambria"/>
              </a:rPr>
              <a:t>61%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6811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homens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484632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D2433"/>
                </a:solidFill>
                <a:latin typeface="Cambria"/>
              </a:rPr>
              <a:t>54%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546811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brancos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84632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D2433"/>
                </a:solidFill>
                <a:latin typeface="Cambria"/>
              </a:rPr>
              <a:t>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46811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com superior completo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84632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D2433"/>
                </a:solidFill>
                <a:latin typeface="Cambria"/>
              </a:rPr>
              <a:t>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546811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empresários (a ocupação mais citada)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84632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D2433"/>
                </a:solidFill>
                <a:latin typeface="Cambria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546811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partidos na disputa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04 · CLUSTERIZAÇÃO — BISECTING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 dirty="0" err="1">
                <a:solidFill>
                  <a:srgbClr val="1D2433"/>
                </a:solidFill>
                <a:latin typeface="Cambria"/>
              </a:rPr>
              <a:t>Escolha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 de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6073" y="5805321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0,</a:t>
            </a:r>
            <a:r>
              <a:rPr lang="pt-BR" sz="1400" b="1" dirty="0">
                <a:solidFill>
                  <a:srgbClr val="FFFFFF"/>
                </a:solidFill>
                <a:latin typeface="Calibri"/>
              </a:rPr>
              <a:t>12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21913" y="5971919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pt-BR" sz="1400" dirty="0">
                <a:solidFill>
                  <a:srgbClr val="52514E"/>
                </a:solidFill>
                <a:latin typeface="Calibri"/>
              </a:rPr>
              <a:t>Inércia</a:t>
            </a:r>
            <a:r>
              <a:rPr sz="140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2514E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52514E"/>
                </a:solidFill>
                <a:latin typeface="Calibri"/>
              </a:rPr>
              <a:t> K=5</a:t>
            </a:r>
          </a:p>
        </p:txBody>
      </p:sp>
      <p:pic>
        <p:nvPicPr>
          <p:cNvPr id="16" name="Picture 15" descr="data:image/png;base64,iVBORw0KGgoAAAANSUhEUgAABW4AAAHqCAYAAACUWtfDAAAAOnRFWHRTb2Z0d2FyZQBNYXRwbG90bGliIHZlcnNpb24zLjExLjEsIGh0dHBzOi8vbWF0cGxvdGxpYi5vcmcvctoD+AAAAAlwSFlzAAAPYQAAD2EBqD+naQABAABJREFUeJzs3Qd0VFXXBuA3vUJ6IAlJCL33JkgXQRRBxYaIvSGgICp+6G8XCwoCAtZP+RDFhl0UUATpoCAdUkgCIaSH9P6vfSYzJCEJk5lJpr3PWnfNzL03d07O3Mmc7Nl3H4eKiooKEBEREREREREREZHFcDR3A4iIiIiIiIiIiIioOgZuiYiIiIiIiIiIiCwMA7dEREREREREREREFoaBWyIiIiIiIiIiIiILw8AtERERERERERERkYVh4JaIiIiIiIiIiIjIwjBwS0RERERERERERGRhGLglIiIiIiIiIiIisjAM3BIRERERERERERFZGAZuiYiIiIiIyOYkJyfj8ssvx3//+19zN4WIiMggDNwSERERERHZgVOnTqFv375YtmwZbF1RUREefvhh3HzzzbjrrrvM3RwiIiKDMHBLZMe2bNmCjh07YteuXWbLgpDnX716dZM95/79+9Vz/vHHH032nPastv5uyHnXkNfLHOeTpautT4x5Dxj7evD9R0RkPgUFBZg5cyauueYazJgxw2THLS0tVX/vly5dCkvi5uaGr7/+Wv3O1mzIkCGYN29ekz2fpb6etqq2/s7IyFDrPvzwQ4N+3pLOJ2tQs0+MeQ8Y+3rw/Ue1YeCW6BJBB32Wb775hv1IOhKQlPNCApREREREhvq///s/NaaQQI6xnnnmGbRu3RrPPvusxb8gvXv3Vr93XZmyv//+e53jcO3P1raMGjWqzn07d+6sspGvuuoqzJ07F5s3b66zbffcc0+dWb4DBgxQx/vll18M/v1tXV5enuqj5cuXm7spREQWz9ncDSCyVC1btsTx48errZNB2u7du3Hw4EGztYvInvTq1eui9yGZr0+NfT34ehIRmc/ChQsb5bjOzs6N8lnt6emJnTt34uzZswgJCam2bd26dWp7fn5+rT8rdW31yVasuW9ubq4qJ/HTTz+prORBgwapzDkPDw+9jvXrr78iOzsbLVq0wJdffqmCwESNqbHef/bMmD419vXg60m1YcYtERERERERWZSBAweiWbNm+Pbbb6utl+xjKdkzduxYkz+nt7c3unXrhieffFLVAf7rr7/w4osv6v3zEqzt06ePCvpu374dp0+fNnkbiYjIvjBwS2QEGYxVvfxKBnryzfq7776LsrKyWmt6fvDBBxg+fLga1M2ePVt9sy/ef/99jBgxAj169MC9996LlJQUo5/r008/VZeEde/eHbfccgsOHz5c5++iz75SPkIGsoMHD1bPP2bMGLz99tsoLi6+ZF/FxcXh/vvvVxl3l112GV599VWUlJTUuq8xzyP9+cYbb6jBvPwuo0ePxmuvvYacnJx6B9nSZ/Hx8bX2+WeffaZbJ21YvHgxrrzySvTs2RMjR47EE088gcTERLVdLtebNm2aun/ffffpXq+PP/64Whtff/11XHHFFer3k9pGcilkVlZWra+j/Ky8NnIJX0xMTL2/+6WOe6n2N6QfjXmd9D3v6qqJ2hTnU9XXQN6fw4YNU+/P2267Df/++6/R78+ar6u+x6iLvn1Ss0/lvO/UqVOtlyvK36EuXbpg0aJFtf6ssc99qT4hIqKLyRVgEydORGpqqpp8Sy7dl8zQl156qda/vfv27VNjy/79+6vPW/nZH374odZjymfm9OnTVckAbTmA8vJyrFq1CpMmTVJjB8lQlVIC2qBkXTUZJfCq/Uzr2rWrGnNIELS+MVlVrq6uGD9+/EWBW2m7i4tLowRuq5JxuYyl5Pmlry9FMnXlyrwpU6ZgwoQJKgj81Vdf6f18kqn7n//8R/Wb/J8wa9asOktkSKaxjPnkM1PGC/KaSCmM9PT0Sz7PpV7P2hw9elS9jpKJXJO0d/78+dXWffHFF+r4cm7K+EvGxP/884/aduLECfX7CRmPac8RaUPVNsqYQPpRztl+/fqpcz02NrbWOrAbN27Etddeq/riu+++q/d3v9RxL9X+hvSjMa+T1p9//qlrr4wLf/vtt2rb63r/NcX5VPU1kGxzeb9KO6WOdm2lQvT5m3Cp19WYvyv69knNPpW/q3IeyN/GmioqKlS/af9eGvt6XKrmsb7nOtkWlkogMkKrVq2qXQohf5Dlw1Vqh0mgpeYf9zVr1qjAhvyRPXPmDB588EE899xz6NChAxwdHdVlXzJglvUScFu5cqXBzyUDDvkDLwNGCcLNmTNHDUzkw14Gwg3dVz4wbrrpJpX5IO1q06YNtm7diqeffloF2yS45ODgUGs/paWlqWCXXOb2+eefIzQ0VH24v/XWWxfta8zzSNtvvfVW9cEtgw35B+X8+fPYsGGDGmhKYNBYEsCS4KwEP+W1lOPLIF0GbjJovf766xEWFqaCt9pgX82B0dSpU1Vb5bWXY0jQVH72jjvuUEHkqq+PTOwkQSxZL4Pmmq9dQ497qfbr24/GvE6GnKPmOJ+0/ve//6nBkfzjJn3y8ssvq9dX+rR9+/YGvT9re10begxD+6SmyMhI9RrLBC4PPfRQtf6Q31n+MZHzujGe+1J9QkREtZNAggQrpAasfLEqX4jJl5TBwcHqizQt+Sf/kUceUX/H5fPEx8cHP//8M5566ind572WfKEp+0iQSj7rtLX6H330UfXZKV/0yhe5Tk5O2LFjhxrXyrq6VJ2EVGqaypee8vkrpQ/0rW0q7ZYv0CX4LMFkIeOYcePGqVIJjU0Ct5J1K88vz1kf+fwKCAhQAWX5DJOAnrRVJkeTPquPBGuk36VvZKwmXxRLoFD+H5DAUFUyJpB9o6OjsWDBAlVT99ixY2qCI+lz+TyXcU9dDH099SXnl7RbziFJFJBxhJSZ++ijj1QwSv7v+fvvv1XwSs7N2sY3EgCVMZCcLxKY0yYnyPkq/y/JWENLXhsJBr/zzjvqHK4vyK7PcS/Vfn370djXSRw4cEB9OS5jWHd3d3UcSfxZv349wsPDLeJ8Env37sXJkyfV/z7ypYr0lfSPPJcEcw35m1DX62ro35WG9ElN8jvJF1vy/5K0IygoSLdNXnP5v77qFw+mfG59+oTsQAUR6e3uu++u6Nat2yX3e/nllyuGDRume/znn39WdOjQoWLu3LnV9lu5cmVF586dK+bNm1dt/XvvvVfRsWPHitTUVIOfa86cOdX22759u1q/ceNGg/Z9/fXXVZtOnDhRbd///e9/al85Vl1ee+21ii5dulQkJiZWW//qq6+qn5VjmOJ5li5dqvY5cOBAnfv8888/ap/ff/9dt+6LL75Q606dOlVtX2mvrF+zZo1u3fXXX1/xwAMPVNRn586ddbZ1xYoVatvhw4errY+Li6vo1KmTakvV1+bhhx+u97kaelx92q9PP+r7OtXW3w0572r7+aY6n7TtnDlzZrX1OTk5Ff3796+YMWNGhaHvT31f19qOUZuG9Eltffrdd9+pdfIaVHXllVdWTJ06td6fNfa5DekTIiJ78cwzz6i/kenp6dXGo7V9Tsvn+6hRo3SPi4uLKy6//PJqf8e1XnjhhYoBAwZUFBUVVTvm7t27q+33xx9/qPWffvppnW0sKSlR+yxZsuSSv4/28+ZSY9xevXrpPn+vvvrqivnz56v7Ms7RtlM73vr6668v+llZX9vy5JNPXrSv/O51+emnn9TPffLJJ/X+jPT14MGDK958803dupiYGPWzmzZtumS/aJ9nw4YNta6v2u6ff/5ZrVu3bl21fbWfse+8806dz2Po63nkyBG17scff7xofzmP/vOf/+ge/9///V/FkCFD6v19c3Nz62zr1q1b1Tbt2FWrsLBQHVfeE0LeE7LfyJEjK0pLS+t9voYcV5/269OP+r5OtfW39ncbN25cRVlZmW59RkaGGnMtXrxYt662n2+q80nbziuuuOKi1+Cmm25Sr01D/yY09HWt7Ri1aUif1Nan2vez/J9e1ezZs6v9LTX29ajvfGhIn5BtYakEIiN9//336ltayQLQXrbxySefqMxZmVm2qprZl5L9J99yyiUTVbVt21Z9+1bzkqWGPJdc3lWVfLstal4Sr+++8m1iVFSULsNQS3uZmmyvi0wsIceUjMKq5JL+mox5HvkGXbIH5VvMxiKXlEvmhXzTKZdyN+RbUiEZMdJGufy8KpnlWTIWJfu1qpqzHxt7XH3ar08/GvM6GXKOmuN8qus1kEsf5ZJUaYeh78+6XteGHMPQPqmN9Efz5s1VVkXV7Am57HPy5Mn1/qyxz93Qc52IiAB/f/+LPqflb7FkdEl2lzhy5IgqeVNbpqiUtZFSSpK9pSVZdXIFRs0xgZBLtRtKPkcky0w+M+WKCvlMe/zxx9W2muWp6iOZq3LZdWFhocpgjYiIUJe410cu9ZarWGouUsqnIbTjpEtdnfP777+rq3xuvvnmauN8+d0lE/dS5LNUrr6rOTaSTM6az60du0jpp6rkSiqZFO1SY2VDX099yVhTMgHlqi3JGNWej/qSMa38zpLtWpWbm5vK0t2zZ0+19dJnl8pobshx9Wm/Pv1ozOtU9X9HOS+0/Pz8VLanPmPlpjiftKQMYM3XQJ5LMlETEhIM+ptQ1+tq6N+VhvRJbeT9LOdJ1bGyXB2nLV1Q35Vixj53Q891sj0slUBkBBk8yqVmcgmUzNQrH24yE6Rchr5ixQr1QS+DAa2ql1UILy+vetfL5emmei4JNona6v/os68M7qUEQE2BgYHqg6hqHdWaZJt82NX2s7Xta+jzSB2m2n7WULUFNeU1kJmFpTbrkiVL1CVxMliRy7zqu2RJSwaCMojRBljlObSLNmhflbzO+tD3uPq0X59+NOZ1MuQcNcf5pCV9VNvPy/tTvniRAVRD35+1va4NPYahfVIbOa788yFlK+T3kiCu3Jd/4i9VQ9DY527ouU5ERBd/hmo/R+VzSconyd9x7WW0UvtWLvvWjgmqjg+qfg7W9ndYxgRSkuBSl0rXJEHjO++8U32GyJhDxhgS2JAgh5RFakgwTy5RlvI7Uq5J6ttKuaKGBDuMIV+cCilBUR8Jzsol9bV9CSnjhHPnztX7OSevg5SxkM/9mp/P2vFR1X3lNdH+v1Dzs/dSY2VDXs+GkOC1lCCQPpGyWPJ8EmSTEh5SM/ZS5LyV81O+XKh5vsqtfGlh6FhZn+Pq0359+tGY1+lS73N9xspNcT5daqwsMjMz1ZctDf2bUNvraszflYb0SV1uvPFGNVbXlm6Rv0eSWHGpJAdTPLfgWNl+MXBLZASp/yjZDTJzbFV1Ffeva5Cpz+DTVM9l6L6+vr61FqiXdTJQle0N/VmpjWnK55EBlwyMG0r7gSl1kqqq7Viyr9RRknqwMpGBzBgsdVK3bdumBg2Xqssp35TLP1M1J9qoS80PeGOPq0/79elHY14nLUP/6Wqq86nqvrU9lwzWtd96N/T9Wdvr2tBjGNon9Q1GZRD8448/qswBqVMr/yxLTbXGfu6GnOtERKTfZ6iMDcQrr7yC6667zqC/wzImkECwBIoaEuyTzxL5nJWgsXxh3JDPtNqCV5JBK7V85ctFfX4XU5HxkXzW15fhm5SUpPaTSa+0QcGqJJgrX85KHfn6Pksle08CT1VfB6ljqZ3IuOq+8prIUrPOr3weS5CsLoa+nnWNlSVoJe2uSr4Yl4xIWSTwLTVJZVKl22+/XV1ZVNuXvTXPW6kpKsGxur6wNnSsrM9x9Wm/Pv1ozOtkirFyU5xPVferaxyoHWs39G9Cba+rMX9XGtIndZHJ4eRLMMm6lcCt3MpkbJL129jPLThWtl8slUBkpJqBOhlQ1pxx3Rqfqyb5plkCfTVnepfgjqhtoKolpSDkUjzJCK1q06ZNJn0euXxELpGRIvUNoR2QVL1cUGzevLnegZRkscogTmZqlkCn9lIg7UBCPoxrkokQ5Hlq/n7Gauhx62u/Pv1ozOtkrKY6n6pe/liV/NMig/iaP2uK96ehx2hIn9RFLjeT2Xkl01Ym5pAB/KUyCEz13EREZHoSUJCst9pmd2/I+EJIZllDSQCsZqBBAl+GkEnKJPAhn+tVJ6ZqTDIOlC+4b7jhhlozCrXkc1O+5NROnlbT0KFD1T71ldeS30sCUjXHnvKles2fk32126qScZsEGusb2xj6erZs2VIFPWuOlWWMUt/vJT8nXwLLJEwyoZ52bCmBUwmI1zZWlkC37CuT1ZqSIcetq/369KMxr5Oxmup8qlo6Qp6v5vhZrnqrGvg1xd8EQ4/RkD6pi/yPd/XVV6u/qVKyQTKA9Rkrm+K5yb4xcEtk5ADg0KFD6jIaCeZI7Sy5TEP7AWitz1Wbu+++Ww3+ZYZQ+SCXbwcl+CUzY0oWhAxK6yIzHks2qPystFuCUTKA1V5+ZqrnkUtnJGNx1qxZKmgkzyPBJMmAkNnu6yLBKlnkcnQZkMo/BmvXrq3122MJcsqss1JbSgabEhCUmV2ljqx2YCL1YWVAKrVkpR5bzb6Qb2UffPBB1Ua5fEieTzuzqATMDKHvcfVpvz79aMzrZKymOp+0ZKD13nvvqdp1Etx+7LHH1OtaNTPWFO9PY47RkD6pj/xzevjwYTUrr9R469atW5M9NxERmZZ8Gfj888+rbND//Oc/6jNfPr9kDCCBDvm8vxQppySXJb/xxhv47LPP1OXm8nkomW+vv/56vZ9pkl0mWbIyHpGMOLnEuGY9dH1JnV75jJGxSGOSLy3lc1B+N/mclxqjcpVSfWMEyaaVLzHruupKjiG/f321QqXuqgTaX3zxRbWfjFfkdZMAUc2gsewrl+wvWLBABYJk37///lvV+ZRLx6dOnWry11OCthI8lzGktEueU4J1Mk6sefXSs88+qzJUo6OjVUauJAfIuED6R+qmCgm8yRwEEvyqeSm+tPGaa67BCy+8oMbj8vPyuhw7dkyV+Vq6dCkMoe9x9Wm/Pv1ozOtkrKY6n7QkGUTeJ5J9Ln0h73v5H0TGzNqsYVP8TTDmGA3pk/pIoFbOm7lz56pArpxTTfXcZL8YuCUygtTYknqUEvCTbyPlg+OBBx5QQUBrfq7aSPBLAkoSzJHnlWCSDExuu+02FeSp71IeqQu2evVqNbCTulFS/F4GSbNnzzbp88hlXDJ4kstY5LLAwYMH44477lADLvl2tD4SyJNvheXDePz48SroJHVfa5IPaZm8QIJVklkhgVAZrMjvpx2wSw2j5557Tn0gayeZ0v6jIfWj1qxZo+qJSr02GczLh7kM/OQDvaETOmnpe1x92q9PPxrzOhmrqc4nLclKln/MJONCfn8ZKMqEYVUvizLF+9OYYzSkT+ojJRIka0gmt9Eng8CUz01ERKYnn//ypatc0i0BGLnkX77UlDHKE088odcxZIwkX+bKOEMCJ/JZIUG7KVOm1Pkz8jzyeSsZq/IlqTynTKam72eLseTLc+0knzWXmpN9aveVsYJ8qSvBJpnUTSZylS9u6ysZtHXrVvWZWd8XwfKZLoFPGY/URQKZH3zwgRpzSV/L8WQsJoH3mmMV2VcCizJpm2yXoLH8jPS5/Ix8mWrq11PI+SL7y89K4FJqDkuQsyYpCSEJBPKFrkx2J18Ky5e6MlaQSXO1pO3yRbX0ufS/jFG1pNa/PJaAqQTtZR8ZF0k/yrjMUPocV9/2X6ofjX2djNGU55OQftK+zyUbecuWLer/kar/f5nib4Ixx2hIn9RHnk/OV3nfS/Benxq1pnpusl8OFczNJiIiuogMOqW+2apVq9QgloiIiIiINCTLWL6YkKD+Pffcw24haiTMuCUiIiIiIiIiIiKyMJzCmYiIiIjsjtTyk8x6KQPTokULVWJGJmckIiIiIrIUzLglIiIiIrsyZ84cVcdcJp+RyUVk0iZ5LOuJiIiIiCwFa9wSERERkd2QSU1k8iGZaEYmZ9SS4K1M3vTmm2+qCUSIiIiIiMyNGbdEREREZDcOHTqE8ePHVwvaCnks62U7EREREZElYOCWiIiIiOyGp6enqmtbm+TkZHh5eTV5m4iIiIiIasNSCZXKy8tRWloKR0dHODg41NpZRERERNT0Kioq1FjN2dlZjdWMcebMGVx11VWYNm0abrzxRgQFBSE1NRVr165V5RPWr1+P0NBQWDOOa4mIiIhsY2zLwG2l4uJiHDx4sCleHyIiIiIyQPfu3eHq6mp0323ZsgXPP/88Tp8+rVvXqlUrPPvssxg2bJjVvzYc1xIRERHZxtjWuclaY+G0EW7pNCcnJ1iysrIyFWS2hrZaGvYd+43nm+Xj+5T9xvPN8jX1+1T7fMZm22pJcFYya2NjY5GSkoLg4GC0adMGLi4usAXWNK4V/LvPfuP5Zvn4PmW/8ZyzDnyv2t7YloHbStryCPICWcMA19raamnYd+w3nm+Wj+9T9hvPN8vX1O9TU5azkiBtx44d1WJrrHFca43ttRTsN/YbzzfLx/cp+47nnHVwssCxLQO3RERERGTTtm/frhZ9DB48WC1ERERERObGwC0RERER2TSZfOzo0aO6x9HR0UhOTkZUVJRucrK4uDi0bNkS7du3N2tbiYiIiIi0GLglIiIiIps2ceJEtYikpCRMmTIFa9asQd++fXX77N27F3PnzkX//v3N2FIiIiIiogtMM8MDEREREZEV2LZtG0aOHFktaCv69euHESNG6F1SgYiIiIiosTFwS0RERER2Izs7G5mZmbVuk/VZWVlN3iYiIiIiotowcEtEREREdmPYsGHYsGEDli5dijNnzqC4uFjdyuNNmzaprFsiIiIiIkvAGrdEREREZDc6dOiAxYsXY8GCBVi2bJlufVhYmFrfrl07s7aPiIiIiMgiArdz5sxBYWHhReuHDBmC2267Tff45MmTWLt2LdLT09Vg+/bbb4e3t3e1n9FnHyIiIiKiMWPGqMzamJgYpKamIigoCG3btoWLiws7h4iIiIgshlkDtxMmTEBZWZnucWJiIl599VVceeWVunUHDx7E1KlTcc0112Dw4MH44osv8PPPP+Orr76Cm5ub3vsQEREREWlJkLZTp05qMUZaWhoOHDgAT09PNeGZq6vrJX9GxrySdODr64tu3brV+jOGHLdJZSUC+el1b/cMAHzDm7JFRERERDbHrIFbmdG3qrfeegvNmzfHuHHjqq277LLL8PLLL6vHEtQdPny4Cspqs3L12YeIiIiI7NOuXbuwe/duDBgwQD2W+3WRfQYOHKjXcb/99ls899xzKvgqV30VFRXhww8/RFRUVK37S3bvU089hdOnT6t94uLikJeXhyVLlqB3794GH9csQdtlfYHSorr3cXYDZuxj8JaIiIjIFiYnk8zbdevW4dprr4W7u7taJ4NUGWhXzcD18fHBoEGDsHXrVr33ISIiIiL7JRmu27dvV7fa+3Utsl0fycnJeOaZZ/Dkk09i9erV+PHHH1Vgdf78+XX+TEFBAR588EGsX78eK1asULcSsH3xxReNOm6Tk0zb+oK2QrbXl5FLRERERNYzOdmWLVuQkpKCG2+8Ubfu7NmzKqAbEhJSbV95vGfPHr33aYiqpRsaS1l5BfacykBKThGCm7mhf2t/ODk6NLiNTdFWW8O+Y7/xfLN8fJ+y33i+Wb6mfp8a+zyTJ09WS9XHxpKgq5QvuOGGG9RjJycnTJs2Dffff7/KqG3VqtVFPxMREaGWqlq3bo3jx48bdVwiIiIisk0WE7iVsgY9evSoVmesuLhY3WozcLWk1pdk2uq7T0NIvdzGtPN0IT7afx7pBeW6dQEejri7V3MMalX9dzB3W20Z+479xvPN8vF9yn7j+Wb57Pl9euLECZUJW7X2bMeOHdWt1K+tL8Aqmb1Sw1YmR/vuu+/wwgsvmOS4NTVaYL28HE76PH92EhDUBXB0Mv0XAdmnL11j18e2g9z8opP9xvPN8vF9yr7jOWcdyiw4KcEiArcycN28ebOq5VVVs2bN1O358+errc/KylK1cPXdpyG6d++uMhsaw6+Hk7Fwx35U1FifUVCOhTuy8M6UXhjbtaVeL7D8o9SYbbVV7Dv2G883y8f3KfuN55vla+r3qfb5DKUtg6APmehWlkvJzc1V5bmqksnGahuX1iQ1diVoK5m2EoiteuWYMcdtqsC6R9YJdNFjP6e1t6LcwRnFni1R5BmKIq+QytvKxTMUFU5uDW6vS/45dPvjDjiWaxI4alPu6IpDIz9BiWcL2Dp7/gLFGOw39hvPN+vA9yr7zd7PN4sI3MoEDJJVMH78+GrrW7ZsqQaqx44dU5ONaR09elSXmavPPg0h/3w0xj8gUh7hxZ+OXRS0FbJOCiXI9rHdQvUum9BYbbUH7Dv2G883y8f3KfuN55vls5b3qUwKJmNDrejoaFVLVjJbg4KC1HaZKEzGle3bt9frmC4uLsjPz6+2TvvYze1CMLI2jz76qLotLy9X9Wyl7u1vv/0GZ2dno45bU6MF1s86AHpMJVHh4AzHilK4551WC1Jr2adZCCp8I5EBH/hG9YZjQFtU+LUG/KIADz/AoZZx8dkDcNxUd9BWSFC3a1RLIKQnbBW/6GS/8XyzfHyfsu94zlmHMgtOSrCIwO3XX3+Na665Bl5eXtXWOzg4YMKECaqMwi233KKyD3bs2IHDhw+rCRv03ccS7I7LwNnswjq3S/BWtst+l7UNaNK2EREREdmyiRMnqkUkJSVhypQpWLNmDfr27avbZ+/evZg7dy769++v1zGlVu2+ffuqrTtz5oy6DQ8P1+sYjo6OunGszNsgP2eK4zZ6YN1Rv/mNHe7dAHgFAhlxQGZcjdtTQNF5OOScVUug/EDir9UP4OYD+FcGcf2jLtyWFOj1/E7STiv4YsFevkCxNOw39hvPN+vA9yr7zd7PN7MHbmWQHBsbi9dee63OjATJph03bhzatGmDQ4cO4eGHH8bAgQMbtI+5peQUmnQ/IiIiImq4bdu2YeTIkdWCtqJfv34YMWKEKqmgz+RlcqXX8uXLceDAAfTsqcnq/PnnnxEcHIzOnTurx4WFhdi0aZN6LsnmlcxeyfCtSpINJMvW399f7+NaDQdHwDdCs+DClXFKRQWQn6ECueVpMTh7dAdC3ArhmHVKE9jNTQaKslV2rVqIiIiI7JDZA7cySF25cqWamKw23t7e+N///ocjR46oWrgdOnSoVgdM333MLbiZu0n3IyIiIqKGy87ORmZmZq3bZL3Mk6CPXr16qSvGZs2ahbvuugspKSlYtWoV3njjDZVJK+RYc+bMwdtvv60SDH766Sf8+eefuPzyy9VVYpJs8M0332D27Nm6K8/0Oa7ZycRfzm5AaT0TAct22a8uUgLBK0AtFSG9kVzWDi179bqQIVucr8nKvShTV5Z4oKJpJg8hIiIisuvArWTIylIfKYfQtWtXo/cxpwFR/gjxcUdydmGtdW6leldLH3e1HxERERE1jmHDhmHRokVYunQprr/+el2NWwmgSnbszJkz9T6WBFNlroY9e/bAw8NDJRL06dNHt93d3V3N4aBNKLjzzjtVYHbjxo1qcrLQ0FD1vO3atWvQcc3ONxyYsQ/IT697Hwnayn6GcvUEWnTRLDWd3gd8MMrwYxMRERFZCbMHbu2FTDj27IQueGj13ypIWzV4q51yQbbrOzEZERERETWcXJm1ePFiLFiwAMuWLdOtDwsLU+trBlHrIxmwEvyVpTYyga4EiauSwK0sxhzXIkhQ1pjArDEcLav2HBEREVFjYeC2CY3rFoIVU/vg+R+OVJuoTDJtJWgr24mIiIiocY0ZM0bVs5WsV23d2bZt26pas0REREREloKB2yYmwdkxXVrizv/uxtaTabi5fzheua47M22JiIiImpAEaTt16qQWsjKmqLFLREREZAUYuDUDKYfQN9JPBW6lMALLIxARERE1nl27dmH37t0YMGCAeiz36yL7DBw4kC+HJatZY1cCuKuuBUoLgeveBYI6GV9jl4iIiMgCMHBrJpEBnuo2Pj3fXE0gIiIisguJiYnYvn27bpIwuV8X2YeBWytQs8Zuh7HAke+A1ONAz1vM2TIiIiIik2Hg1kwi/DWB24QMBm6JiIiIGtPkyZPVUvUx2ZjO12oCt0e/B0b/H+DACX+JiIjI+jmauwH2KsLfS92ezS5AcWm5uZtDREREZBd++OEHfPLJJ0hLSzN3U8iU2l8JOLkC6dGarFsiIiIiG8DArZkEervC09UJ5RXAmawCczWDiIiIyK64u7vjww8/xLBhw3Dvvffi+++/R34+r4Cyeu7NgTYjNfeP/mDu1hARERGZBAO3ZuLg4KArlxCfnmeuZhARERHZlTFjxmDz5s0qeBscHIwXXngBQ4YMweOPP46tW7eirKzM3E0kQ3WeoLmVcglERERENoCBWzMKrwzcJrLOLREREVGTcXR0xGWXXYZXXnlFTVT26quvqqzbBx98ECtXruQrYa06jgccHIHkf4HMU+ZuDREREZHRGLg1o0hdxi0vzyMiIiIyh8zMTCQlJamltLQUXl6aeQjICnkFAJFDNPeP/mju1hAREREZzdn4Q5ChIgI0gdsEZtwSERERNZmcnBz89ttvaqKyXbt2ISwsDNdccw3efPNNtGnThq+ENet8LXBqq6bO7eAZ5m4NERERkVEYuDUjbY1bBm6JiIiImsbXX3+N559/Hh4eHrjqqqswa9Ys9OnTh91vKzpdDfzyOJC4C8hJBpq1NHeLiIiIiAzGwK2FBG4rKirUhGVERERE1HiCgoKwePFiDB06FC4uLuxqW+MTBoT1A87sBY79BPS/x9wtIiIiIjIYa9yaUSs/T0isNr+4DGm5xeZsChEREZFdGDZsGEaNGsWgrS3rPEFzK+USiIiIiKwYM27NyNXZEaE+HjiTVaCyboOauZmzOUREREQ2SerY7t69GwMGDFCP5X5dZJ+BAwc2YeuoUQK3G5/V1LrNzwA8/dnJREREZJUYuLWAcgmawG0e+kb6mbs5RERERDYnMTER27dvR0hIiHos9+si+zBwa+UC2gLBXYGUw8CJX4Fet5q7RUREREQGYeDWAgK3O2LTkZBeYO6mEBEREdmkyZMnq6XqY7KDrFsJ3Eq5BAZuiYiIyEqxxq2ZRQRoJiiLz8gzd1OIiIiIiGyrzm3MJqAo19ytISIiIjIIM24tIONWJGbkm7spRERERDZJSiPUVx6hqsGDB6uFrFyLroBfFJAZB0RvBLpOMneLiIiIiBqMgVszi9Rm3KYzcEtERETUGFJTU3H06FHd4+joaCQnJyMqKgpBQUFqe1xcHFq2bIn27dvzRbAFDg6arNvtSzTlEhi4JSIiIivEwK2FZNym5BShoLgMHq5O5m4SERERkU2ZOHGiWkRSUhKmTJmCNWvWoG/fvrp99u7di7lz56J///5mbCmZVOdrNYFbmaCstAhwdmMHExERkVVhjVsz8/V0RXN3Tfw8MZNZt0RERESNadu2bRg5cmS1oK3o168fRowYoXdJBbICYX2BZiFAcQ4Qu9ncrSEiIiJqMAZuLWiCsgSWSyAiIiJqVNnZ2cjMzKx1m6zPysriK2ArHB2BTtdo7h/93tytISIiImowBm4tQKS/l7qN5wRlRERERI1q2LBh2LBhA5YuXYozZ86guLhY3crjTZs2qaxbsiFS51Yc+xkoKzV3a4iIiIgahDVuLUB4ZZ3bRAZuiYiIiBpVhw4dsHjxYixYsADLli3TrQ8LC1Pr27Vrx1fAlkQOATz8gIIMIGE7EDXM3C0iIiIi0hsDtxY0QVl8ep65m0JERERk88aMGaMya2NiYpCamoqgoCC0bdsWLi4u5m4amZqTM9DxamD/auDoDwzcEhERkVVhqQQLEKmtccuMWyIiIqImIUHaTp06YejQoeqWQVs7KJdw9EegvNzcrSEiIiLSGwO3FpRxm5hZgPLyCnM3h4iIiIjIdrQZAbh6AzlJQNLf5m4NERERkd4YuLUAIT7ucHZ0QHFpOc7lFJq7OUREREREtsPFHWh/peb+0e/N3RoiIiIivTFwawGcnRwR5ueh7sen55u7OURERERENlou4Qeggle4ERERkXVg4NbCyiWwzi0RERFR4/n555/VQnam/RjAyQ3IiAVSjpi7NURERER6YeDW0gK3zLglIiIiajRJSUk4fPgwe9jeuDUD2o66kHVLREREZAUYuLUQkQHMuCUiIiJqbAMGDMBff/2FkpISdra96XKt5paBWyIiIrISzuZuAFXPuI3PYI1bIiIiosZSWlqqlokTJ2LUqFHw8/Ortr13797o06cPXwBb1GEc4OAEnDsEpMcAAW3N3SIiIiKiejFwayEi/L3UbSIDt0RERESN5vjx43B21gyBt27detF2T09PBm5tlac/EDUUiN0MHPsRGPKIuVtEREREVC8Gbi1ERGWphIy8YuQUlqCZu4u5m0RERERkc2699Va1kJ3qPEETuJVyCQzcEhERkYVjjVsL4e3mjAAvV3U/gVm3RERERESm1+kaAA7A6T3A+ST2MBEREVk0Bm4tSHhlnduEdNa5JSIiImosubm5WLRoEe666y6sXbtWrTt27Bg2btzITrd1zVoC4QM094/9ZO7WEBEREdWLgVsLEllZLoEZt0RERESNo6SkBFOmTMGePXtQXFyMlJQUtT4iIgJvvPEGMjIy2PX2UC5BHP3e3C0hIiIiqhcDtxYkojLjNp6lEoiIiIgaxR9//AEPDw98+umnuOyyy6pNStajRw9s2rSJPW8X5RIAnNoG5KWbuzVEREREdWLg1gIDt4kM3BIRERE1ilOnTqFfv35wcHC4aFtAQAAzbu2BfxTQsjtQUQac+MXcrSEiIiKqEwO3lphxyxq3RERERI3C398fCQkJ6n7V4G15eTl2796N0NBQ9rw96Hyt5vboD+ZuCREREZHlB25Pnz6NtLS0OrdnZmYiJiYGRUVFRu1jySIDvNTtmawClJaVm7s5RERERDbniiuuUPVtV69erSYpKy0txdGjRzF79mwkJydj5MiR5m4iNWWd25jfgaIc9jkRERFZJGdzN2DLli14/vnnUVhYCHd3d3Ts2BELFiyAj4+PbgKJp59+Gj/99JO6fC0nJwf/+c9/MHnyZN0x9NnHGgQ3c4OrsyOKS8uRlFWIiMrJyoiIiIjINHx9fbFy5Uo8/vjjusxbedyqVSt16+3tza62B0GdgIB2QHo0cPI3oNsN5m4RERERkWUFbg8cOICHHnoITz75JG6//XZ1udrmzZtx9uxZXeBWBtDbtm3D+vXr1YD6hx9+wBNPPIEuXbqoRd99rIGjo4MqlxCdkouEjHwGbomIiIhMrKCgQCUK/PrrryrTNjU1VZVPkDGjJAPIdpm8jGyclMmQrNu/FmnKJTBwS0RERBbIrKUSlixZgr59+2LatGm6GmMjRoxAp06ddPt88cUXKnNWArJiwoQJiIqKwpdfftmgfayuzm1GnrmbQkRERGRzPvjgA7U4Ojqia9euauzZo0cPODs767aRnZVLOPEbUFJo7tYQERERWU7gtri4GLt27cLo0aPV/djYWFVnrKqUlBS1yGC6qp49e+LIkSN672ONgVvJuCUiIiKipiOlu9zc3Njl9iK0D9A8DCjJA2L/MHdriIiIiCynVIJMJCaXoyUmJmLUqFHw8vJSJRKGDRumatw2a9YMWVlZulpkVclj+Xmhzz4NUVZWBnNq5eeubuPT8upsi3a9udtqjdh37Deeb5aP71P2G883y9fU71NTPI9MSKZdxPLly6ttz8vLw7p169Q4lOysXMKulZpyCR2vMneLiIiIiCwjcOvk5KRuN2zYgK+++gotW7ZUmbO33HIL3njjDbzwwgvqkjUhGblVScBXu02ffRri4MGDMKeyLM1lWsfPpGP//v0W3VZrxr5jv/F8s3x8n7LfeL5ZPmt6n546dUrNpZCcnKzLrtWSkl0yKdndd9+N4cOHm7GV1OS0gdvjPwNlJYCTC18EIiIishhmC9zKJBDu7u4YN26cCtqK4OBgXHPNNWqSMdGiRQs1kJZJI6qSAG9ISIje+zRE9+7ddUFlc/AKzcWCbX8htUBT7kFb+7dm1on8o2Tutloj9h37jeeb5eP7lP3G883yNfX7VPt8xrjxxhvVIpPYaudEIELEZYBnIJCfBsRvA9qMYKcQERGRxTBb4FYmhBg0aBDS09OrrZfHPj4+6r6UT5DatX/++aducF1UVIQdO3bg/vvv13ufhpB/PswZDG0d6K1uc4tKkVNUDj8vV4ttqzVj37HfeL5ZPr5P2W883yyfNb5PZbyYnZ2t5laQLFvxyy+/4PTp0xg/fjzCwsLM3URqSo5OQKfxwN+rgCPfM3BLREREFsVsk5OJmTNnYtOmTWr23r///hsff/wxvvvuO9xxxx26fWbNmqUG0ytWrFDB2EceeUQFa6WkQkP2sRbuLk5o0VwzKUY8JygjIiIiMqn8/HzcfvvtunkSvvzyS8ybNw/ffPONGjvKdrIzna/V3B77ESgvN3driIiIiCwjcNutWzd88sknOHToEF599VX8888/WLlypSqXoHX55Zfjvffew4EDB/DWW28hICAAa9asUZOXNWQfaxLp76VuExi4JSIiIjKpP/74Ax06dECrVq3UY5lr4aWXXlJJAO3atVNJBWRnooYBbs2B3HPAac3kdURERERWXSrh6NGj+PDDDxEbG4uKigq0bdsW99xzDzp37tyg40iZg8WLF9e7z5AhQ9Ri7D7WItzfE7tPZSAhPc/cTSEiIiKyKWfOnFFzJAgplyBj2pEjR6rHXbt21U1epo+cnBwsX74ce/bsgYeHB6699lpVR7cuMmbeuHEjfvzxRyQlJamyDLfeeisGDhyo2yczM1NlBNf01FNP2cxY1+I4uwEdxgIHvwSOfg9EXHg9iIiIiKwucCsDTilzIIPMoUOHqgm09u/fj+uvvx7Lli3D6NGjTd9SOxIZ4KlumXFLREREZFrh4eEqu1ZKIqxbt04Fa7W1bhMSElSdW31IEFbmUyguLsacOXPURLnPP/+8qp9777331voz7777Lg4fPqyeIzQ0FNu3b8edd96Jt99+G1deeaXap7S0FCdPnsQ777yDiIgI3c/K/tSIOk+oDNz+AFz5ElDLBMFEREREVhG4lcGl1AKrWotWSNkDyZ5l4NY4Ef6awG18OmusEREREZmSjFPff/999O3bV02WK0kHIiUlBcePH8drr72m13G2bNmi5mjYsGGDLsAqwVsp+zVt2jS4ul48wezdd99dbX3Pnj1x7NgxVeJLG7jVkmNKSQdqIu2uAJzdgax4IPkgENKDXU9ERETWWeM2Li5OZdfWJOtkGxknojLjNpE1bomIiIhMSgKna9euxRdffKHq2WrLJBQVFankBCl5oI9du3ahdevW1bJiR4wYoconSFZtXc9dk7OzM8prmRDr6aefxuTJk/HYY4+pADE1MlcvTfBWSNYtERERkbVm3Pr7++PIkSPV6nEJmWRMtpFpMm7Pni9EUWkZ3Jyd2KVEREREJuLi4oLu3btfVEKhIaQWbnBwcLV1QUFB6vbs2bPo3bv3JY8hGb6//vqrql9b1eDBg3HbbbfB19dXBZenTp2qJuAdN25cg9pYVlYGa6Btp7nb69Dxajge+xEVR79H+fB5sHSW0m/Whv3GfuP5Zh34XmW/2fL5VtaA5zEocHvTTTdh9uzZqq6XTC4m/v33X1W3SwaZZJwAL1d4uTohr7gMpzML0DZIU3eNiIiIiIwjdWVlqYsETWW5FKlFKwHg2jJqZdulnDt3DtOnT1fzRUyZMkW3XpIgPvroIzWHhOjXr5/K4n3zzTcbHLg9ePAgrIm52+tUHIqeDk5wSD2Go399jyLvC9nUlszc/Wat2G/sN55v1oHvVfabvZ9vBgVuZZDp5uaGFStWICsrS62TjACZiOGee+4xdRvtjgzUw/09cSw5Bwnp+QzcEhEREZmI1LKVq8SqysvLU7Vm/fz80K5dO72OI2Pf06dPV1unHRfLceojtXBlrggptSDlGbRBWuHkdPGVVv3798dXX32FwsJCuLu7Q1+SVVzb8SyNZJ3IP0oW0d6Tw4DYP9DFIRYVva6FJbOofrMi7Df2G88368D3KvvNls+3ssrna7TArUzkcN9996klLS1NDTYDAgIMORTVITKgMnDLOrdEREREJjNp0iS11BQfH6+uJtMn21Z069YN69atU0FfLy8vte6ff/5R4+QuXbrUG7SVycvCwsKwfPnyWuve1padK/vVzPC9FPnHw5oCehbR3i4TVeBWSiZg2GOwBhbRb1aI/cZ+4/lmHfheZb/Z+/lm0ORkVQUGBjJo24h1buPT8xvj8ERERERURWRkJC6//HJs27ZNr34ZO3YsPD098c4776CiogK5ubl4//33ccUVV+jGxpLgcM011+iOmZ6ejjvvvBOhoaEqaCtXsNX0/fffY9++fbrHkh0spRPkOJb2j4RN6nS1XP8GJP0NZCWauzVERERk55wbUh5BXzIQJeNEBGgyN5hxS0RERNQ0JHs2Oztbr319fHywbNkyPP744/jmm2+Qn5+vJiR74YUXdPtIrduTJ0+qGrVi5cqViI6ORklJCW644YZqiRAff/yxut+5c2e88sorOHz4MDw8PFT5hZtvvlnNL0FNwDsYiLgMSNgOHPsJGPQgu52IiIgsP3Arl3NpyYD2u+++Q4cOHdRlYkJqM8jAdOLEiY3TUjvNuE3IyDN3U4iIiIhsxtGjR9VSs86YrPvxxx9VGQN9Se3Z33//HWfOnFG1Z4OCgqptl4DsDz/8oDJshZQZu/HGGy86jrPzhSF5+/bt8d///ldl8MqYOyQkRJVfoCbUeYImcHv0BwZuiYiIyDoCt/Pnz9fdf+yxxzBz5kzMmDGj2j6SdRAXF2faFtqpSF3gNl9dfld10goiIiIiMszOnTtVYLRm4FSSFBYvXlxvfdraSFA1PDy81m1yXEl00AoODlaLPry9vdVCZtD5GuDXpzTB29xUwLt6QJ6IiIioqRg0Odn27dvx7LPPXrReMhTGjRtninbZvVBfDzg6AIUl5UjNKUJwc/1nECYiIiKi2t11111qIaqTbwQQ0gs4ux84/jPQ9w52FhEREZmFQdddSV0uqc9Vk5RKkG1kPFdnRxW8FaxzS0RERETUxOUShJRLICIiIrKmjNtJkyZh1qxZeOihh9C9e3ddjdsVK1bguuuuM3Ub7brO7enMAsSn56Nfa39zN4eIiIjIKu3atQu7d+/Wa98BAwZg4MCBjd4msnCdrwV+fxGI3QwUZgPuPuZuEREREdkhgwK38+bNg7+/P5YsWaJmuhW+vr6488471aQLZBqRAZ7YHpPOjFsiIiIiIyQmJqpSX/qQycAYuCUEdQACOwJpx4ETvwE9Lp5UjoiIiMgiA7cy0cL06dPVkpaWpps1l0wrvMoEZURERERkmMmTJ6uFqMHlErYeB45+z8AtERERWU+N26okYMugbeOI9PdStwzcEhERERGZqc5t9EagmIkUREREZMEZt7Nnz1a3ixYt0t2vi+xDpqlxK6TGLRERERGZxksvvaQycDt16qRbd+zYMXz11Vd4+umn2c2kEdIT8IkAshOAmN+BztewZ4iIiMgyM249PT3VUvV+XQuZRkSApi/TcouQX1zKbiUiIiIy0o4dOxAdHV0taCvksayXicyIFAeHC1m3R39gpxAREZHlZty+/PLLtd6nxuPj4aKW7IISVS6hU8vm7G4iIiIiIxw8eBCdO3eudZsEb2U7JycjHQnc7nwHOPELUFoMOLuyc4iIiMh6atxS44qszLpNYLkEIiIiIqMFBQXhwIEDtW6T9X5+fuxluiB8AOAVDBRmA6e2smeIiIjIMjNup0+frvdBly9fbmh7qIZwf0/8ezqbE5QRERERmcCoUaOwYMECPPPMM7jzzjvRsmVLJCcn46OPPkJMTAxGjx7NfqYLHJ2ATlcD+/6rKZfQjucHERERWWDGbVhYmG7x9vbGpk2bkJiYCB8fH7UkJCSodbKNTCeycoIyKZVARERERMaRcevKlSuxbds2jB8/Hn369FG3UvtW1vv6+rKLqTptndtjPwHlZewdIiIisryM2/nz5+vuP/bYY5g5cyZmzJhRbZ9ly5YhLi7OtC20cxGVgdt4lkogIiIiMgkJ1v722284cuQIMjIy4O/vj65du8LJyYk9TBdrPRRw9wHyUoDE3UDkZewlIiIistwat9u3b8e0adMuWi/rJFuBTCeissZtIjNuiYiIiEzG2dkZPXr0wIgRI9Qtg7ZU98niCnS4SnNfyiUQERERWXLgtqSkBNHR0RetP3nypNpGps+4TczMR1l5BbuWiIiIiMhc5RIkcFvBMTkRERFZWKmEqiZNmoRZs2bhoYceQvfu3dW6gwcPYsWKFbjuuutM3Ua7FuLjARcnB5SUVSD5fCHCfD3M3SQiIiIiIvvSdhTg4glkJwBn9wOhvc3dIiIiIrIDBgVu582bp2qBLVmyBFlZWWqdTOQgM/Ped999pm6jXXNydEArP0/EpeUhPj2PgVsiIiIioqbm6gm0uwI4+r0m65aBWyIiIrLUwK3UBJs+fbpa0tLS1LrAwEBTt42qlEuQwK2qc9uW3UJERERE1OQ6X3shcDv6//gCEBERkWUGbqtiwLbp6tzGp+c3wbMRERER2b7Nmzdjy5YtOHfuHFq0aIFhw4apicqI6tThSsDRBUg7AaQeB4I6srOIiIjIMgK3s2fPVreLFi3S3a+L7EOmExmgCdwmSMYtERERERllzpw5WL9+Pfr164fg4GDExMTg888/x7hx4/DWW2+xd6l27j5AmxFA9AZN5m3Q4+wpIiIisozAraenZ633qfGFV2bcqlIJRERERGSw7du3Y8eOHfjhhx/Qtu2FGlQSvJ06daraPnjwYPYw1a7zhMrA7Q/AMAZuiYiIyEICty+//HKt96npMm7jGbglIiIiMsqhQ4cwfvz4akFbIY9lvWxn4Jbq1Olq4MdHgbMHgMx4wC+SnUVERESNxtGQH7rllluwZs0aZGZmmr5FdJFwP03gNiu/BNkFJewhIiIiIgPJlWNS17Y2ycnJ8PLyYt9S3bwCgcghmvvHfmRPERERkeUFbrt164Zly5Zh6NCheOihh/DLL7+gqKjI9K0jxcvNGYHebuo+yyUQERERGW7kyJFqUrKFCxciPj4e+fn56vb111/H1q1b1XaiS5ZLEFIugYiIiMjSArdPP/20GtguX74c3t7e+M9//oMhQ4ao2507d5q+lYQIfw/VC5ygjIiIiMhwYWFhKgFBEg+uvPJK9O7dW93++uuvan1oaCi7ly5dLkENzHcCObVnbxMRERE1aY3bmpycnDBs2DC1FBQUYNOmTXjvvffw9ddf4/jx4yZpHF0Q4e+JvxOyEJ/OCcqIiIiIjCHj1/Xr1yM2NhYpKSkIDg5GmzZt4OLiwo6lS6uoAII6A6lHgd0rgc4Tq2/3DAB8w9mTREREZL7ArVZ6ejp+/vlnNTOvBGw7dOhgfKvoIhEBmnprzLglIiIiMp4EaTt27KgWIr1lJQLL+gKllWXitr6lWapydgNm7GPwloiIiMwTuM3Ly8PGjRtVsHb79u0qS+Hqq6/Giy++yMFvI2bcioSMvMZ6CiIiIiKbJONVWfQxePBgtRDVKj/9QtC2LrJd9mPWLREREZkjcCv1bCVLQeqB/fe//8WAAQPg4OBgbFuoHpEB2sAtSyUQERERNURqaiqOHj2qexwdHY3k5GRERUUhKChIbY+Li0PLli3Rvn17di4RERERWW/gVmbdHTFiBFxdXU3fIqo34zYpqxAlZeXsJSIiIiI9TZw4US1qLJWUhClTpmDNmjXo27evbp+9e/di7ty56N+/P/uViIiIiCyCoyE/JJm2DNo2reBmbnBzdkRZeYUK3hIRERFRw23btg0jR46sFrQV/fr1U4kJ+pZUICIiIiKymIzb2bNnq9tFixbp7tdF9iHTklIUknV7MiVXlUtoxg4mIiIiarDs7GxkZmbWuk3WZ2VlsVeJiIiIyLoybj09PdVS9X5dCzVundtE1rklIiIiMsiwYcOwYcMGLF26FGfOnEFxcbG6lcebNm1SWbdERERERFaVcfvyyy/Xet8Yn376KbZs2VJtXWhoKJ599tlq644dO4a1a9ciPT0dHTp0wLRp09C8efMG72Ptwivr3MZn5KNLiLlbQ0RERGR9ZJy4ePFiLFiwAMuWLdOtDwsLU+vbtWtn1vYRERERERk1OZmpHD9+HOfPn8f999+vW+ft7V1tn3///RdTp07Fddddp+qRSXB2/fr1+Oqrr+Du7q73PrYgsjJwm5hZAIQ4mLs5RERERFZpzJgxKrM2JiYGqampCAoKQtu2beHi4mLuppGl8wwAnN2A0qK695Htsh8RERFRUwVup0+frvdBly9frve+MlCWYGtd3nzzTQwZMgTPP/+8ejx69GgMHz5cBWUlWKvvPrYgorJUQkJ6PgAvczeHiIiIyGpJkLZTp05qIdKbbzgwYx+Qn655XHgeWDVBc3/a94C7jyZoK/sRERERNVWNW7l8TLtIVqzUAEtMTISPj49aEhIS1LqaGbOXIiUOHnnkETz99NP49ttvUV5erttWVFSEPXv24Morr9Stk/IHgwYNwtatW/Xex1ZE+GuCtYmZ+aioqDB3c4iIiIiI7I8EZUN7aZY2w4DAjpr1JfmadQzaEhERUVNn3M6fP193/7HHHsPMmTMxY8aMavtInbC4uLgGZTpIgLV///44d+4c3njjDfz0009477334ODggKSkJJSVlaFly5bVfi4kJAS7du1S9/XZpyHkWJYqtLkrHByA3KIynC+usOi2Wiptn7Hv2G883ywX36fsN55vlq+p36f83CaLFj4ASDsOJO4COl5l7tYQERGRvde43b59+0UTiAmZEGzcuHF6H2f27NnVMnSHDh2KSZMmqZl+JYO2pKREra9Zp1Yea7fps09DHDx4EJbM390R6QXlOJdbavFttWTsO/YbzzfLx/cp+43nm+Xj+5RIArcDgX/+ByQ0PGmEiIiIyOSBWwmIRkdHo0+fPtXWnzx5skHB0pplFTp27IjQ0FAcPnxYBW6l5IHIzs6utl9WVhaaNWum7uuzT0N0794dTk5OsFRt9+xC+qlMnMsrww0jLLutlkgyduSfTEt/nS0N+439xvPN8vF9yn6z5fNN+3ymIiWnZFIymSRXxpIy54Jc7UVkkIhBmtukv4HSYsDZlR1JRERE5gvcSlbsrFmz8NBDD6kBu5DB9IoVK3DdddcZNYjOycmBs7OmWS1atICvr6+qgysz/2rJ486dO+u9T0PIPx+WHNCLDPDCbgnc5pZZfFstGfuO/cbzzfLxfcp+4/lm+aztfbp3716sXbsWf/31FzIyMnTr/f391ZVfN998M/r27WvWNpIVCmgHePgBBZlA8kGgFc8hIiIiMmPgdt68eWqAu2TJEpXZKiR4euedd+K+++7T6xiSmSuTkU2ePFmX4bBy5UoVuB09erR6LOsnTpyIL7/8Ug2k/fz8sG3bNpWR+9RTT+m9jy2J8PdUt8l5rG9LREREpI/4+Hg8//zzOHDggLqqa+7cuWjdurW6+is3NxenTp1Sk93ef//96NWrF/7v//4PkZGR7FzSj/wvI+USTqwHEncycEtERETmDdxKRuz06dPVkpaWptYFBgY26BiSnXHo0CEsXbpUDYyTk5ORl5eH119/HV26dNHt98gjj6jsWamdGxUVhSNHjqhsX5nQrCH72IqIAE3gVmrcEhEREdGlyZf6cmXW8uXLL5oXQUiW7Q033IDnnntOJQPI/gzcUoPoAre7gMseZucRERGR+QK3VTU0YKvl6OioMh8effRRVRtX6otJ0NXNza3afl5eXli1apUKzKanp6Ndu3aqPEJD97EVzLglIiIiapgpU6botZ8EdW+//XZ2LxkWuBWJu6X+myYLl4iIiMjcgVtjSWmDAQMGXHK/Tp06mWQfayc1bkVGQTmKSsrgaUV15YiIiIiIbFJob8DRGcg5C2QlAH4stUFEREQ2ELilhvHzdIG3mxNyi8qQmFmAjiGctZaIiIiooTZv3owtW7bg3Llz6kqtYcOGVZvolqhBXD2Blj2ApL81WbcM3BIREZEJOJriINR0ZDI2bbmExIx8dj0RERFRA82ZM0fN1RAdHQ0PDw/ExMSox7KeyGARgzS3UueWiIiIyFwZtxMmTMAPP/xgiucnA4T7e+LI2RzEM3BLRERE1CDbt2/Hjh071Fi2bdu2uvUSvJ06daraPnjwYPYqGTBIHwDsXM7ALREREZk34/bs2bPIyckxXSuoQXQZt5kF7DkiIiKiBjh06BDGjx9fLWgr5LGsl+1ERk1Qdu4QUMT/lYiIiMhMgdsxY8Zg7dq1Jnh6MkSEn4e6TUhnqQQiIiKihvD09FR1bWuTnJwMLy/NRLBEDdY8FPCJACrKgTP72IFERERknlIJ+fn5eOONN/Dzzz+jXbt2cHFxqbb95ZdfNr5lVKeIAGbcEhERERli5MiReP3117Fw4ULceOONCAoKQmpqqkpK2Lp1K+bPn8+OJePKJWQnaCYoa8PJ7oiIiMgMgVtHR0d1KZkoKSlRCzWdcD9N4DYhIx/l5RVwdHRg9xMRERHpISwsDMuWLcPzzz+P999/X7e+VatWan1oaCj7kYwYqA8EDn0FJOxkLxIREZF5AreLFi0y/pnJYKG+7pBYbVFpOVJzi9CiuTt7k4iIiEgPBQUF6N+/P9avX4/Y2FikpKQgODgYbdq0QWlpqdru4aEpS6WP7OxsHDx4UP1Mz5494ex86eF1XFwckpKSVBC5devWJjsuWYCIyjq3p/cA5eWS8WLuFhEREZEV4wjQCrk4OSLQ0wkpeWWIT89n4JaIiIhITx988IG6nTlzJjp27KgWrZUrV+q26eOnn37C008/rUqHZWRkwMnJCR9++CHCw8Nr3f+ff/7Biy++iLy8PJXZe+TIEXTu3BlLly5Fs2bNDD4uWZDgroCLF1B0Hkg9BrToYu4WERERkRUz6Cvg8vJyrF69GpMmTULfvn1166XurUzqQI2vpZeTrlwCERERERmvsLAQbm5ueu0rE5z95z//wezZs/Hll1/i119/RUhIiFpXl/Pnz+Oll15S+/73v/9Vt6dPn1b1do05LlkQJ2egVeX/R4ksl0BERERmCNx+8skn+Oijj9SEDrm5ubr1conZ8uXLjWwS6aOFd2XgNj2PHUZERER0CXv27FHjVLnV3q+6SALCunXrqmXg1kcCqpIJe8stt6jHUsrgzjvvxO7du1UZhNoMHz4cXbpcyMD09fXF5ZdfjsOHDxt1XLLAOrdCJigjIiIiaupSCZ9//jkWL16MHj164IUXXtCtHzJkiMoYqLqOGgczbomIiIj0d+rUKWzevFl3dZhk12o5ODjA29sbd999twqu6uPYsWMqacHV1VW3TsoeiBMnTug1yZlcxbZv375qwVxTHFerrKwM1kDbTmtp7yWF9YekWFQk7kJ5I/5ONtdvTYT9xn7j+WYd+F5lv9ny+VbWgOcxKHB75swZdOjQQTfQ1XJ3d6+WgUuNp4W35qWLZ6kEIiIiokuSK8Vk+eGHH9TjCRMmGNVrMub18fGptk4yaLUlEfTx9ttvq1IJcmvK42rJ5GbWxNraWxenEnf0kv+TMmJxaNcfKHXza9Tns5V+a2rsN/YbzzfrwPcq+83ezzeDArcyA+6hQ4fQr1+/aoHb3377TWUIUONrUVnjNpGBWyIiIiK9GRuw1XJxcUFBQUG1dfn5mrkHqmbLXqr02DvvvFNt/Gzscavq3r27Krtg6STrRP5Rspb26qNiXyc4pB5DN598oNPIRnkOW+y3psB+Y7/xfLMOfK+y32z5fCurfL5GC9zeddddePLJJzFnzhz1WGpubd26VQ1AWSahaWvcpuUWI7eoFN5uBr2URERERHZJSiUkJiYiOzu72nopRaBPOYJWrVrhn3/+qbbu7Nmzum31kUl+pbzY0qVLMWzYMJMdtyb5x8OaAnrW1t56RQwCUo/B6cweoOu1jfpUNtVvTYj9xn7j+WYd+F5lv9n7+WZQtE8mSygpKcErr7yianPdfvvt8PPzwxNPPIFJkyaZvpV0ES8XR/h5uiAzv0Rl3XYOac5eIiIiItLDqlWrsGjRIl0ma1UzZszAzJkzL3kMCbiuXLlSXYXWrVs3tW79+vUICgrS1aQtKipSyQ2SvdGiRQu17tNPP8Vrr72GJUuWYMSIEQYdl6xkgrJ9H3OCMiIiImr6wO3evXtVsHbq1KlqggcJ3oaEhMDR0VFtkxIK1PjC/TyRmZ+N+HQGbomIiIj0IZN/SdB02bJl2LVrlyr7NXnyZKxZswYbN25UV5bpo2/fvhg7dixmzZqF++67DykpKar0wYIFC3SZGpmZmXj44YdVDdtx48bhxx9/xIsvvqhq7colcvJ8ws3NDUOHDtX7uGQlgVuR9A9QWgQ4u5m7RURERGQvgdvbbrsNx48fVwNdCdjWto0aX0SAB/49k806t0RERER62rdvH6666ioMGTJElSSQq8jCw8NVGbDo6Ghs3rwZ11xzjV7Heuutt/Dll1+qxAWZpPfDDz/EoEGDdNslIDt69Ghdtq1k+I4aNQrp6en45ptvdPvJlWvawK0+xyUr4N8G8AwE8tOAsweA8AHmbhERERFZIZMWRpWZbr28vEx5SLpExq2Iz8hjPxERERHpQbJgg4OD1X0fHx+cOHFCt61du3Y4c+aM3v3o7OyMW2+9VS21kYDs8uXLdY9vuukmtRh7XLICMoGzZN0e/wlI3MXALRERETV+4Hbu3Lm13hcVFRVq4NurVy/DWkINFumvCdwmZFSfeZiIiIiIaidjVi2pGfvuu+8iJiYGrq6u+P3331WNWyKTkCxbCdwm7AQGX7puMhEREZFRgVv59r+2+9rH48eP1yuLgEwj3N9D3SakM+OWiIiISB9t27bV3Zd5GaQEgYxhRf/+/VV9WSKT1rlN3C3fGGiycImIiIgaK3D76quv6i77kjpgZF4RlRm3pzMLUFZeASdHDgaJiIiI6qMN0motXLgQjz76KIqKihAVFaUm2yUyidDegKMLkJcCZJ4C/KPYsURERNQgBo1MZ8+ejZ07d+oe79+/H/PmzcM777yjJnigptGiuTtcnRxRWl6BpCyWSyAiIiIyRKtWrVQmLoO2ZFIu7kBorwtZt0RERERNMTnZihUr1Cy5cmlZXl4eHnjgAXTv3l3NfCuz5T7++OOGHJYaSDJsW/l7IDY1D4kZ+QivzMAlIiIiogu2b9+uFn0MHjxYLUQmK5dweg+QuBPoeTM7lYiIiBo/cPvdd9/hs88+U/e3bduGiIgIfPDBB4iOjsa9997LwG0Tl0uQwG18Rj74LwYRERHRxVJTU3H06FHdYxmzJicnq9IIQUFBantcXBxatmyJ9u3bswvJtIHbHcuYcUtERERNF7jNyMiAt7e3ur9r1y4MHz5c3Q8LC0NWVpZhLSGDRFZm2SZk5LMHiYiIiGoxceJEtYikpCRMmTIFa9asQd++fXX7yJVjc+fOVROUEZlM+ADN7bnDQOF5wL05O5eIiIgat8atZCJ8/PHHOHz4MH766ScMHTpUl73Qrl07Qw5JBtKWR0hIZ+CWiIiI6FLkarGRI0dWC9qKfv36YcSIEXqXVCDSS7OWgG8kgApNyQQiIiKixg7cPvHEE1i1ahWuv/56NcDt2bOnWi/B3DvuuMOQQ5KBIgO81C0zbomIiIguLTs7G5mZmbVuk/W8eoxMLmKQ5pYTlBEREVFTlEqQS8h27NihJiLTlkwQM2bMQOvWrQ05JBlR41bEp+exD4mIiIguYdiwYVi0aBGWLl2qkhC0NW6/+eYbbNq0CTNnzmQfkunLJfy7FkjcxZ4lIiKixg/cCkdHx2pBWyETPJB5ArfnC0uRnV8CH08XvgREREREdejQoQMWL16MBQsWYNmyZbr1MleDrGfZL2qUCcrE6b1AeRng6MROJiIiosYL3E6fPr3e7cuXLzfksGQAD1cnBDVzQ2pOEeIz8tDD05f9SERERFSPMWPGqHJfMTExKttWsm7btm0LFxd+AU6NILgL4NoMKM4BUo4ALbuzm4mIiKjxaty2bNmy2hIcHIyCggJ1eZmnpyYDlJpOpHaCsgxOUEZERESkDwnSdurUSU2yK7cM2lKjkQzbVv0091kugYiIiBo74/b//u//al2/evVqHDlyxJBDkpHlEvbGZyI+nYFbIiIiopp27dqF3bt3Y8CAAeqx3K+L7DNwYOWl7USmLJcQ+4dmgrL+97JfiYiIqHFr3NZm0qRJWLlypSkPSXqICNBk3CYy45aIiIjoIomJidi+fTtCQkLUY7lfF9mHgVtqlAnKRMJOdi4RERGZJ3Arg+KSkhJTHpIaMEEZM26JSJSVV2B3XAZScgoR3MwdA6L84eTowM4hIrs1efJktVR9TNSkWvUH4ABkxQM5yUCzlnwBiIiIqHECtwsXLrxo3fnz57FhwwaMHTvWkEOSESIrM25Z45aI1h86i+d/OIKz2YW6zgjxccezE7pgXDdNphkRERE1MffmQIuuwLlDmnIJXa7lS0BERESNE7g9dOjQReuaN2+Ohx56CLfccoshhyQjhFdm3J7NLkBxaTlcnQ2ac46IbCBo+9Dqv1FRY31ydqFav2JqHwZvicguSWmE+sojVDV48GC1EDVKuQQVuN3FwC0RERE1XuD2448/NuTHqJEEebvBw8UJBSVlOJNVgKhAL/Y1kR2WR5BM25pBWyHrpFCCbB/TpSXLJhCR3UlNTcXRo0d1j6Ojo5GcnIyoqCgEBQWp7XFxcWjZsiXat29v1raSDQsfBOz9SBO4JSIiImrqGrdkHg4ODqrO7fFzOYhPz2PglsgOSU3bquURagveynbZ77K2AU3aNiIic5s4caJaRFJSEqZMmYI1a9agb9++un327t2LuXPnon9/qUVK1IgTlCXtB0oKARd3djMRERGZJnA7e/ZsfXfFokWL9N6XTCMiQBO4TczIZ5cS2SGZiMyU+xER2apt27Zh5MiR1YK2ol+/fhgxYoQqqcDJy6hR+LUGvIKBvBQg6R8g8jJ2NBEREZkmcOvpqamjSpZJMm5FfDoDt0T2KLiZu0n3IyKyVdnZ2cjMzKx1m6zPyspq8jaRnXBw0GTdHvtRUy6BgVsiIiIyVeD25Zdf1ndXMoPIAE3gNoEZt0R2aUCUP0J83NVEZLXVuZUaty193NV+RET2bNiwYerqsKVLl+L666/X1bj95ptvsGnTJsycOdPcTSRbFjGoMnC729wtISIiIivgaO4GkGmEV2bcMnBLZJ+cHB3w7IQutW6ToK2Q7bIfEZE969ChAxYvXox169Zh1KhR6N69u7qVx7K+Xbt25m4i2bLwgZpbybitqO2rViIiIiIjJyf7888/sX79eixYsKDa+qeeegpXXXWVymRoqLy8PMTGxiIwMBAhISEXbU9PT1dLeHg4PDw8aj2GPvvYqsgqgduKigo1YRkR2Zdx3UKwYmofzPrsHxSXXfhnUDJtJWgr24mICBgzZoyqZxsTE6OybSXrtm3btnBxcWH3UOMK6Qk4uQH5aUBGLBDQlj1OREREps24ffPNN3HnnXdetP6OO+4weGKyJ554AjfeeCM++uijauuLi4vx2GOPqcH1gw8+iMGDB+OLL75o8D62LszPQ5XNyi8uQ1pusbmbQ0RmIsFZH48LgQdXJ0dsfWIkg7ZERDVIkLZTp04YOnSoumXQlpqEsxsQ2vtC1i0RERGRqTNu4+LiEBYWdtF6WSeZCw21evVqlXErl67VtGLFCuzatQu//fabysT9+eefMWfOHHTp0gXdunXTex9b5+bshJDm7kjKLlRZt0HN3MzdJCIyg9yiUqRWfnkjX+YUl5UjPa8YLZpzUjIiIq2UlBR8++23OHPmDEpLS6t1jJRNGD16NDuLGo9MUJa4UxO47TWFPU1ERESmzbiVUgRbtmyptYRCaGhog4517NgxvPvuu3jttddqvbz/yy+/VJm42vIJ48ePV5eyffXVVw3axx5E6CYoyzN3U4jITOJSNe//QG9XhPtp/iacSuPfBCKiqkHbCRMm4Ouvv0ZmZiby8/OrLSUlJewsapo6twnMuCUiIqJGyLidNm0annnmGSQkJKBfv35q3Z49e/D++++rkgf6ksHx7NmzMX/+fLRo0aLWgbXUHZNJI6rq0aMHjhw5ovc+9iLC3xM7YzOQkF5g7qYQkZnEpuWq2zaB3nBzcVQZ+KfS8zCwTQBfEyIiABs3blSlET7++GPOCUDmDdymHgUKsgAPX74SREREZLrA7S233ILCwkKsXLlSV9PWz88Ps2bNUtv09eKLL6JXr14YN25crduzsrLUra9v9cGMPJd2mz77NERZWRksnbaNNdsa7qeZkO1Ueq5V/B6W1HfEfrOV8y0mJUfdtg7whKuzI7aqLFzr+pvA9yn7jeeb5Wvq96kpn6e8vFyV0+JErmQ23kGAfxvN5GSn9wLtr+CLQURERKYL3AqZnEwyb8+ePasGvi1btoSjo/6VF6SswoYNG/DOO+/g4MGDap0EgzMyMtRjyaB1dnbWTT5WVVFRkW6bPvs0hLYt1qBmW8vPazJtjyWmYv/+/WZqlXWwptfZkrDfLL/f9p3UfGHlVpIN58qyjQdik7B/v/Vl4vN8Y7/xfLN81vg+lavFvvnmGxUMdnJyMndzyJ6zbiVwK7VuGbglIiIiUwduhQRqa5ukTB8yGVlERISqbauVnJyMnJwcNfmZ1K2VYLAEhaUcQlXyWFvPVp99GkICxpY+iJd/NLTB7aptdQzMxqJdO5Be5KgymUn/viPDzjmyvH7L2rZdvgbDkO7t4OTogP8e+BtZpa5W9TeB5xv7jeeb5Wvq96n2+UxBSnXJF/wyP8LIkSPh6ampB67Vu3dv9OnTxyTPRVTvBGUHPtNMUEZERETUGIFbY8gEYrJUNXHiRAwYMEDVvBUykJZgg2TnXnvttbqs3B07duDBBx/Ue5+GkH8+rCUwVbOtrQO91W1KThGKywAPV+v4PczBml5nS8J+s+x+q6io0E1E1q5Fc2jne4zPyFdftFnbZcE839hvPN8snzW+T48fP66uypJgsNS7rUnGlgzcUqMLH6S5Pb0PKCsFnMz2bxkRERFZMIsfITzyyCO49957ERUVpQK0q1atQvPmzavV0tVnH3vg6+mCZu7OyCksRWJmPjq0aGbuJhFRE5IvbfKKy1SmrUxWWIEKODoA+cVlSM0pQnBzd74eRGT3br31VrUQmVVQJ8CtOVB0Hkg5DIT05AtCREREF9G/KG0TaNeuHUJDQ6utu+yyy/DBBx/g2LFjWLZsmSqNsGbNGnh7ezdoH3sg2XQSrBEJ6fnmbg4RNbGY1FzdRIUyMZmbsxNCfbWTFvJvAhERkcWQuUFa9dfcT2C5BCIiIrKCjNs333yz1vUSmJWlPvrsYw8iAzxxOOm8ujSaiOxLXGWZhDZBF760igr0wunMApxKz8OAKH8zto6IyLJIaa3ExERkZ2dXWy9JBDUTCYgaRcQgIGaTps7twPvZyURERGS6wO3Ro0fx4YcfIjY2VtVVbNu2Le655x507tzZ0EOSCYRXZtwmMnBLZHdiU/N0wdqqX+ZsPQld7VsiIoIqq7Vo0SI1UVlNM2bMwMyZM9lN1DQTlInE3extIiIiMl2pBJnI4frrr0daWhqGDh2K4cOHq/uybtOmTYYckkwk0l8TsIlPZ5CGyH4zbi8EblsHaP8mMAufiEhIaa0lS5ao8loPPPCAmsxWxrZ33303IiIicNddd7GjqGmE9QUcHIHsBOB8EnudiIiITJNx+/bbb2PevHm44447qq3/5JNPsHjxYowePdqQw5IJ6GrcMuOWyO7EVta4rZpxqw3caoO6RET2bt++fbjqqqswZMgQ/PPPPygpKUF4eDiefPJJREdHY/PmzbjmmmvM3UyyB27NgBbdgOR/NeUSul5n7hYRERGRLWTcxsXFqezammSdbCPzkcuiRWJmAcrLK/hSENmJ4tJy9b4XbavUuG0deCELX8raEBHZu8zMTAQHB6v7Pj4+yMjIqDZR7pkzZ8zYOrI74QM1tyyXQERERKYK3Pr7++PIkSMXrT906JDaRuYT4uMOZ0cHFcQ5l1PIl4LITkiWfVl5BbxcnRDczE23PtzfAw4OQF5xGdJyi83aRiIiS1D1SyyZm+GPP/5ATEyMmqjs999/58RkZJ7AbcJO9jwRERGZplTCTTfdhNmzZ+P+++9Hjx491Lp///0X7777Lm677TZDDkkm4uzkiDA/D1XPUpYQHw/2LZE9lUkI8oKDRGoruTk7IdTHA2eyCnAqPQ9BVYK6RET2SCbU1erXrx8GDRqE8ePHq8f9+/fH2LFjzdg6stsJyqRcQnE+4Kq5eo6IiIjI4MDt9OnT4ebmhhUrViArK0ut8/X1xb333ot77rmHPWsBdW4laCsZeIPaBJi7OUTUBLQ1bKMCL5RJ0JKatypwm5aH/q15VQQR2TdtkFZr4cKFePTRR1FUVISoqCg4Ohp0QRqRYXwjgGYhQM5ZIOkfoPUQ9iQREREZF7iVAe19992nlrS0NJXdFRDAAKHFTVDGWeSJ7EZsqiZw26bKxGRVa1//FQ2VcUtERBdr1aoVu4XMQ66SkazbI99pJihj4JaIiIiqMDqlIDAwkEFbSw3cZuSbuylE1MQZt22CvGrNuBWn+GUOEZHy0ksv4dixY9V6Qx7LeiLzTVC2i51PRERExmfcFhYWYtWqVfj777+RnZ190fbPPvvMkMOSiUh2nYhn4JbIbsSmaWrctqmlVEJkgCZwG8+MWyIi7NixA9HR0ejUqVO13pDHsn7Xrl0YOLAykEbUFMIHXQjcyuR5VWrVExERkX0zKHD73HPPYdu2bWryhq5du5q+VWSU8MqM20QGbonsQnZBCdJyi3WTk9XUuvLLnFNp+Wo29aqTlxER2ZuDBw+ic+fOtW6T4K1sZ+CWmlTL7oCzO1CQCaRHA4Ht+QIQERGR4YHbTZs2Yc2aNWjfnoMKSy6VkJFXjJzCEjRzdzF3k4ioCcokBDdzg7ebc61f5kisNreoFOl5xQj0duPrQUR2KygoCJs3b65124EDBzB58uQmbxPZOWdXILQPkLAdSNjJwC0REREZV+PW3d0dISEhhvwoNQEJ1Pp7uar7rHNLZPtiUyvLJNSSbSvcXZwQ6uOh7p+qDPISEdmrUaNGqZIIzzzzDGJiYpCXl6du58+fr25Hjx5t7iaSPYpgnVsiIiIyUeB25MiRWLdunSE/Sk09QRknIyKym4zbqFrq22q1Dqwsl8C/CURk53x8fLBy5UpV9mv8+PHo06ePupXat7Le19fX3E0ku56gbLe5W0JERETWXipBJiSTWXd//fVXREREXFQv8eWXXzZV+8iIwO3+xCxm3BLZgdhUTeC2bR0Zt9oJyrZFpzPjlogIUMHa3377DUeOHEFGRgb8/f3VvA1OTk7sHzKPVgM0t2nHgfwMwNOfrwQREREZFrh1dHRUmQmioKCA3WiBIisnI4rnBGVENi9Wl3Fbd+BWN0FZOkslEBEJZ2dn9OjRg51BlsErAAhoD6SfBE7vATqMNXeLiIiIyFoDt4sWLTJ9S8ikZDIikcjALZFNKy+vQFyatsZtPaUSAjRB3XiWSiAiIrLccgkSuE3cxcAtERERGR64JcsXWRm4ZZCGyLYlny9EYUk5nB0dEO6nmYCsNq0rs3FlcrKKioqLStwQEVHD5efn46OPPsLu3bvh6emJCRMm4Oqrr673Z3JycvDtt9+qkmPt2rXDc889V217VlYW7r///ot+bs6cORg0aBBfJlsWPgDYv5p1bomIiEiHgVsbFVF5WfSZrAKUlpXD2cmgeeiIyErq28p7vr73udS9llhtTlEpMvKKEeDt1oStJCKyTdOnT0d6ejpmzZqFlJQUPPXUU8jMzMTUqVPrDNpeddVVGDNmDNzc3BATE3PRPiUlJThw4AAWLlyI8PBw3frWrVs36u9CFjRB2em9QFkJ4ORi7hYRERGRmTFwa6NaNHOHq7MjikvLkZRVqAvkEpFt0ZVJCKy7TIJwd3FCSHN3JGUXqjq3DNwSkb36+eef1a12vgZDbdu2DTt27FDHa9u2rW4C36VLl+Lmm2+Gi8vFQTcPDw81KZpk586fPx8JCQl1Hr9jx47o0KGDUW0kKxPYAXD3BQqzgOSDQFgfc7eIiIiIzIxpmDbKscpl0wmsc0tks2IqM27bBNU9MdnF5RLyG71dRESWKikpCYcPHzb6OBK0jYyM1AVtxejRo1WpgyNHjtQ5IZoEbfXx0ksvYdq0aXjmmWdw9OhRo9tLVsDRUVMuQSTuNndriIiIyFozbouLi/H333/r6mzt378fn3/+ubqcS2py1ZZhQE0vMsBLBXXiM/JwOQL5EhDZoLi0ysBtZVD2Un8TtsekIz5d8zNERPZowIABKhj66KOPGjVmlQBwcHBwtXXax2fOnEHPnj0NPnbv3r1xww03wM/PD5s2bcLkyZOxbNkyjBw5skHHKSsrgzXQttNa2tuYHML6w/HkbyhP2IGK/vfVuy/7zTDsN/ZbU+L5xr5rajznrKPfGvI8BgVuV6xYoepySeA2Ly8PDzzwALp37469e/eqSRoef/xxQw5LJiY1LQUzbolsV2xlqYQoPQK3rStLpsSlM+OWiOxXaWmpWiZOnIhRo0ap4GjNoGmfPpe+RF2O4erqWm2du7u7bpuhpD2ffvopnJyc1ONhw4ahqKgIr732WoMDtwcPHoQ1sbb2NgbvogB0lHModhsO7t+v18+w3wzDfmO/NSWeb+y7psZzznb6zaDA7XfffYfPPvtMV98rIiICH3zwAaKjo3HvvfcycGtpgVsGaYhsUmFJGU5nFqj7bYLqr3FbtVQCM26JyJ4dP35clSwQW7duvWi7lDLQJ3Dr4+OD06dPV1snZRKEr6+vwe3Ttq2qyy67DN9++y0KCwt1wWF9SGKFNgBsySTrRP5Rspb2Nqri9qjY+ThcC1PRKyoQ8GlV567sN8Ow39hvTYnnG/uuqfGcs45+0z5fowVuMzIy4O2tCRLs2rULw4cPV/fDwsJ0A1YyP2bcEtk2yaavqACauTkj0Lt61ldtWgd46corVFRUwMHBoQlaSURkWW699Va1GKtLly74/vvvUVBQoCYdEwcOHFB/Wzt16gRTSktLU2Udagvq1kf+8bCmQKi1tbdReDQHWnYHzu6H05k9gH/kJX+E/WYY9hv7rSnxfGPfNTWec7bTbwZNTta+fXt8/PHHamKHn376CUOHDlXrJeO2Xbt2pm4jGSgy4ELGrQRpiMi2xKbm6iYm0ycIq/2bkFNYisz8kkZvHxGRLRs7dqwKpMpVZ0KyYT/88EOV0KCtdSvJDjfddBN27typ93HXr1+PY8eO6R7L+Pq///2v7vnIDkRo5hHhBGVERERk0OjviSeewIwZM7BkyRJcd911uskXJJh7xx13sFctRHhlqYScolJk5ZfAz+vSGXlEZD1iKycm06e+rXB3cUKIjzvOZhfiVHoe/Pk3gYjs2ObNm7FlyxacO3cOLVq0ULVkR4wYoffP+/v74+2331Ylwr755hvk5OSgTZs2eOmll6pN6CtZuFWvSHv44YeRmpqKxMREVbtWArviiy++ULdSguzZZ5/F2bNn4eXlpfabNGkS5s2bZ9LfnyxY+ABg10ogcZe5W0JERETWGLjt378/duzYoSYi05ZMEBLMbd26tSnbR0aQIE2L5m44d74I8Rn5DNwS2ZjY1Dy969tWzbpVgdu0PPSJqD4hDxGRvZgzZ47KbO3Xr5/Kjo2JicHnn3+OcePG4a233tL7OJdffjn+/PNPxMbGqnIJkZGRFwV3165dW218LIFbCejWV4JBfkaCuxLwDQ8Pb1BdW7IB4QM1t8kHgeI8wFW/L2iJiIjI9hh8vZWjo2O1oK2IiooyRZvIxHVuJXArtTB7hRs+UQYRWR6pVastlaAvyc7dGZuBU5y0kIjs1Pbt21UCwg8//IC2bdvq1kvwdurUqWr74MGD9T6eq6trnTVtZVuvXr0uCszqIygoSC1kh2RCsuZhwPkzwJl9QNQwc7eIiIiIrKnGrTh69Cjmzp2L66+/XpVLkPuyjixLhL8moJOQrgnwEJHt1bjVt1SCiKycoEwybomI7NGhQ4cwfvz4akFbIY9lvWwnspisW5ZLICIismsGBW43btyoArYyw61MTCaTMMh9Wbdp0ybTt5KMyrgVknFLRLYjM69YN8FYQwK3rSsDt/H8MoeI7JSnp6eqa1ub5ORkVVeWyHICt7vN3RIiIiKytlIJMhGDTJBQcyKyTz75BIsXL8bo0aNN1T4yknYW+XheFk1kkxOTyWRjnq76/ylvHaj5m8BSCURkr0aOHInXX38dCxcuxI033qjKEUg9Wakru3XrVsyfP9/cTSTSTFCmzbgtL5c6dewVIiIiO2TQCCAuLk5l19Yk62QbWY7wyozbRGbcEtlkmYSG1LcVkZXlU7ILSlTWLhGRvQkLC8OyZcvwyy+/4Morr0Tv3r3V7a+//qrWh4aGmruJREDL7oCLJ1CYDaSdYI8QERHZKYMybmWG3CNHjmDgwMpLeCpJTTDZRpaXcXv2fCGKSsvg5uxk7iYRkQknJmtImQTh4eqEls3dkXy+EKfS8+Dn5crXg4jszrBhw7B+/XrExsYiJSUFwcHBaNOmDVxcXMzdNCINJxcgrC9waqsm6za49gnwiIiIyLYZFLi96aabMHv2bNx///3o0aOHWvfvv//i3XffxW233WbqNpIRArxc4enqhPziMpzOLEDbIG/2J5ENiE3VBG7bBHob9IWONnDbO8KvEVpHRGT5JEjbsWNHNSmZs7NBQ2Kixi+XoA3c9q1eoo6IiIjsg0Gj1OnTp8PNzQ0rVqxAVlaWWufr64t7770X99xzj6nbSEZwcHBQE5QdS85BQno+A7dEtpZx28BSCepnAr2wKy4Dp9I4aSER2afTp09j6dKlqqZteno6AgICVBbuzJkzVSkFIosQPkhzK4FbIiIisksGBW7//vtv3HfffWpJS0tTwUEZ8Iq9e/eiX79+pm4nGUEXuGWdWyKbUFZegbh0TeC2rUEZt5pgr2TcEhHZm4yMDNx8882IiIhQV5BpJyf75ptv1Prvv/+epb/IMrSq/J8qPRrISwe8NP9vERERkf0waHKyquUQAgMDdUHbmtvIsurcxqczu47IFiRlFaC4tByuTo4I8/No8M9HBWr+Jpzi3wQiskMyKVl4eDhWr16NG2+8ESNGjFC38liybaX2LZFF8PQHAjtq7p/ebe7WEBERkbUEbuty/vx5eHk1/LJdavyMW8GMWyLbEFtZJkG+lHFydDA44zaeGbdEZIfKysrQs2dPODlVn7BVHvfq1UttJ7KoOrciYae5W0JERESWXiph7ty5td4XFRUVOHHihBrwkmWJqAzSJGTwsmgiWxCXmqtu2xhQ37ZqFn5Wfgmy8ovh6+lq0vYREVmy3r1747PPPlP1bL29L5Sbyc3NxZYtW/D666+btX1E1UQMAv75H5DIjFsiIiJ71KDAbdUZd2vOviuPx48fj5tuusl0rSOTZ9xKgF1qEhOR9WfcRhlQ31Z4ujqjRXM3nDtfpMol9GLglojsSElJiRoLjRs3DmPHjlVlv2TOhl9//RXNmzfH7t271aIN8vbp08fcTSZ7Fj5Qc5v0N1BaDDjzy1YiIiJ70qDA7auvvqpu/fz88OSTTzZWm8jEwnw9IFdTF5aUIzWnCMHN3dnHRFYsNjXPqIxbbbkEFbhNy0OvcF8Tto6IyLIdP34cLi4uao4GmVRXSztng0xOpuXp6cnALZlXQDvAwx8oyACS/70wYRkRERHZhQYFbrUYtLUurs6OCPHxwJmsApV1y8AtkXWLq8y4bRNoeOA2KsALu+MycIp1bonIztx6661qIbIKcqWcZN2e+AVI3MXALRERkZ0xKHArCgoKsH//fpw9e/aiSRxkZl6yLFLTUgK38en56Nfa39zNISIDFRSXqfeyaBNkWKkEERmoKaEifxOIiIjIwico0wZuL3vY3K0hIiIiSw/cHjt2DA888ADy8/Nx/vx5XW0wERoaqnfgVuqtbtiwAX/99Rfy8vLQvn17VSPX39//oudbu3Yt0tPT0aFDB0ybNk3VIGvoPvZe53Z7TLrKuCUi66XNkPXxcIGfp4vBx2ldOWmhNnuXiIiILLzObcIu+QdKk4VLREREdsHRkB9asGABJk6ciD179qjH27Ztw++//46+ffti8uTJeh9n3rx5+O2339CzZ08MHTpUHWfSpEm6ILD4999/VTC3vLwcI0eOVEHeKVOmoLCwsEH72LuIylnkGbglsp36tsZMNKgN3MazVAIREZFlC+sDODoDuclAVoK5W0NERESWHrg9fPgw7r77bnVfAgfFxcUICwvDyy+/jC+//FLv4zz11FNYuHAhbrjhBhWwfe+991TG7NatW3X7vPnmmxgyZAief/55XHfddWqfM2fO4KuvvmrQPvZOMm4FA7dE1i0uLVfdtgk0vEyCtnyKyMwvQXZ+iUnaRkRERI3AxQMI6am5n7ibXUxERGRHDArc5uTkwNdXMwu5lDU4d+6cuh8UFKQCr/rSHkPr1KlTKC0tRUREhHpcVFSksnqvvPJK3T5S/mDQoEG64K4++xAQ6a/NrmOpBCJbybg1hpebM4Kbuan7nKCMiIjISsolSJ1bIiIishsGT06mJeUR3n77bUydOhXr1q1TdWobmr27ZMkS5ObmIi4uTmXPyjFFUlKSmvisZcuW1X4mJCQEu3bt0nufhqg50Zol0raxIW0N89UEaNJyi5BTUARPV6NfeqtkSN8R+82SzrfYyozb1v4eRh9Xsm5TcooQm5qDbqHNYCn4PmW/8XyzfE39Pm2M59m8eTO2bNmiEhBatGiBYcOGYcSIESZ/HiKTTVC2czmQuJMdSkREZEcMit49+OCDuvtz587FI488gptvvlmVS3jrrbcadCwJsN5yyy3IzMxUgd8VK1aobFmZ8KykRHP5rru7e7Wfkcfabfrs0xAHDx6EtWhoW71dHJBbUoENO/5BpI/hkxrZAmt6nS0J+828/SYTOp5MPq/uF6UnYv/+ZKOO1wyaOuA7D8cioiIFlobnG/uN55vls9b36Zw5c7B+/Xr069cPwcHBiImJweeff45x48Y1eCxL1CTCB2luzx0GinIAN8v5wpWIiIgsLHA7e/Zs3f3IyEh8++23qmSBm5smq7MhpNSCTCgmrrnmGowdOxYff/yxCghLyQORnZ1d7WeysrLQrJlmsKLPPg3RvXt3ODk5wZJJ1on8o9TQtrbeth2Hks7DMygCvbq0gD0ytO/sHfvNMvpNMubzSs6pyaTHDu4DdxfjjtknOwa/nzqJIpfm6NWrBywFzzf2G883y9fU71Pt85nC9u3bsWPHDvzwww9o27atbr0Eb+UKMtk+ePBgkzwXkck0DwF8IoDsBODMPqANs8OJiIjsgcmulzckaFuTq6urysDV1syVy9akDu6xY8eqXbomjzt37qz3Pg0h/3xYS0CvoW2NDPRSgdvTWYVW8zs2Fmt6nS0J+828/ZaQqcmQDfXxgJe7q9HHiwrUfLkVn5Fvke8Hnm/sN55vls8a36eHDh3C+PHjqwVthTyW9bKdgVuy2HIJErhN2MXALRERkZ3QO3A7ffp0vQ+6fPnyS+4jGbo///wzJk2aBAdJHwOwb98+lU1xww03qMeyfuLEifjyyy9VKQY/Pz9s27ZN1cV96qmn9N6HNCL8NbPIJ2RwgjIiaxSbmmuSicm0Wgdq/iZw0kIisieenp66JIGakpOT0aZNmyZvE5FeIgYBh77iBGVERER2RO/ArdSv1ZKyBN999x06dOiAbt26qXUScD158qQKour1xM7O+Oeff7B48WJVbiEnJwenTp3CXXfdheuuu063n9TPlexZqTkWFRWFI0eOYNasWejfv3+D9iEgsjJwyyANkXWKTctTt20CTRO4jQzQHCcjrxjZBSXw8bDv2tdEZB+kRNfrr7+OhQsX4sYbb0RQUBBSU1Oxdu1abN26FfPnzzd3E4nqzrgVp/cA5eXsJSIiIjugd+C26iD2sccew8yZMzFjxoxq+yxbtgxxcXF6HU8uq3vhhRdULdoTJ07Aw8NDBV29vb2r7efl5YVVq1apwGx6ejratWunyiM0dB+6kHGbyIxbIqsUm1oZuA2q/nfSUN5uzgj0dlO1c+PT89Cjla9JjktEZMkkGUHGrM8//zzef/993fpWrVqp9aGhoWZtH1GdgrsCLl5A0Xkg9SgQ2ImdRUREZOMMqnErkzY8++yzF62fNm2aynptCKlPO2BA5bfH9ejUqZNJ9rFn4drAbWY+ysor4OSoKVFBRNYhrjLjNspEGbeaY3mqwO2p9HwGbonIbgwbNgzr169HbGwsUlJSEBwcrEokuLjwygOyYE7OQKt+QNyfmnIJDNwSERHZPEdDfqikpATR0dEXrZdSCbKNLFOorwecHR1QUlaB5POaSY6IyDqUlpWrrFhT1ritWi7hVGVQmIjIXkiQtmPHjhg6dKi6ZdCWrEL4QM1t4m5zt4SIiIgsNeNWJhSTGrIPPfQQunfvrqtxu2LFimr1acmySIZtKz8PlVknAaAwXw9zN4mI9HQmq0B96eLm7IhQH9O9d7XZu6cqg8JERPaisLAQiYmJau6GqqRUAsslkOUHbneZuyVERERkqYHbefPmwd/fH0uWLFE1arUlD+68807cd999pm4jmbhcggRufziQBAc4YECUP0smEFlRfVsJtDqasMxJZICmhAozbonIlp07d05l1Mr4VcjcCIsWLUJ+fv5F+8ocDjKXA5FFklIJcAAyYoHcFHO3hoiIiCwxcOvs7Izp06erJS0tTa0LDAw0ddvIxNYfOot98Znq/me7E9US4uOOZyd0wbhuIexvIgsWk5pr8jIJonVlqYT49IuDF0REtuLff//FK6+8ohY/Pz+VfCATke3atQsODg6YPHky1qxZg40bN+Kuu+4yd3OJ6ubhCwR3BlKOAKf3yHR77C0iIiIbZlCN26okYMugrXUEbR9a/Tfyi8uqrU/OLlTrZTsR2dfEZFUzbtPzinG+kDXKicg2jRkzBn369FEJB/v27cNVV12FIUOGwNXVVW0PDw/Hk08+idatW2Pz5s3mbi5R/cI1Ezs7nGadWyIiIlund8bt7Nmz1a1cVqa9XxfZhyxHWXkFnv/hCCpq2Sbr5KJr2T6mS0uWTSCy8FIJbQK9TXrcZu4uCPR2RVpuMeLT8tG9lY9Jj09EZAl+/vlnlJWVYcKECSrTNjg4WK338fHBiRMndPu1a9cOZ86cMWNLifSsc7vvYzhIndtAzi9CRERky/TOuPX09FRL1ft1LWRZdsdl4Gx2YZ3bJXgr22U/IrLwjFsTl0qoWi6BE5QRka3y8vJS5RJ+//13VFRc+Cq7c+fO+OOPPxATE6MmKpPtnJiMLFpWIuDWXHM/6W94ZhwGzh4AkvZrFtlORERE9pdx+/LLL9d6nyxfSk6hSfcjoqaVV1SK5POa92cbE5dKEJEBXtgbn8kJyojIZg0fPhyff/45SktLUVh4YbzTr18/DBo0COPHj1eP+/fvj7Fjx5qxpUT1kKDssr5AaZF66FBeis7bZgLbquzj7AbM2Af4hrMriYiI7HVyMrIuwc3cTbofEZkn29bfyxW+npp6jKYUFai5UuIUJygjIhumLY9QM6N24cKFePTRR1FUVISoqCg4Oho9BQRR48hP1wVt6yTbZT8GbomIiOwrcDt9+nS9D7p8+XJD20ONYECUP0J83NVEZLXVuZUaty193NV+RGR5YisDt42RbavNuBXx6ZrnISKyddnZ2XBycoK3t6Zu+MGDB3H69GmVeRsWFmbu5hERERERKXqnFMggVrvIIHfTpk2qFphM6iBLQkKCWqcdAJPlcHJ0wLMTuuiCtLWR7bIfEVmeOO3EZI1Q31awxi0R2ZP8/HzcfvvtyMrKUo+//PJLzJs3D9988w1uueUWtZ2IiIiIyKoybufPn6+7/9hjj2HmzJmYMWNGtX1klt64uDjTtpBMYly3EKyY2gfP/3DkoonKHruyg9pORJYpNi1X3UYFNs4XY5GVpRLScouRU1iCZu4ujfI8RESWQCYj69ChA1q1aqUef/XVV3jppZcwYcIE3HXXXSoRQe4TEREREZmbQUW8tm/fjmnTpl20Xtbt2LHDFO2iRiDB2b+eHIXP7huEt2/phVGdgtT6HbHp7G8iCxbbyBm3zd1dEOClqZ0bzzq3RGTjzpw5gxYtWqj7ubm5OHr0KEaOHKked+3aFcnJyWZuIZGR4rYA5eXsRiIiInsN3JaUlCA6Ovqi9SdPnlTbyHJJOYTL2gZgYq8wvDCxG1ycHLAtOh07GbwlskgVFRW6yckaq8ataF157FOsc0tENi48PFwlIUhJhHXr1qlgrbbUl5T+ku1EVm3DM8A7/YG/V116MjMiIiKyvcDtpEmTMGvWLHz66af4999/1SL3H3nkEVx33XWmbyU1ilZ+nri5v+afk7c2nFABIiKyLKk5RcgtKoWUoI4I0JQ0aAyRlcdmxi0R2brRo0fDwcEBffv2xauvvor7779frU9JScHx48cxfPhwczeRyDiu3kB6NPD9TODtnsC2JUDhefYqERGRLde4rUomcPD398eSJUt0Ezv4+vrizjvvxH333WfqNlIjenhkO3yx5zR2x2VgR0w6BrcLZH8TWZDYymxb+aLFzdmp0Z5HO0GZNruXiMhWubq6Yu3atTh27BiCgoLQsmVLtb6oqAhvv/02PDw8zN1Eotp5BgDObvVn0cr2ezcB0RuAHcuBnCRNBu6WhcCAe4GBDwLewexhIiIiWw7cOjs7Y/r06WpJS0tT6wIDGfCzRiE+HpgyMAIfbz+lsm6ljIJkoRCRfdS3rVkqIZ6lEojIxv3888/qdvz48dXWs0QCWTzfcGDGPiBfMz9FWXm5yhLv2LEjnBwdLwR3Zb/gTsCAB4CDXwB/LQbSTwJb3wS2LwN6TwUGzwT8o8z7+xAREVHjlEqoSgK2DNpat4dGtIWbsyP2xmdi60lNIJ6ILENcWq66jWrE+raidWWphLi0/EZ9HiIic0tKSsLhw4fN3Qwiw0hQNrSXZgnpiQLfDupWt062azm7aoK0D+8Gbl4NhPUFyoqAvR8CS/sAX90NnP2XrwQREZGtZdwWFhZi1apV+Pvvv5GdnX3R9s8++8wUbaMm0qK5O6YOisSHf8WprNuh7QOZdUtkcRm3molzGktkZamEtFxNTV1vN4M+HoiILN6AAQPwzDPP4NFHH4WLi4u5m0PU+CQbt/MEoNM1wKm/gG2LgeiNwKGvNUvb0cDljwKthwK88o6IiMiiGPSf+XPPPYdt27Zh7NixaiZesn4PDm+LT3fFY39iFjYfT8XITqx9RWQJtDVn2zZyxq2Phwv8vVyRkVeMU2l56Bbm06jPR0RkLqWlpWqZOHEiRo0aBT8/v2rbe/fujT59+pitfUSNRoKyUUM1i2TabnsbOPwNELNJs0hG7pBHNQFebekFIiIisr7A7aZNm7BmzRq0b9/e9C0iswhq5oZpl7XGe1tisWjjCYzoGMSsWyIzKykrR0KGpnRBVCPXuNWWS5DAbXx6PgO3RGSzpCaozNcgtm7detF2T09PBm7J9oX0ACZ/CIx6GtixDPhnNXBmH/DF7UBAe2DILKDHzZrJzoiIiMi6Arfu7u4ICQkxfWvIrB4Y1gard8bj39PZ2HQ0BVd0acFXhMiMEjPyUVpeAQ8XJ7Rs7t7oz9c6wAt/J2ThFCcoIyIbduutt6qFiKCZoOzqN4Hh84BdK4E972smMvt+JvDHK8Cg6UDfOwH35kBWom5itFppJ0YjIiIi8wZuR44ciXXr1uH22283XUvI7AK83XDH4NZYsTlG1bod3TmYWbdEFlDfViYmc2iCmnPaOrdSKoGIiIjsiHcQMPoZTa3bfR8DO94Bcs4CG54Bti4Eut8E/L1KM7lZXSQ7d8Y+Bm+JiIjMHbiVCcleeukl/Prrr4iIiLgooPDyyy+bqn3UxO4f2gartp/CkbPn8evhcxjXrSVfAyIziU3LVbdtmqBMgmgd6KlupVQCEZEty83Nxfvvv49///0X48aNw80334xjx47h9OnTuOKKK8zdPCLzcWsGDJ4JDLgf+PcLTR1cycCVTNxLKS3SZOQy65aIiMhkDKo67+joiPHjxyMoKAgFBQXIz8+vtpD18vNyxd2XR6n7izeeQHl5hbmbRAR7n5isTSNPTFa1VIJ6XpZKICIbVlJSgilTpmDPnj0oLi5GSkqKWi/JCG+88QYyMjLM3UQi85Ps2T63Aw/vBm5eDQR1NneLiIiI7JJBGbeLFi0yfUvIYtx7eRt8vO0UjiXn4JdDybi6B+sZE5lDTGWphDZB3k0auE3NKUJeUSm83Az6iCCyG2XlFdgdl4GUnEIEN3PHgCh/ODk2flkTMs4ff/wBDw8PfPrpp3jnnXdQUVGhm5SsR48eahLeG2+8Ue/jSdKCZOvKz3fs2FGv0jalpaXYv3+/mjeiW7duJjsukck5OgKdJwA+rYD3RrCDiYiImhj/K6eL+Hi64J6hUVi88aTKupVyCfxHlMh8GbdS47ap3vt+ni7IzC9R5RK6hDZvkuclskbrD53F8z8cwdnsQt26EB93PDuhC8Z14xeeluzUqVPo169frYHQgICABmXcbty4EfPmzUOLFi2QlZUFf39/vPfee3VO4ivZvitXrsQ333yjArMdOnTA//73P6OPS9T49PziYM+HwMAHgBZdAX7ZQEREZJ5SCUJKJOzYsUMNPL/88stqC1k/KZfQ3N0ZJ1Ny8eO/SeZuDpHdySksUZmvIqqJatxWm6CM5RKI6g3aPrT672pBW5GcXajWy3ayXBIETUhIUPerBm/Ly8uxe/duhIaG6nWc9PR0PP7447j//vvx008/qUzeZs2aYf78+XX+TFGR5u/6Z599VmctXUOOS2Qx/lkFrBwCLOsHbHoRSD4IVGa1ExERURNl3MplWw888IDKFDh//jwCAwORlpamtslgtyGXl5Flau7ugvuHtcHC307g7Y0ncXX3EDg7GRznJyIDs20Dvd3U+7GpSHbv/sQsBm6J6imPIJm2tYUhZJ2EAWX7mC68WsVSScB04cKFWL16tZqkzNXVFUePHlWZsMnJyRg5cqRex1m/fr26veOOO9StHOfuu+/Gww8/jHPnzqls2Zq8vb0xc+ZMkx+XyGJEXg6c3gOkRwNbF2oW/7ZAl4lA10lAyx7MxCUiImrswO2CBQswceJEzJkzR9Xc2rZtG86cOaOyA4YMGWLIIckC3TkkCh/8FYfYtDx8fyAJ1/dpZe4mEdmNWF1926bLthWRAZ7q9lRl4JiIqpOatjUzbWsGb2W77HdZ2wB2nwXy9fVVQVoZt2ozb+Vxq1at1K0EV/Uhwd42bdrAzc1Nt65r1666JAdDA6ymPG5ZWRmsgbad1tJeu+y38nI46bFb2ZgXAf8oOJz4DQ5HvwdiNsIhIwb46y21VPhFoaLzRFR0uRZo2dMsQVyeb+w3nm/Wge9V9pstn29lDXgegwK3hw8fxttvv627xExm5A0LC8PLL7+Mu+66S2UEkPXzdnPGA8Pa4rX1x/D2ppO4tmcos26Jmoh8YSLaNnHgVltP91R6fpM+L5G1kInITLkfmUevXr3w66+/qiBpamqqKp/QpUsXODvrPzSWq84kCFyV9nF2drbBbTPlcQ8ePAhrYm3ttad+c8k/h26OrnAsL65zn3JHVxyOS0bJOfkKqx3QYQ4c2zwIn3M74Zf0J3xSdsExMw4O2xcD2xejyDMEmSHDkRk6HPk+HZo8iMvzjf3G88068L3KfrP3882gwG1OTo5uACkDXblsKzw8HEFBQaouF9mOaZdF4v2tsWqiom/+OYOb+oWbu0lEdiE2NbdJJyarWeM2njVuiWoV3MzdpPuR+Tg6OqpM1tLS0gYFbLVcXFxQWFh40RwQ2m2GMuVxu3fvDicnffIkzUuyTuQfJWtpr732W0XXvSjLr+d/Pc8AdPWp7Qq9wQDmoKI4F+UnN8Dh6HfAyQ1wyz+LljGfq6XCNwIVna9V2bgI7VN7EDf7NHCJ50etz18dzzfDsN/Yb02N5xz7zZbPt7LK52u0wG1Vffv2Vdm3U6dOxbp169C+fXtjD0kWxMvNGQ8Ob4NXfj6Gpb+fxHW9w+DCWrdETVcqIVC/S3ZNpXVlqYRz54uQX1wKT1ejPyaIbMqAKH+E+Lirichqq3MroYaWPu5qP7Jcp0+fxtKlS7F161aVdBAQEIBhw4ap+rNyFZk+ZL/9+/dXWyfJDNpthjLlceUfD2sKhFpbe+2u3/wjNYuhPHyAHpM1S3EecPI34Mh3wIlf4ZCVAIcdywBZfCIAKaXQZRLQqp8miJuVCCzvD5RqJvirlbMbMGMf4KtfognPN8Ow39hvTY3nHPvN3s83g2abevDBB3X3586di+joaNx8881q8Pt///d/pmwfWYDbB7VWEyQlZhTg632nzd0cIptXUVGhm5wsqolLJfh6usLXU5PRJZn2RFSdk6MDnp3QpdagrZZsl/3IMmVkZKhxq9S3nT17Nt599111Gx8fr9bLdn3IvA4SAJa6s1obNmyAn5+fKrsgpJzY9u3bG3RFmj7HJbJ6rl5A1+uAGz8GHo8BbloFdL0ecPECshM0AdwPrwAWdQPW/weI21J/0FbI9voycomIiKyQQalUMrjVioyMxLfffouioqJqkyiQ7fBwdcJDI9rixR+PYOnv0WqSMldng2L+RKSH5POFKCgpU4GfCH9NBmxTl0vIys9SE5R1Dmne5M9PZOnGdQvB5L6t8FWNLzObuzvj9ck91HayXL/88osq8bV69epqGRXXX389pkyZgvXr16vbSxk4cCBGjBiBRx55BNOnT0dKSgree+89PPvss7rSCxIElvkf5Oq0cePGqXX79u1T42bZX2rWSmBXDB48WO/jEtkUV0+gy0TNUlIARG8EDn8LnFgPnD8N7HzH3C0kIiIyG5ON/hi0tW23DYzAu3/G4ExWAb7Ym4ipg4y4TIqI6hVXWSZBgrbmKE0SFeCJA4lZnKCMqB7ZBSXq9tYB4SgsKce6f86gU8tmDNpaAakp1rNnz4sug5PHMmlZQ2b5lXIL//vf/1Qw2MPDA0uWLMGoUaN0211dXXHZZZchMDBQt+6zzz5DWlqabq4ICcpWDdzqc1wim+XiAXSeoFlUEHeTppzC0R+BUl4JRERE9segwO2ff/6pshEWLFhQbf1TTz2Fq666StUII9vi7uKEh0e2w7PfH8Y7f0SrTCNZR0SmF1NZJqFNE09MpsUJyojqV15egd1xmsvpb+4fgQAvVxW43ZeQhcy8Yvh5ubILLVjv3r1V8FTq2Xp7X6gjnpubiy1btuD111/X+1gSmL3nnnvUUhsJzH788cfV1i1cuNDo4xLZTxD3Gs2SsBv4aMylf2bLG0D7K4GwvkBQJ8CJWepERGTdDPoke/PNN/HGG29ctP6OO+5QwVsGbm3Tzf3DsfLPGJzNLsTaPYm4Y3BrczeJyKYzbqPMFLjVPq+2zi4RVXc0+bzKuPV2c0a30OZwdnJU2bbHknPwx/EUVVKILFdJSQkcHBxU6YKxY8eqbFjJgP3111/RvHlz7N69Wy3aIG+fPn3M3WQictbzC7FjP2oW4eIJhPTUBHHD+gChfQA//v9CRER2ELiNi4urdVZbWRcTE2OKdpEFZ90+/e0hlXUrgVxm3RKZXmxarrptE3QhE6wpRQZo6upycjKi2u2I0Ux+07+1nwraijFdWqjA7YYj5xi4tXDHjx+Hi4sLAgICsHfvXt16eSy+//573TpPT08GbomsSa8pQPZp4Mw/QHEOkLBDs2h5+MMxrA9CHEMBr/FAeH/A60IpkzplJdY/8ZlnAOAbbprfgYiIyNjArUzoIJeSjR8//qISCqGhoYYckqzETf3CsWKzptbtp7sScM/lUeZuEpHN0Wa6tgkyT8Zt6wCvC5OkFZepCQqJ6IKdsZoyCYPaaAJ94orOLdQEnn+eSEVhSRm/2LRgt956q1qIyAYNeAAI7SU1bYD0k8CZv4Ez+zRL8kGgIAMO0Ruh/mM9sUrzM74RlVm5fTVZuZKl6+ZdPWi7rC9QWlT38zq7ATP2MXhLRESWEbidNm0annnmGSQkJKBfv35q3Z49e/D+++/jiSeeMHUbyYK4Ojti5qh2mPfNQazYHK0mZfF0Ze0oIlMpKi1DYka+WWvcSn1OHw8XdSl4fEYeOrVsbpZ2EFmiMlXfNv2iwG33MB+0aO6Gc+eLsCM2HSM7BpuxlXQp2dnZajIybY1bmQTs9OnTKimhtqvKiMjMJKNVgqOXCp7KfsLREQjqqFl6VX5RIz977hDKE/ci89BG+BfEwUGCu1kJmuXwOs1+DvKznTXlFWRx9a7/ebXHloxcZt0SEZGJGRRxu+WWW1BYWIiVK1di0aJFap2fnx9mzZqltpFtu6FvK7yzORqJGQVYvTMe9w9ra+4mEdmMhPR8lFdA1c4MauZmtna0DvDEgdPZOJXGwC1RVUfPnsf5wlL1Hu0aeuFLDUdHB5V1K1ejSLkEBm4tV35+Pm6//XYsX75cBW6//PJLvPTSS+qqsVWrVqlat1IigYgsiAREJaPVmHIFEtgN64uKlr1wyqUffHv1glNJLpC0/0JWrmTo5iQBKYc1yz//g9mZs0xD1ecuL4dH1gngrIMmMN7Yz01ERIrBqZJ33nmnyrw9e/asmuChZcuWcNT+ASeb5uIkWbft8cRX/+LdP2Nx28BIeLkx65bIFGIryyTIBGHyt9VcWgd6aQK36ZrsXyLS2Bl7cX1bLalzK4HbjUfO4aWJ3VQwlyzPH3/8gQ4dOqBVK80kcl999ZUK3E6YMAF33XUXNm3apO4TkYWRAKGpg4TuPkCb4ZpF6/xZIKlKiYXEvYAEeC9lw7NAiy5AsxCgeahm0d6XoLEhzFmmocZzS+GsLnJnaxM8NxER6RgVbZNArbGXk5WXl6uSC3K5mmQ6yG1tzp07h4yMDERERMDLy8vgfcg0ru8dpiYok8mLVu2Ix0MjmHVLZAqxqeatb6sVWVnnNj5d0x4iqru+rdZlbQPg5eqElJwi/HsmG73CfdltFujMmTNo0aKFup+bm4ujR49i5MiR6nHXrl2RnJxs5hYSkVk1l2Dr1UCnqzWPZaKz90dc+ufiNmuW2khmarPKYK4cv7b7EkSu+aW9ZLuaq0yDOZ+biIh0zJom+d5776lL0iTIKqUXJBD83HPPYfjwC994FhcXq7q5v//+u8rqTUlJUY+nTJnSoH3ItCTL6JHR7THniwN4d0sMpg6KQDN3F3YzkZHi0nJ1GbfmJKUSNO1h4JboUvVttdycnTC8YxB+PpiMDUeSGbi1UDLJrtS0lZIJ69atU8Faba1bSSaoOfkuEdk5fa+AumymZt+cs8D5JM0i90sLNcFNWc4drPvnXTwvztatKDfZr0FERNbJbIHbsrIynD9/Ht9//z38/f1RUVGBt99+G48++ig2bNiAwMBAtd8777yDffv2qXWSHSF1xx555BF069YNPXr00HsfMr1re4Zi2R/RKkPwk+2nMGNUe3YzkckybqvMZmymUglCsuqJqP76tjXLJUjgduORFDw+thO7zgKNHj1aTajbt29flTSwbNkytV6++D9+/Dhee+01czeRiKxR98lAaK/q6yoqgILMC0FcXUBXbs9euC/7lOQDGTGapaE+nQw4u2sCxzK5moNT5W3NRerT1rWtxlKkR3kIIiKy3cCtlESYO3eu7rHUcrztttuwYsUKHD58WJd1+/XXX+Omm27SXdI2duxYtGvXTq3XBmX12YcaL+v2kc/3470tsZg2uDWaM+uWyCjaDNc2Zs+41Tz/2exCFBSXwcO19jI2RPakvvq2WjIpmZOjA46fy1GTDUZUZq+T5XB1dcXatWtx7NgxBAUFqau1RFFRkUoi8PDwMHcTichWSKDU01+ztOxW934lBVUCu2crA7tJwLkjwKktl36evFSYTUYcENJT/8xkIiJqEIuaUerIkSPqVjtZhNSsTU1NRffu3avtJ8FYqUem7z7UeK7pEYplv0fjZEouPvorDo9e0YHdTWSg7PwSpOcVW0SpBD9PFzR3d1bZhQkZ+ejYsplZ20Nk6fVttXw9XTGgtT92xKbjtyPJuHdomyZsIenLxcXlorGjlFAgIqq1Pq1MwnWpCcJkP0O5eAD+bTRLVUn7gfeqTJxWl+vfBwLaajJ8pbxCzaW8rPJ+bdu122psl4Dsn69e+rm/uhPYEA50GAt0GAe0Hgq4uBveF0REZHzgViYUW7NmjZqFNzExUZUpEG+88QZuv/12XeZCQ2RmZuKFF15Q2bJt22omusrOzla3Pj4+1fb19fVFVlaW3vs0tISDpdO20VLaOmtUO8z8fD8+2BqHaYMi4ONhubVuLa3vrAX7rWn6LTrlvLpt0cwN7s4OZj9PIwM8cfDMecSm5qBdUNNlDfJ8Y781JX3Pt6r1bQe09qt3/9Gdg1TgVurc3jU4Eraoqd+nxj7Prl27sHv3bgwYMEA9lvt1kX0GDhxo1PMRkQ2Ribdm7NPUqK2LBG3NOUFXYIeLyzQYS4LG+gRunVyB7ERgzweaRWr1thmhCeS2H6uZgI2IiJo2cPvJJ5/gf//7H+655x4VbNVq06YNli9fXm2dPmRG3/vvvx9+fn545ZVXLjTO2Vk3+VhVcimbdps++zTEwYP1FIy3MJbS1pYVFYjwcUZCdile+Xonbu1m+Zl5ltJ31ob91rj9tvlUgboNcq/A/v37YW7NHTV/V7cfjEZw8dkmf36eb+w3SzrfYjNLVAa6p7MDSlJisT+t7ktCQytK1e2euExs3fU3mrnVXlbBFljL+1QSDbZv346QEE0AQe7XRfZh4JaIqpGgrDkDs5bsjh+AgizgxHrgxK+aMg/Hf9YsQsooSCauBHFDewOOtvuZSERkMYHbzz//HIsXL1blCKoGaYcMGYKFCxc2KHArQdt7771XZVJ8/PHHull9tQNnmTRCJouoSh6HhobqvU9DyGVzUn/XkklfyT9KltTWea7nMH3NP/glphDzrh8IP09XWCJL7DtrwH5rmn7bmHJCriNAj6gW6NWrK8ytd9pJbEuMQYmbD3r1qqcum4nxfGO/NSV9z7d9f8UBSMfAtoHo26f3JY/bcd9fOH4uF2muLTC0VxhsTVO/T7XPZ6jJkyerpepjIiKL1xRlGox97uZhQMQgoOM4TamF5IPAyV81QdzTe4GzBzTLn68BXsFA+ys12bhtRwJulp/wQ0RklYHbM2fOoEOHDrpJxbTc3d1VILahQVvJlv3vf/+L5s2rz9Ask0P07NkTf/zxB6699lq1rqCgQGVJTJ8+Xe99GkL++bCWgJ4ltfWq7iHoGhqDw0nn8eG2eDw5zrJn0rakvrMm7LfG7bf4jHx12ybI2yLOz6hAzRdp8ekFZmkPzzf2myWdb7tPZarby9oG6PV+uLJrSxw/F41Nx1IxuV8EbBXfp0RENlqmocZzl5WX4/jx4+jYsSOctFmzNZ9bYgMhPTTLsMeB3FQgeoMmGzf6dyAvBdi/WrM4ugCtL9dk43a48uL6viIr0bJLVBARWWrgNiwsDIcOHUK/fv2qBW5/++03VS5BHyUlJXjggQeQkJCAV199FXFxksmiERERAX9/f3X/0UcfVSUZJMO3d+/eWLVqlapne/PNN+v212cfalxyHsy+ogPuXbUXn2w/hXsvj0KAtxu7nagBYlPz1G3boAtXHphT68oJ0uLTNe0iyyX1V3fGpmNPQgEKm6djUNsgODlydmdT9u+uuEtPTFbVmC4tsPT3aPx5IhWFJWVwdzH/lzH2TL7Qr688QlWDBw9WCxER7L1MQ9XnLitDwbkKTekDfb/Q9w4Cek3RLKXFQMJ2TSauBHIzYoHYPzTL+ieBwI6aAK4EcsMHAjnJwLK+l874leAyg7dEZMMMCtzeddddePLJJzFnzhzdBA9bt25VtW/1LZNQWFiogretWrXCsmXLqm2TgO7o0aPV/UGDBqkSCqtXr8bevXtVpq/Uwa1aUkGffajxje4cjB6tfPDv6Wy8tyUWT43vzG4n0lN5eQXi0jQB0qjKgKm5tQ7QTEiWlF3IwJMFW3/oLJ7/4QjOZhdqVuzagxAfdzw7oQvGdeOEIKZw9Ox55BSWopmbM7qEVL86qC7dw3zQorkbzp0vwo6YdIzsFGyStpBhUlNTcfToUd3j6OhoJCcnIyoqCkFBQWq7JBHIBLvt27dnNxMRmZqzq2bSMlnGLQDSoivr4q4HEnYAacc1y/algLsPEHaJoK2Q7ZKRy8AtEdkwgwK3t9xyiwq6SnC0vLwct99+u5pY7IknnsCkSZP0OkazZs3wxRdf6LVv//791WLsPtQ0Wbd3fbwHn+w4hXuHtkFQM2bdEukjKbsARaXlcHFyQCs/D4voNH8vVxWoyikqRUJGPjq0YB0ySwzaPrT6b1TUWJ+cXajWr5jah8FbE5BsZtE/yh/OTo56fyZe0bkFPt2VgA1HzzFwa2YTJ05Ui0hKSsKUKVOwZs0a9O3bV7ePfPk/d+5cjieJiJpCYDsgcAYweIZmcrOY3zXZuCd/AwoyNI+JiAgGT+kowdq//voLmzdvxu+//64uP5s6dSq71M6N6BiEXuG+KCwpx8o/Y8zdHCKroc22jfD31Dsw1Ngk8KQtl3Cqsn1kWZfvS6ZtzaCt0K6T7bIfmSZwO6iNpoyTvqRcgth45JzKqifLsG3bNowcObJa0FZICbARI0boXVKBiIhMxMMX6HY9cP27wOPRwD0bgN6MLRARCUdj/6kPCQlRNW8dtQXKya7JOTFnjGbiutU743HufOWlu0SkV31bmZjMkkRWlks4xTq3Fmd3XMaF8gi1kDChbJf9qGnr22rJRGbebs5IySnCv2ey+TJYiOzsbGRmaiabq0nWZ2VlNXmbiIiokqMTED4A6H+ffl3y2zPAP59qJkIjIrLnUgnTp0/X+6DLly83tD1kA4a2D0S/SD/sjc/Eis0xeO7aruZuEpHVZNy2sZD6tlraerun0vPN3RSqISWn0KT7kenq22q5OTtheIcg/HTwLDYcSVZXpJD5DRs2DIsWLcLSpUtx/fXX62rcfvPNN9i0aRNmzpxp7iYSEZG+Tm3RLHAAWvUHOowFOl4FBHeRrCL2IxFZPb3TZCWrVrvIpF8ysE1MTISPj49aEhIS1DpOCEZVs27X7ErA2ewCdgrRJcSk5qrbNkGWFbiNDNC0J54ZtxYnuJm7Sfcj09W3ra1cwoYj59jFFkImsV28eDHWrVuHUaNGoXv37upWHsv6du3ambuJRESkrz53AC17aK41Or0b+P1FYMVgYHEP4Ke5wMmNQAm/xCYiO8i4nT9/vu7+Y489prIRZsyYUW2fZcuWqRl5ieTy0IFR/ury0nf+iMZLk7qzU4issFRCVGBlqYQ0ZtxamgFR/gjxcVcTkdVWPVVyTFr6uKv9qOnr21at/e7k6IAT53LVFyDaL0PIvMaMGaPq2cbExKhsW8m6bdu2LVxcXPjSEBFZk353A6G9gPNJwIn1mgnOYjcD2QnAnvc1i4sX0HYk0GGcJiPXO9jcrSaqLisRyNeMOWvlGQD4hrPX7JTegduqZNKGZ5999qL106ZNw7hx40zRLrKBrNvZYzrglvd2Yu2eRDw4vC1a+WkCQERUXWFJGZIqM9O1pQkshTbIJO2Tdrq7OJm7SVRJgoHPTuiCh1b/XWefyHbZj5q+vq2Wr6crBrT2x47YdJV1e+/QNnw5zOD8+fNo3rx6qQsJ0nbq1EkttdXBlSvKiIjITCRQ5ewGlBbVvY9sl/1E81BNEFeW4nwgbgtw4hdNIDfnLHDsR80iwvoCHa4COo4DWnSrvaQCA2nUVORcW9b30uf6jH0M3topgwK3JSUliI6ORp8+faqtP3nypNpGpP0nd0i7AGyLTldZtwuul0tYiKgmmfirogJo7u6MAC9Xi+ogaY9MrpRbVIrEjHy0b9HM3E2iKsZ1C8HDI9ti2R8x1frF1ckRS27tpbaT4Y4kXahv2zXU8CCelEtg4Na8PvvsM+zatQv33nsvLrvsMvUFc01lZWXYtm0bPvroI7XPAw88YJa2EhGRfPMZrglUGZKF6OqpCcrKIoPsswc02bjHfwHO7gfO7NMsf7wENG+lycKVbNyoYYCLOwNp1LTkHK8vaCtku+zHrFu7ZFDgdtKkSZg1axYeeughVRdMHDx4ECtWrMB1111n6jaSFZt9RQdsi96BL/eexkPD2yGicoZ6IrogrrJMQlSQd63BBHOS9rQO9MShM+fVBGUM3FqezHzNF6ajOgYhyqMQH+7PQXFZObqFMVvQVGUSpNyEMZnLErh94ccj2HMqA5l5xfCzsC9o7IEEbGUehscff1z9Xevbty8iIyPVutzcXFXqa9++fXB0dFTj21tuucXcTSYiIglSGRuo+v/2zgM6qmr94ptUagKBhNB77x2lqoDYC1gQG3afvaJ/e9fns4GKWFAUUZ/iw45IUXrv0nsNKfSSPv+1z+TGSZhJJiHJzNzZv7VmTbv3zpkz99757j7f2R9ja1op8Nb/MeDIPmDT785M3C0zgSO7gSWfOG/hFYHG/YG4NhLShBCBLdw+9thjiImJwahRo3Do0CHzWtWqVXHjjTfi1ltvLek2igCma8MY9GlWA7M3JWP0jE14/YoOvm6SEH7H1mSncNvEz2wSXO0SjHCb007hP2RnO3KLXg3vUR9VT+7BuqMRmLclBd8v24N7z2nm6ybaxN+2eDYJFvViKqJlfBWsTziKGesTMaRL3RJqofCW0NBQDB8+HFdccQWmTZuG2bNnG+svy0KhWbNmePLJJzFgwABEREhYF0II2xJVC+hyo/OWcTLHUoHZuFOAo3uBDb86b0IIEcjCbVhYGP71r3+ZW3JysnmtRo0aJd02YRPodUvhdtKy3TizSXWEhJQzVc5PN4NJCLsVJvM3f1uLRjk+t7R0EP7Fqj2HkXg0DZUiQk1RyHVr9mBI5zpGuP1u6W7cc3ZTv8viDiR/20Wn6W+bP+uWwu20dfsl3PoQirLnn3++uQkhhAhywivk2CScC1zwJpCwypmJu3oSkLze160TwcLB7b5ugbCjcOuKBFtRGJ3rV0Pb2lFYs/cIHvjvytzXWQ2dhXPkwSiCna3Jx8x949jK8Eca5Fic7Eg54eumiHz8sTbB3PdvEYfIsBDzeFDrOONLvPPACSzeftAMkoli+tumOf1tW9fOW9SquMLt6Bmb8dfGJBX6E0IIIfwNDnTX6uC8NRsEfNjP1y0SdmfvcmD2G8C6n3zdEuHnOK/yhChFpqzZZ0Tb/CQcTjXV0Pm+EMHMtmT/zrhtmNMuq53Cf7BsEigKWlSMCMMF7ZxFyb5dsstnbQt0Ssrf1qJdnWjER5XHifQszN9SQKEVIYQQQgQG80YpW1IUnR3zgC8uBz7sXzTR9q9XgTRnwo8ILiTcilKfavrcT2vdvufIuef7XE6IYOTA8XQcyiku5bfCbY5Vwt7DJ5GWmeXr5ogc6Dm8cf8xIyqe1SIuT78M7er0UP1l9T4cT8tUn/nQ39aClhUDWjt/p6k5grsQQgghApg1k4BRnYBvRzizJ4XwhMMBbJoGjBsMfHoesGU6UC4UaH81cMV47/ptw2/A2L7AnmXq5yBDwq0oVegPuO9wqsf3KdfyfctHUIhgY2uSc9S0TtUKqBARCn+kRuUI46HKeGPXAdkl+Fu2bc/GMYiuGJ7nva4NqhmLC2Z3TlnjtFMQvvO3tRjYOt7c0+eWheWEEEIIEcDU6Qo4soG/v3dmT352IbBxKqvH+rplwl/gvrD2R+f+8eUQYOd8IDQC6DICuGcpcPlYoE4XICyy4O2EhgOVawIHtgCfDATmvKX9LIg4bY9bIQoi8WhqiS4nhN3Y6uc2CVamIO0S/t57BNuTT6BpXBVfN0m42iS0+scmwfU3G9q5Lt74Y6MpUjakizMDV/jG39aCIjv9h5OOppnCch3rVdVPIoQQQvgbFas7hbTMNM/L8P0rPgNSDwHzRjuzb7fPdt5iWwJn3gO0uwIoJ8klKMnKcO4Ts98Ekjc4XwuvCHS9CTjjLiCq9j/LVq0H3L0UOJFS8D4ZWRn46T5g7Q/AtGeBLTOAy8bm3ZawJUU6iyQkJOCFF17AggULzPMePXrg6aefRnx8PG688UZ89tlnpdVOEaDEVSlfossJYTe2JjmF28ax/ivcWnYJRrhNkc+tv1hsLNnhzAgd4OJv68rlXerizWkbMX9rismUrhfjLDInyt7f1iIyLBT9mscaCwsWlpNw61tSU1Oxa9cuHD58OM/rtWvXNjchhBBBirdCGpdDPeDyD4FzngYWjAGWjgeS1gM/3AVMfwHlut+G0IiuZdl64UsyUoEVXwJz3wYO7XS+FhkN9LgN6HEnUMnDTC7uS2Z/KgTaKiyfAPw2Etg2CxhzJnDxaKDVRSX7PUTgCrdPPPEE6tevj59+choojxkzxrz2ySefYP78+aXVRhHA8KK3VnR5U4jM06RQvq+q5yJY2ZZ8zO8zbgmn3RMJt/7BdE61dwCta0WhbjX3giztN3o1qYE5m5Px/bI9uG9AszJvZ6BS0v62rrCQnFO43Y9Hzm1Z4tsX3vH555/jrbfewokTp9q/3H333bjnnnvUlUIIEcx4K6RZRNcFzn0J6PcosPQzYMEHwNG9CJnxPNqFVkC5gzcCZ/wLqFq/NFstfAWLhvF3Z/b1sRybsoo1nNm13W4BypfQDK5y5YDO1wENzgQm3ez0Vv7mWqDLjcC5LwMR/n1NKcrA43bZsmV46KGHcjMRRo4caV4TwhPMVHrmotbmsaecpXvOblqiGU1CBGbGbWX4M7RKIDtS5HHrD1jFrSgCFsTQHIuE75btkqeql2RmZZeKv60FC8nxP4+F5XYog90nrF+/HqNGjcK7776L22+/HXfccQemTZuGm266ySQojBgxwjcNE0IIEfiUjwZ63QfctxK49AM44lojNOskQhaOAd7pCEy6Bdi30tetFCXFyYPAX/8G3m4HTH3CKdpG1QEGvwbcvxro82DJibauVG8C3DQV6HW/U2mhaDy2n/Ytm1Ik4bZu3bomsLX4/fffTYArREEMblsLY67tjPjovHYI4aFOsXbyir2mEIwQwQb3e0sIbVzD/60SyLYcT17hO06mZ2H2piTzeFCbgoXbc9vEG0/VXQdOYtF2FYH0hrX7cvxty5esv60FC8n1aBSTx6dYlC1Lly7Feeedh169eiEiIsK8Vq9ePZOQ0LBhQ/z555/6SYQQQpweYRFAx2HIvm02NvV4DY5G/QBHFrD6W2BsX2D8xcDmaTDVf0XgcSwR+OMZ4K12wMyXgJMHgJjGTtuCe1cAPe8AIiqW/j428Dng+h+AKrWAlE3AR+eg3Px3nUXzRHBaJTzzzDO4//77MXr0aPM8LS3NZCwQK/AVwpN4y2razGJiITJ62sZVicTF784xr703czPuPUfTeEVwsefgSaRnZSMiLAS1q1aAP9OwhjPw2HvoJNIys4xXp/ANtD5Izcg2Vgi0SiiIChGhuLB9LXy9eJcpUlYaGaR2tUmguFpas0EGtKqJeVtSjHB7S5/GpfIZwjMHDx5EXFyceRwdHY2NGzfmvte0aVPs2bNH3SeEEKJkKFcOR+K6IXvQrQhNXJNTyOx7YNtfzltcG2chs7ZDnEIcObTLS39dUaJ40++0Kpg7Clg2HsjMKbAe1xro8xDQ+lIg1AfF6Br3A+6cB/x4D7D+Z4RMexrNanQBmn4OVFWBYjtQpL2qa9eumD59OjZv3pwb3EZGRprHq1evLp0WCtvAC+AzmuQVDZ6/pC0e+nYl3pm+Cb2aVkeXBs4sJCGCga05/rYNq1f0e7uQ2MqRqBQRiuPpWdh98CSa+Lm1g51hUSvLJqEcg8dCoF0ChdtfV+/Dcxe3QaVIVTcuiAVbS88mwYK/3fM/r8Xi7Qdw8Hg6qlXS4HdZ4nDJbmrVqhXGjh2LLVu2mCSEGTNmGI9bIYQQosSp1QEY8jFwzjPOQmYU/xL/BibfAUx/3pml2XQg8FF/IDPN83bCIp3F0yTelqxo+26Xgvu9HCeshwCOTOfzOl2APg8DzQcDIUWazF7yVIwBrppgLBMcUx5HVPJSOMb2AS55D2h5vm/bJk6bIu9dFGrbtGljbpZoK0RxubxzHVzSsbaZMn7vVytwJDVDnSmCz9+2hv+LoBQIG+TYJWyXXYLP4Lly+rpEr/xtLbo0qGaK351Iz8Jva3KKJQiP/raLS9Hf1qJeTEW0jK9iCszNWO/8PUXZ0aRJE3OzkhJ69uyJ888/HwMGDEBsbCzOPfdc/RxCCCFKDwqug18GHvgbGPAsUDneFDLDH0+bqe4FioeE7xeUGXq6AubeFZ5vfN+OsD8L63faD1C0bdjHaU9wy3SnKOpr0daCCR1dRyD71pk4EdUU5Wjf8PUw4OcHgXTVKQlkipV2k5qaaqrxsjDZ4cOHT3n/q6++Kom2iSCAYtCLl7bFsp0HjQfjE/9bg1FXd/Qqi0yIQMfyi20U69/+tq52CfT/3K4CZT6D58qU4+mIKh+G7jk+qYXB8ymzbl//fQO+W7ort2CZKNjftlUhNhSny6DWNbE+4aixSxii36RMoUjryn/+8x9jBUYLsEaNGiHEXy7AhBBC2JsKVYHeDwA9/wWs/s5po5C0zr+zToM92/eS94FOw+HX1GiO9b3fRccDPyFkwXvAkk+A7XOAoZ8A8e183TpRVsLts88+i7lz55qMBGbeCnE6VCkfjneu7oQrPpiPn1buRd9mNXBF1yD9IxBBaZXg74XJLJRx63usYlZnt4xDeKj34tJlnergP1M3GBuAXQdOmIxP4Rt/Wwv6vo+asRmzNiUhNSML5cPlG+1LWIBXCCGE8AkUQykGdrwGWPQh8Nujha8z5y2gWgMgvJKzCFZ4RSCCjyv989jdayGhp5d1amX7lpZw6+ozm52NCoc2AvvK/ZPVWhL+vhkngYM7gIPb/7ntW+ndujUDQ/9yhEbAMfAFoNkA4H93AskbgI/OBgY8B/S4w3+yhEXpCbf0uZ04cSKaNVMxKVEydK5fDQ8ObG4ywp758W8ztbexPDRFsFglBMi+3siySkhxtluUvS+nJdxS9CsKLH7Xu2kNzN6UjEnLduP+Ac1LqZWBTVn421q0rROF+KjySDiSivlbUnBWS2exLFE6LFy4EIsWLUL37t3Ncz72BJfp0aOHfgohhBBlC2ed1vPy/2ft5OJ9Rlh5z8JuVrp320g7ysDU2d5SzPilxNyaD2YXMeOXbTuakFeYdb0dCyLrsCZnA3fOBX64G9j4G/D748DmacClY4Aq3tmuiQAVbsuXL49atWqVfGtEUHNHvyaYvSnJXDjf9/UKTLrzTESEaSRI2JMT6ZnYdzg1wDJunVmaEm59w5akY8ZeIyI0BP1axBZ5fVokWMLtvWc3Q4ifF8Szq7+tq4XFgNZxmLBgJ6au3S/htpTZtWsX5s2blxu/8rEnuIyEWyGEEH5N5xuAyCpA+nEg44TzPvfxCSAj57n1mP6sJDPVeaP/aXEZfyFQLhSoUM1ZFItZsBV4Xy3nPibnvrrLY95XA0LDSybjl9s+lC9r1vXG71gQkVFAtYb/3ELCgDlvwpZUqgEM+8ppmfD7E8CW6cCYM4FL3weay9fftsLtWWedhf/973+47rrrSr5FImjhtNS3ruqI896ZjdV7Dptpvf93fitfN0uIUvW3rVYxPGAqyrPAFdlz8CTSM7M1sFLG/P63M9v2jCbVUTmy6H/fg1rHo0pkmPETX7jtgNmO+Ie1+46Wmb+tBTOnKdxOW7cfL2W3lZheigwdOtTcXJ8LIYQQAUvXm4DaHb1blhmoFDyNqHvMRdjNEXytx8kbgXmjvNxmFnAi2XkrChRMjeCbX9SNcbbPG764rHDhmcJydN284qzrjW1wzRhm4TW7CreE37XbLUCD3sCkm4H9a4CJVwLdb3PeuB94oiTsKUTZC7csSPbiiy/i999/R/369U8pJPXSSy+dXqtE0FIrugJeG9Iet3+xFB/O2mqm9vZtXvTMMiECpjBZgGTbktgqkagQHoqTGVnYffBEwFg82AXLJmFQm+JNa6oQEYoLO9TCV4t24buluyXc5oNidln521r0bBxjRPiko2lYufsQOtWvViafK4QQQogggnpNOC0SyjtFUk9QvPRGuL3pD6BqXeDEAaeA6nrv7jXenzxEtRdIO+K8MVu2uFiibWQ0EONOmG3kFG0Lyu4NVuJaArdMB6Y/Byx43+mpvOgj52/jq4J0rr7G7qgo4bhYwi2r7VoVeU+ePFns30cId5zbJh7De9THlwt34sH/rsSU+/ugRuVIdZawFYHmb0s4SEe7hPUJR41dQiC1PdBJPJKKFbsY8AIDWhXfj4p2CRRuf1uzD89f0gaVipG5a3fhtixsEiwiw0KN7cUvq/aZrFsJt6UHrREKskdw5cwzzzQ3IYQQosyhSEWhrCDLAL7P5XxFWAQQVdt585bsLKd4e4rQm/LP4wNbge2uhrYeuPxDoNkgZ9ZsMPV7SUEBf/ArQJNzgEm3AKkHfVeQLp+vsU+E4wCgWFdsb731Vsm3RAgXnrygNRZtO4BNicfw6Her8MkNXU/J7BYikAnEjFurvUa4TfZyKpMoEaatSzT3HepVRc2o8qdVCJKeyluTj+PX1ftwRdfgDYBcycp2YPH2shduycBWNY1wy4zqR85tWaafHUwkJSVh3bp1uc83b96MhIQENGrUCLGxseb9bdu2IT4+XsV3hRBC+A6KUxSp7JaBGBIKVKruvBWU8fthv8K3VaNFyYq2du73gmg2ALjiU+CLS33XhqL4Gle1Ud8XEaXaCL+EU3pHX9MJF787FzPWJ+KzedsxolcjXzdLiBJja9Ixc98kNrCE2wbVne1VgbKyZepaZ/XbQa1Pr/orB8CGdKmL13/fYOwSJNw62XYoE8fSshBVhv62Fme1iDPWDBv3H8OOlOO5x5goWS655BJzI3v37sU111yDiRMnokuXLrnLLFmyBA8//DC6deum7hdCCOE7KFD5QqQKpqxTf+p3X+KtAP7jvUCFqk77iZBwIDQs5z7C5XH+91xf431Y3ue8HdoNn3LIxaYhOxsVDm0E9pWjzYBfifUSboXf0jI+Ck+c3wrP/Pg3Xvl1PXo0qo7Wtcv2glqI0sDhcJiMR9KoRmDZDTSqUdHcb09Rxm1ZcSwtE/M2p5SIcEsu71zHFH+kNcDOlBOoX935mwYza5LSzX33RtXLzN/WIrpiuPHVnbclxWTd3tKncZl+fjAyd+5cU2jXVbQlXbt2Rf/+/Y2lgoqXCSGECDqCMetUeEfCSt/21B9PA7EtgMo1nbcq8f88rlTDmdF9mjYN3EJrPpjtfzYNEm6FX3P9GQ0wa2MSpq9PxD1fLcPP9/Qx2bhCBDLJx9JxNDXT1AmgZ2wgYWUDMjNQlA08B6ZnZaNh9YpoGle5RIpAsvDj7E3JmLRsNx4Y2BzBzt+J6bnFwnzBwNY1JdyWISyye/Cgez83vn7okNNPWgghhAg6fJl1GuwZv/7MgGeBqLpAdgaQlQ5kZQDZmTn3fC0z5z7/6+kFvJcJpB4C9q8p/PO3/eW8uaNcCFAp1kXQjQMq5wi7VSju5rzG98IrBKRNg4Rb4ddwWu+/h7bHee/Mxpak43j+57V45fJ2vm6WECVik1C3WgWUDw+sgYiGOcLt7oMnkZGVjfDQnGkkotRgFqYl7pWU1zeLlFG4pV3Cfec0Q0gZZ5n6E5lZ2ViXbAm3vrkQYMG5535aa3x2Dx5PR7VKET5pR7DQt29fU69h9OjRuPzyy3M9br///ntMnz4d99xzj6+bKIQQQiDYM36zsrOxYcMGtGjRAqF+NnU96Gh8FlC7Y8lv11tf4zPvc1owHN0PHOMtwfn4eBLgyM55bT+QsKrg7URG/yPi0qohQJBwK/ye6pUj8eaVHXHduIX4atFO9GteA4Pb1vJ1s4QogcJkgWWTQGpGRaJ8eAhSM7KNeBtoxdUCDYrj9PkmA1vHl9h2z20TjyqRYdhz6CQWbEvBmU1qIFhZu+8oTmY6fOJva1EvpiJaxlcxhf/4e9OHWJQezZs3x9tvv41XXnkF7777bu7rderUMa83bdpU3S+EEEL4OuM3Kwsn9zuAWh2A0MBKdhElTNvL3QvHzNo9kewUbY2om5DvcSJwNOe1zFQg7bDzlrIpoH4iCbciIOjdrAZu69sYY//aipGTVqN93aqoXdUlzV2IAMLyt20cgKInMz6ZdUuBaXvycQm3pczibQdw+GQGYipFoEuDkquey0zvCzvUNoNhzLoNZuF2wbYD5r57w5gy97d1hf7FPK6YYS3htvQZOHCg8bPdsmWLybZl1m2TJk0QHl607Iu0tDSMHz8eixcvRoUKFXDxxRdjwIABp7UOrRrcZf3yte7duxepfUIIIYQQtrWnCA1zZs/yVlBun8MBpB1xydjdD+xZCix4H4GAhFsRMDw0sAXmb0nBqt2H8cA3KzDx1p4+vcgWorhsTcoRbmMDT7glucKtfG5Lnak5NgnntIwr8fMd7RIo3P62OgHPX5KJypHBGRIs3OoUbnv4yN/WghnVo2ZsxqxNSUjNyAo4G5VAhCJty5Ytza243H333di9ezfuuusuIwDff//9eOqpp3DVVVcVe52MjAwsWrQIL7/8MurW/Sf7WpnAQgghhLBVQbqyEo7LlQPKRztvsTn1Pao3lXArREkTERaCUVd3wgWjZptq6O/P3Ix7zmmmjhYBx9Zkp8dt4wC0SiANajgLqu1IOeHrptgah8ORx9+2pOlcv6oZPOBAwq+r9+HKrvWC0t92yY4c4baRb4XbtnWiUCu6PPYdTjWDlGe1jPNpe+zOsWPH8NFHH2HVqlUYPHiwEU3Xr19vBNXCMmYtFixYgFmzZuGnn34y9gvk+PHjxj93yJAhCAsLO6112rVrl7uMEEIIIYTtCtL5WjgOEFRVRgQUDWtUwvOXtDWP356+CUt3uK8KLf4hK9thRIAfVuwx93wufCsU7cwRPBsFaMZto5wCZZZXrygd1u07ajxo6Sncp1lsqdheMOuW0C4hGPl77xEcS8tCpfByxmPWl/D3YJEy10xrUXIsXLgQR44cyc1oveaaa4xVQXp6OhITnT7S9evXx+uvv44DB5xifmHMnTsX9erVyyOuUvQ9ePAg1q5de9rrvPbaa7j11lvx4osvYvPmzcX63kIIIYQQfg1FWfrXerpVDW7RlgTnvEgR0FzeuY6ZSvrDir247+vl+PW+PogqHzgVAcuSKWv2mUrlzOCyYEbXMxe1VoE3H7Hr4ElkZjuMGFcrqjwCkQY5wu0OWSWUKlPXJpj73k1jUSGidKbNX96pLv7z+wYs2nbA/J7WbxssLNjqHN1vHRvhF9Y7A1rXxBcLdmDauv14KbstQvygTXaBwufjjz9uMlv3799vvGW//PJLvPfeeya7nVSsWBHt27fH9OnTccUVVxS6zb1796JmzbzZ8HFxzkzpPXv2mG0Vd502bdqYTOBq1aqZ9lx66aUYM2YM+vTpU6TvnZWVhUDAamegtNdfUL+p37S/+T86TtV32uf8lPLVEBIaiXJZnm0aHKGRyC5fzRTKK2mKEvNIuBUBB7OSXri0rcm2ZVX7J/63BqOu7mheF3lF2zsnLEP+/NqEw6nm9THXdpZ46wO25dgk0Cc2UEWZhjlWCRShM7KyER6qyRulgWWTMKhNydskWMRHl0fvZrGYtTEJk5btwYMDg2ta9vwc4bZNbAT8gZ6NY4zXcNLRNKzcfQid6pdcQbpgZ/jw4UYwfeCBB1C9enVT5Mtd3MD3vM24ZeZu+fJ5B+AoCFvvFXedqlWr4ptvvsktlMaMXL73yiuvFFm4Xb16NQKJQGuvv6B+U79pf/N/dJyq77TP+R/h/T9DWPphj+9nRkQjY1syAN58h4RbEZAww3bUsE644oP5+GnlXvRrHps75Vc47RGYaevOFIGv8VKV77MYjj9kmQVjYbImsYHpb0tqVilvMoZTM7Kx5+BJY2EiShZaJHAaPw9PFiYrTXjuNMLt0t24/5xmATugUBzbksXbDviVcBsZFop+LWLxy6p9RriXcFuyUADt0aMH/v3vf2Pnzp3mNYq3VsZtdna2KQo2YsQIr7YXFRVlPHFdOXTokLmPjo4u9jqWYOtK79698csvvyAtLQ2RkZHwFvrkhob6f6E7Zp1Q1AiU9voL6jf1m/Y3/0fHqfpO+1xgkFXGsYj1ed4g4VYELJ3rV8MDA5rhP1M34ukf1qBLg2poJAHJwGnPrvYI+eElKt/ncmc0Oc0KjaJIbMkRblkUKlChsNcgphI27D+K7SnHJdyWAtNysm15Xqte2XuRpjgMal0TVcqHGbGY1gFnNq2BYGDN3iM4np6FqPJhaFDVf8Ih/h4UbmmX8Ojglr5uju2oUqUKHnroIWNDMGHCBFOkLCIiAuvWrcMHH3yAhIQEnHXWWV5tq1WrVkZMTU1Nzc2iZQBOMbhly5Yltg6hBy4vIop6IVGcdXxJoLXXX1C/qd+0v/k/Ok7Vd9rnAoNQP4xFNL9VBDR39m9qppaeSM/CvV8tR3pmtq+b5BckHk0t0eVEyVslBPogg2WXsF0FykrVJmFg69KzSbAoHx6KizrUDroiZZa/bfdGMQj1I6ud/s3jEBZSDhv3H5OPdClBKwKKtOPHj8e4cePMY3rIrlmzxjyuXNm7GREUf8lnn31m7lnojNvr1atXro8tbReuu+46k8nr7TrTpk3Dli1bcj9nx44d+PTTTzFw4ECEhfnPIIMQQgghhCh9fB79MTD9+uuvsXXrVjzyyCNusw1YZZfLJCcnmyq8nMKWfwqaN8sI+8Fp/m9d1RHnvTMbq/ccxhtTN+Dx81shmNl76CS+WuScAloYcVUCsziWHawSGgewVYLl0Uu2p5zwdVNsx+GTGbmiIu1MygLaJUxcuBO/sqDhJW1QJQgKPlp93LNRDCerw1+IrhhuxOR5W1KMgH9Ln8a+bpIt6dixI37//XeTaZuUlISYmBi0bt26SMIo/XDffPNNjBw5EpMnTzaWB/Hx8XjnnXdyl6EwS9HW8s31Zh0WK2NMfPToUVSqVMnEyhR8n3rqqRLuBSGEEEII4e/4VLhlddwff/wRgwYNwpw5c3DbbbedssyKFStMpgKr+zJopTg7depUTJo0KbeYgzfLCPtSK7oCXhvSHrd/sRRjZ21F72Y10KdZLIKN1IwsfDRrK977c7PxHi2MGpUjjDggyo5jaZlIPJpmi4zbBrnCrVOIFiXHnxsSkZntQLO4ymW2n3SqVxVNYisZK4/fVifgym71ECz+tj0axSA90X+EWyvTmsLtVAm3pUpISAjatGlzWtugrcKsWbOwceNGY33QrFmzPEXPKAh//vnn5nVv12nfvj2+//5744VLYbd+/frGG1cIIYQQQgQfPrVKGDp0KH777TcMGzbM4zLMSujbty+efvppXHzxxRg7diz27duH7777rkjLCHtzbpt4DO9R3zx+8L8rkXLMKY4FAyyq8vvfCRj41l9444+NRrSlIPvE+a1METJPE4CPp2Vi7d4jZdza4GZbTrYtRfPoCuG2sErYoYzbEodiXVnZJFhQNBrapV7Q2CVY/rY8DlvGV4G/Yf32S7YfwMHj6b5uji1hIbIlS5aYBAKKpK43ZuEWBYqvFFs548tVgCX0z2VBNAq43q5jUbduXbRt21airRBCCCFEEONT4TY2tuCsSBZuYFDNKsCuRSXOOOMMzJ492+tlRHDw5AWtTYZa0tE0PPLdqtwq0XZmc+JRXD9ukck23nXgJGpFl8foYZ3wzW09cWvfxhhzbWfER+e1Q4iPijSFsU5mZGP4xwuward/ZZrZma028bd1tUrYdeCEyV4UJUNaZhb+2pBU5sItuaxTHYSUAxZtP2B772JXf1sW2/M36lariFa1opDtAGasT/R1c2zHiRMncOWVV5rZWq+99hrefvvtPLcFCxb4uolCCCGEEEL4h8dtQTBrNisry3h/ucLnCxcu9HqZosBt+TtWGwOhrWVJRCjw9lUdcNmY+eZC99O523DDGQ1s2XdHUzMwasZmfD5/p5lSHRFaDrf0aYQ7+zVGxYgwk0lEBraKw9ktYrF4+wEzRT+uSiS6NYzByYws3DR+CZbuOIThHy/E5yO6oX1dz57Qdum3siZ/v21JPGruG1WvFPB9GVspHJFhIUjLzMbOlONoUN2ZgVsSBPP+NndTkrHU4LHatlaVIvXB6fZbbOVw9G5aA7M2JePbJbvw4MB/pnbbjflbks19j4bV/HZ/G9AyFuv2HcHUtQm4tGMt+Btl3W8l+Tm//vqr8Z6dO3fuKZmwQgghhBBC+BN+LdxmZGTkTidzhc+t97xZpiisXr0agUIgtbUsua5tJXyy4ihe+XUdotMS0bBquG36LtvhwMztJ/Hl6mM4nOYUZ7vVjsSNHaogvvIJbFy7xu16PDqMkcQRYPWqXea1BzpF4KXj4ViXnIHhHy3A0/2qoVlMRIGfH6j95musflu2yZndHJl+yHhzBzpxFUOw60g2ZixejU7xkSW+/WDc375eetjcd4wNwapVK8u837pWz8CsTcA3C7ehf41jCPEwhTuQycp2YGFOxm3VjCSsXn3IL/e3eqHOGOav9YlYtHS5GaDzR/yt37zh4MGD6NWrl0RbIYQQQgjh9/i1cGsVYjh82Hkha8FCDdZ73ixTFNq1a4fQ0FD4M8w64YVSILTVF3To4MC2k8swY0MSxqxIxeR/dUYFpuMGeN8t33kIz/+8Fqv3OH1pG9eohKcubIm+p1GI7ev2mbjl86VYvP0gXpxzBONHdEXHelVPWS6Q+82X5O+3g3Pn0eAFvdo3Q8cyngZfGrRYswy7jiQiNDoeHTvmzW4/HYJ1f8vOdmDllD/N46t6t0bHFrFl3m+t2mThoxUzkXwyEyej6qNXk+qwGyt3HUJq5n7jb3tJ365wOLL9cn/r4HDgzcV/IeFwKo5XqoPuLePgT5T1cWp9XknQpUsXY5FASyVP/rJCCCGEEEL4A34t3NLuoFq1ali7di369++f+zqLRlhVgL1Zpijw4sOfLtzs0tay5vUrOuC8d2Zjc9JxvDxlA16+rF3A9l3ikVS8NmUDJi1zFgyqHBmG+wc0w/VnNERE2OnZVEdXDMVnI7pjxGeLsWjbAdzw6RJ8fnN3dK5fze3ygdRv/gT7jNXLLd/QpjWr2KIfG8dWBtYlYufBk6XyfYJtf1uz9xD2H01DpYhQ9G4eW+zvfjr9VjE0FBd3qI0vF+7E/5bvRd/m/iUWlgSLdhzK9bcNDw/LnYLvj/vbwFY18cWCHZi+IRkD2vifXYK/9lthdO7c2RT9Gj58uIkdK1bMa/XComG8CSGEEEIIEdTFybzh0ksvxXfffYcDBw6Y5yw4RpGWrxdlGRFcVK8ciTev7Agm0kxcuBNT1uwz02NZkGb2zpPmns/9mfTMbIz9awvOfuOvXNH2ii51MePhfrilT+PTFm0tKkWG4dMbuxkRg96a13+yCEt3HCyRbYt/oMcwq9iHhpRD/ZjAL05GLF9buxeyKiv+WLvf3PdrEYvIMN8JYUO71DX3v63ZZ/y07cb8LU6bhJ6N/T+b2CpQN23dfpORLUqGpKQkTJkyBWvWrMG3336LCRMm5LmtWrVKXS2EEEIIIfwCn2bcsijEuHHjTIEI8vrrryM6OhoXX3wxLrnkEvPavffei40bN+Lcc89FgwYNzOMHH3wQXbt2zd2ON8uI4KN3sxq4rW9jjP1rKx7870pUjvzbiGeGhYtRK7o8nrmoNQa39b8sppkbEvHCT2uxNUcQ61CvKp67uI1bG4OSEm8/G9ENN322GAu2HsD1nyw0mbddGqhoS0mxJemYua9XrUKJie6+hkXWyI6UE75uii1gESpXsc5X8DzTNK4yNicew6+r9+GqbsYh2xZkZGVjyXbnIG/Pxv5/fqO4zFkWSUfTsHL3IXTyMBtCFI3ff/8dNWvWNOJtlSpV1H1CCCGEEMJv8alw27RpU9xwww3m8a233pr7OsVXC05fo7i7efNmJCcnm3Vq1KiRZzveLCOCk4cGtsCUNQlGWDqRnrciNX0D75ywDGOu7ew34i0zF1/4eS2mr080z2tUjsTIwS0wpHNdhISUrg9fxYgwjLuxG27+bAnmb00xmbfjb+qOrg39X9wIBLbliPCNatgj25Y0yPkuuw6eQGZWNsJC7SFI+4IdKcexcf8xk5F9dgvfCrf0/GTW7au/rcd3S3fbSrhds+ewyXynv22r+KL74Jc1HORhBvYvq/aZjGwJtyVDdnY2evToIdFWCCGEEEL4PT4VbpntwJs3UIzl7XSXEcEFRZATaXkFWwtOOqUU+txPazGwdbxZ1lccT8vEuzM345PZ25BOASykHEb0aoh7zmmGqPLhZdaOXPF2/GLM25KC68c5xdvO9aLLrA12ZWvS8X98YW1CrajyRliircfeQ6mon2OdIIpvk9CjUQyiK5bdMe+JyzrVwb+nrDeFCzmg1NAmAw6cUWD1c2kPhpUUg1rXzBVuHx3c0tfNsQX0r508ebLxNw40f14hhBBCCBFc+HVxMiFOFxbcSjqWY4/gQbzddzgVC7em4MympZelTT9dtiXxaCriqpQ3frIUilnR+ocVe/HKb+uw/4iznX2bx+LpC1ubqcq+oEJEKD65oRtu+Xwx5m5OwQ3jFmHcDV3geykpsLFjxi2FrwYxFbEp8Ri2pxyXcHsaTM0Rbn1tk2BRM6q8ORf9uSHJZN0+fG4L2AH6mweKv61F/xZxZjDPHGc2EtF9nXF75MgRXHnllW6Lk3Xq1MkUMBNCCCGEEMLXSLgVtoZCqTdc98lC1I2piLrVKqBu1Zz7mAqok/OYIkZxM3JZGI1ZvRSILeivO+LMhkasWZJTCKx+TEUj2J7TKs5MVfYlFG8/vr4bbv18CeZsTsZN45fisTOj0dGnrQpstuZ43DaOtZfo0qB6pVzhti9ifd2cgOTA8fRc31V/EW4J7RIo3LI44gMDm/t0VkLJ+9sGjnBLW4cejWPMQBqLlLE4pTg9NmzYgEqVKiEzMxPTpk075X0KuRJuhRBCCCGEPyDhVtgaZrd6Q5bDWWDJWWTJmZHlCrOdaletYETcOuY+R9w1Am9F1KwS6dbfk6ItfXTz1wKniPvyb+vN4wrhobj77Ka4uXcjlA/3nymbRry9oasRb2dvSsZLsw+iadMDOLOpxLmiQiuBXQdPmseNa9jHKoE0quHMVNuerAJlxWX6uv3IdgCta0WZc4u/MKBVTUSVDzPnq/lbUkzBR7v427aMD6yCVANb1TTCLQf7JNyePsOGDTM3IYQQQggh/B0Jt8LW0JKA2a0sRJZfPCXMH4uPLo9vbj8D+w6dxO6D1u0E9uQ833voJDKzHdh54IS5uYPCLrfjFHOdoi6FXhb3cfe5FhXCQ/DHg339SqxxhULyR9d3xa3jF2P25hTcPH6p8cA9o0ngZKv5AyzeRbuMihGhqBkVCbtl3FrFtcTp+dv6U7atdfxf3LE2JizYie+W7gp44TYQ/W0tBrSuiWd/WmsyhpmhHVMpwtdNEkIIIYQQQpQBEm6FreHU3mcuam2yXnmZ7iqiWpftfJ82Bbz1cLMNCm77j6T+I+ha4u6hE7nCbkaWI1f0BZzigDeczMjGrgMn/Va4tcSbsdd2xjVj/sKK/ekY8dkiI96e2SSwRRxfFCajv62vbTBKGsuzd5uE22JxMj0LszYl+aVwS4Z2qWeE2yl/J+BIakaZFkssaQLR39aC/xGtakVh3b4jmLk+EUO61PV1k4QQQgghhBBlgIRbYXsGt62FMdd2PsVnlhmyFG35fmHiL7NneWMGrzthl166uYLuQaegu3znIWzYf7TEfHh9SWR4KEb2qoYxqykyJeOmzxZj3A3dSrWgm53YZiw46G9rL5sE0qC6c9Bh1wFnVnGg+6CWNfSQTs3INhYsbWpHwd/oUDcazeIqGx/jX1ftw9Xd6yMQCVR/W1co7FO4ZYa2hFshhBBCCCGCg1NNOYWwIRRn54w8G1/e3A3394g293xemGjrDRSqakVXQNeGMbi0Ux3cfXYzvDqkPZ69uE2J+vD6mojQcvhgeCec1SLWCE0jPluMuZuTfd2sgGBbTsZtYxtWg+e+HxEaYrLOmX0uisYfaxPM/QA/KEroDraJRcrId0t3I1AJZH9bi0E5GdnM0E7NyPJ1c4QQQgghhBBlgIRbETRQYGWmVZ/6Fcx9aWcGWv66nj6Fr/N9d1m8/px5+8F1XXB2yzikZWabzNs5myTeFoZlI9A41n7CLY+j+jlZt9tll1AkmKE8fV2ieTyoTTz8lcs61QFPl0t2HMTWpGMIRObn2CQEor+tBTOy+Z9xIj0L87bovCuEEEIIIUQwIOFWiFL21yX5ZQJXf91Am1oeGRZqrCfOyRFvbx6/GLM2Oj06RcEet41r2M8qgTTMFW7dF+8T7lm+8yBSjqcjqnyYXw/gxEWVR7/msebxpGW7A7owWaDaJFjZzwNa1cxT0E6cHqmpqdi0aROWLFmS57Z37151rRBCCCGE8Ask3ApRBv669NN1hc/5eklYNfhKvH3/2s5mejfF21s+X4K/JN665Xh6thHnSMMa/luE7nRoWN2ZSbw92SlQC++wxLezWsYhPNS//45ZpIx8v2yPyRQOJOzgb2thFbCbti4R2QH2O/gbn3/+Oc444wxceOGFGD58eJ7bpEmTfN08IYQQQgghDCpOJkQpQ3F2YOt4LNp2wBQio6cts+sCLdPWrXg7vAv+9eUyTFu3H7d+vgQfXtcF/VvE+bppfsXeY5nmPq5KJKqUD4cdaZDj3btDVgle43A4MDVHuLXEOH/mnFZxxh+WBR45Tb9PM2cGbiCwes9hYy9QtWLg+ttaUHiuEhmGpKNpWLn7EDrVr+brJgUk69evx6hRo/Duu+9i4cKFTi/noUMxceJETJs2DSNGjPB1E4UQQgghhDD4d4qPEDaBIu0ZTarjko51zH2gi7YWEWEheH94ZyM8pWdm47YvlmLmBqdnp3Cy96iziFAjGxYmy2+VsE0Zt16zJemY6S8WdrNsCPyZ8uGhuLhD7YAsUrbABv62rufcfi2c+4vsEorP0qVLcd5556FXr16IiIgwr9WrVw8jR45Ew4YN8eeff5bQLyaEEEIIIcTpIeFWCHHaQsJ713TGuW2c4u3tny/FzPUSby32HnVm3DaOtae/ratVwq4DJwNuGr2vsLJtOZATKJnYV3Sta+6nrEnAkdQMBAp28Ld1xcrQlnBbfA4ePIi4OOfskOjoaBw44NxHSNOmTbFnz57T/p2EEEIIIYQoCSTcCiFKRLx995rOGNwmHulZ2bj9i6WYsX6/EfHmb0nBDyv2mPtgFPX25GTcNrZxxm3tqhVM5ih/+72HTvq6OQHBHwFkk2DRrk40mtesbHytf1m1D4GAnfxtLWhHExZSDpsSj8lX+jSsSixatWqFmTNnYsuWLdi1axdmzJiB2rWd2eVCCCGEEEL4GnncCiFKBBZXGn1NJ9z71XL8tibBeN5GlQ/HwRP/ZObVii6PZy5qHbBF2YrDvtyMW/sKt7T+qBdTAVuSjmNHygnUi7FnEbaSIvFIKpbvPBRwwq3xAe1SFy//uh7fLtmFYd3rI5D8bVvUDGx/Wwt6DfdoHIO5m1OMv/gtfRr7ukkBR5MmTXIfd+3aFT179sT5559vnnfr1g3nnnuuD1snhBBCCCHEPyjjVghRouLtqGGd0Ll+VWRlI49oSxIOp+LOCcswZU1gZOudLqz6bhUns7NVgqtdwnYVKCuUaeucViId6kajZlR5BBKXdqxjhPplOw8Zn15/x07+tq4MbFUz1284mGc0FBeKtJZQS/7zn/9g+vTp+PXXX/H555/n+t4KIYQQQgjhayTcCiFK9qRSrhz2Hkp1+54lKzz309qgEBkSjqQiPQtmWnPdahVgZxpYwq0KlBXKH2sTzP2gNvEINOKiyucWU5sUAEXK7OZv6zpIRtYnHMV9X6/AsI8WoPdrM4JmUKw0qFu3rsnEDQlRaCyEEEIIIfwHWSUIIUqURdsOGMHSE5Rr9x1ONcuxMJOd2ZYjYtaPqZgrtNiVRjWc9gjbU074uil+zfG0TMzdkhJwNgmu0C5hxvpEfL9sDx4a1MJk4PojdvS3JRRnn5y85pTXrRkNY67tHFR2NN6ycOFCLFq0CN27dzfP+dgTXKZHjx5l2DohhBBCCCHcI+FWCFGiJB5NLdHlApltySfyiJpBkXErq4QCmbUxCemZ2WhQvSKaxQWmfcY5reKMzyoHaOZuTkbfnAxcf8OO/racqcAZC+7mK/A1Suh8f2DreL8V1H0FC4/NmzcPtWo5RW0+9gSXkXArhBBCCCH8AQm3QogSJa6Kd56dM9cnon/zOERXDLflL0CBZV5OZmVkWIh5bmchpVENp3C7M+WE7b/r6TB17f5cj1IW+wpEIsNCcUnH2vh8/g7jseqvwi19X+3mb8uZCpyx4IlgmtFQVIYOHWpurs+FEEIIIYTwd+w9d1cIUeZ0bxSDWtHlTeZXQUxesRe9/z0Do6dvwrE0ZwEvO01lpt/k7zki3a9r9tvef5K/eXhoOaRnZRdolRHMcOo+LQYC1d/WlSu61DP3v/+dgMMn8xYh9LfCZHaySdCMBiGEEEIIIYILCbdCiBKFmZbPXNTaPM4v3pbLud3etzGa16yMo6mZeOOPjejz2gx8OGsLTrKSV4BDcZY+k/mz4iz/SbuKt2GhIagXk+NzqwJlblm8/YAROWMqRaBLg2oIZNrWiTL2A2mZ2fhl1T4/9bc9aDvh1tsZDd4uF8y8+OKLWL9+fZ7X+JyvCyGEEEII4S9IuBVClDgsjMMCOfHRecUDPufrj5/fCr/d1xfvXN3RTLE/eCIDL/+6Hn1fn4nP5m5DWmaWLf0nCd/ncnakoXxuC+SPnAzss1vGBbyVBG0eWKSMfLt0F/yNVbsP42RGFqrZyN/W2xkN3LcqRoSWYasCj/nz52Pz5s1o2bJlntf5nK+zkJkQQgghhBD+gIRbIUSpibdzRp6Nr27taQRa3vO5Ve2c4sIlHevgjwf64vWh7VG3WgUkHU3Dsz+txVmv/4mvFu00WXN29Z+0Iyy4RZRxeyoOhwNT/87xt21dE3bgkk61zXG8fOchbE48Bn+0SejRqLpt/G0Lm9FgwYGhoR/Mw8eztyLbpoNEp8vq1avRqlUrt+9RvOX7QgghhBBC+AMSboUQpSoysEAOBVreu8sy5BT7K7rWw4yH+uPFS9uiZlQk9h5OxePfr8Y5b/yF75ft9vsM1RPpmcYC4Y2peafdnq5PZaAWKNuecsLXTfE71u07ij2HTqJ8eAj6NvPPYl5FhdPx++cUJpu0bDf80982xtdNKbMZDczEfeOK9hjcJh4ZWQ68+Ms63DR+MZKPpfmsrf5KbGwsVq5c6fY9vl6tWmBbmQghhBBCCPsQ5usGCCEEiQgLwbU9G5jp118u3Ikxf27GzgMn8OB/V+K9mZvxwMDmOL9tLb/Jnjt8IgPT1+/HlDUJmLUpCakZ3mcH29V/skGOVcKOlOO+borf2iT0bhqLCjaaxs7jdfr6RHy9aCea16yC+KjyZjq/L60g8vjbNrGPv21+8XZg63iTvc+BIJ5TrH6/vHNdTFy0E8//tBZ/bkjCee/MxltXdkTvZjV83Wy/4eyzz8Yrr7yCp556CjfeeCPi4+ORkJCAcePGYcuWLTjnnHN83UQhhBBCCCEMEm6FEH5F+fBQ3Ny7EYZ1r4fx83bgg7+2YEvScdw9cTlaxm/GQ4NaYECrOOOxWdZQIOF099//TsD8LSnIdMkErh9TEYPa1MT/lu3BgePpbn1u2WJmyVFgsSONcoXbE2aKtr+I7P7AH+sSzP0gm9gkWGRmZ4OHIn2qH/hmRW7mJ6fzW7YovvS3bR5nH39bTzMa8sNz4/AeDdC1QQzu+WoZNu4/huvGLcTtfZvgoUHNER6qyVbR0dH44IMP8PDDD+O///1vbt/VqVPHvF61atUy/jWFEEIIIYRwj4RbIYRfUjEiDHf2b4LhPetj3Jxt+GT2NqxPOIpbP1+CDnWj8eCgFujbrEapC7i7DpwwQi0za5fuPAiHiyLLokfnto03U5Nb1api2tK1QTXcOWGZEWldxVurlRS0Ar0wlSdqVy2PsJBySMvMRsKRVNSuWsHXTfIL9h46iTV7jhiB8+xWcbALtAe596sVpwxSJBxONccAp/P7Qry1q79tUWkRXwU/3t0bL/6yFhMW7DSDYPO3pmD01Z1QP8ePOpjp3Lkzpk6dirVr1+LAgQOIiYlBmzZtEBpqn4x4IYQQQggR+Ei4FUL4NVHlw3H/gOa44YyG+HD2Vnw2dztW7j6MG8YtQreG1UwGbs/G1Uu0iNSmxGNGqOVt7b4jed7vWK8qBreNx7lt4nM9Xd35Tz7309o8hcrifZyFWBbQr7heTEVsSz5uCpRJuM1rk9ClfjXUqBwJO0Dfae7j7jLL+RrlUr7P6fxlPVBhZ3/b4sxgePHSdujdtAYe/W4VVu46hPNHzcZLl7U13uPByvvvv4/s7GzcfffdaN++va+bI4QQQgghhEck3AohAoJqlSIwcnBL3NSrkckc+2LBDizefhBXf7jAiBIPDmqOzvWrnSIuufOAdCfWUgxmZu3vaxKwNfkfj1Yuzsw9irW0QqgVXcFr/8kFW5KweM1GdGvbHD2bxNo209aVhtVzhNuUEzizqa9b41/CLfcfu8DjynVgwp14y/e5nLvp/KVFMPjbFgeek9rVrYr7v15uzpv3fb0CczYl49mL26BSZPCFgrRC2LRpk6+bIYQQQgghRKEEX7QuhAhoYqtE4qkLW+PWPo3x7sxN+GbxLszZnGxu57SMM0XM2taJNtO482e9unpvZmZlGwHDiLV/J+RZLiI0BH2a1TA2CANa1URMpYgit5MiLTOByx+pgI6NqweFaPtPgbIkFSjL4fDJjNwMUIr5doGDId6wcFtKmQq3q3YfCgp/2+JQp2oFfHVrT4yesRmjZ2zCt0t3Y+mOgxg1rJM5ZwYTAwYMwGeffYb169ejZcuWvm6OEEIIIYQQHpFwK4QISGg9wCnALLhDEWLSsj2muj1vnepVxfJdh05Zh96bd0xYhjObVDd+uSwiZlEpIhT9W8YZv9r+LWJRpXx4GX8je9Agxztz3pZkU8DNU5ZzsPDnhkRTxK5pXGW31hqBCjPYveHtaZvw18Yk3NK7Mc5tU9PYaZQmC7YeMPfB7m/rCfY/B7coprOYHGcXXP7+PIw8j7MZGvqk6KMvmDVrFk6cOIHLLrsMDRo0QLVqeWdrDBkyBEOHDvVZ+4QQQgghhLCQcCuECGjoqfrvoR1wR78meGf6JvywYq9b0ZZYfpzztjgzIKtWDMfAVjWNDUKvpjWMH6QoPsxyHjXdOf149Z4jGPbRgjxZzsHI1BybhIGt7WOTQCjI87flYIg7n1tSITzUZLYv33kId01cZjI+R/RqiCu71TPe1aWB/G29g7MBfr23D0ZOWmX20Rd+Xou5m5Px+tD2qG4TH+aCqFevHq666qoC3xdCCCGEEMIfkHArhLAFjWMr452rO6FXkxp4dNKqQpd/8vxWuLFXw1LPAAwm0fbOCctOEfEo7PF1FmwLNvE2LTMLf21IMo8H2Uy4ZRY1BXn+tszRdP3drZzNt67qgC4NYowf9YQFO7Dn0Em8+Ms6k4V7Zdd6RsTlwEtJkZ4pf9ui+oaPva6L+W1e+GUdZqxPxHnvzMZbV3U0A1l2pkePHuYmhBBCCCGEvyPFQghhKyLDvTutxUZFSrQtIVgEjn7C7jIvrdf4PpcLJjht/1haJuKqRKJD3aqwGxTiKcjTtsQVPreEenpSPziwOeY9djZevbwdmsVVNn0ybu429Ht9Ju6csBRLdxwwBQJPl9V75G9bVGiNcN0ZDfHj3b3Mb5N4NA3XfrIQ/56y3hR6CwaOHz+OY8eO+boZQgghhBBCuEXCrRDCVnjrventcqJwFm07kKe4W34oyfH9rxbtxP4jqaUq4HLb9Nb9YcUec+9LsfiPtQnm/pxWNW3rt0pxds7Is03Rq3eu7mju+Tx/djVtSK7uXh9TH+iL8Td1N8X/+NP8tiYBQ8bMx6Xvz8NPK/caa4XT9belDYBd+7u0aBkfhR/v7o1retQHNfT3/9yCK8fOx64DJ2BXFi9ejAsvvBCdO3fGp59+al5bvnw5nn/+eV83TQghhBBCiFxklSCEsBWFeW+Wy8kI5HKiZEg86lm0deXJyWvMjdPsYytHmt8hPqq8ua8ZVd78bryPrRyOtExHsewamNnrKiL7ymM3O9uBaWsTbWmTkB/+nix25W2GZ7/msea2IeEoxs3Zhv+t2IOVuw7hnq+WGx/cG85sgKu61Ud0hfBi+tt61xaRlwoRoXj5snbo3bQGHpu0yngTn//ObLx8eTtc1KF2wHfX119/bQqRnXHGGUhMTMRdd92F22+/Hdu3b89dplOnTka43bhxI5o3b+7T9gohhBBCCEEk3Aohgs57k+9zOVEyeJu9HFMpHIdPZpos2IQjqeZWENFTphtht6YReCn0VsgReiNzhN4KqFYx3IiB/uaxu3rPYfP9KkaEei1qBhst4qvgtaHt8cjgFsZn9Yv5Th/cl39dj3fog9utHkac2Qj1q1csmr+thNvT4vx2tdC+bjTu/3oFluw4aAT12ZuS8OzFbVAxInDDRoq2Dz30kClKVqtWLfTu3Rs333wz3n333TxWHR07dsS8efMk3AohhBBCCL8gcCNwIYQoxHszf/ZlvI+yL+2Ot1nOnEJPko+lmWWNeJtzvz/f8xPpWTh8MsPcNuw/6vGzI8JCEFclAvuPpHn02OXnc18Y2Dq+zAT7P9buN/f9W8QamwDhmRqVI3H/gOa4o18T/LhiLz6esxUb9x/Dp3O3Y/y87RjUOh4392mErg2qGZG+IH/bmEoRxqtVnB51q1XE17f1xKjpmzB65mb8d8luI+KOHtYJbWpHm8EXZjgv3nkSqVEp6Nkk1u8Hw5hp+/PPP+Oll17ChAkTMHToULfLZWVlISMjo8zbJ4QQQgghhDsk3AohbAnFWQp19F/lVH5mhVJg9HdxIRiynJkty1sHD9vLzMzEvCXLEdegORKPprsVdumVm3ws3WRa7j5YcOau5bE7d3MS+jaPQ1kKtwNtbpNQklDgZpbtFV3rYs7mZHw8exv+2piEKX8nmFuHutG4qXcjkxEaHvqPRT9FRAqLpGlsJbcCvig6YaEheHBQC5zRpAYe+GYFtiYdx2XvzcOlnWpj1qZkcywaFi72mSVJUYmJicEbb7yByZMn4/PPPzeZthwMsDJuDxw4gOnTp+M///mPr5sqhBBCCCGEQcKtEMK2FMV7U/hPljOFlErhISZzsmUtz9mqFG0p4E5auhtvT99U6HZvHr8E3RrGmKn0vHWoF43IsJLPht2RctxkCXP/O6tF2QjFdoK/f59msea2af9RjJu7DZOW7cHK3Ydx39cr8Opv63HjmQ1NsbP5W5Lz7HOLth9E79dmBISIGCjwHPrrfX3w6HerMG3d/lyR3B8sSYrLRRddhIkTJxqrhPDwcERERGD06NH45ptv0LBhQ/Ts2dPXTRRCCCGEEMIg4VYIIURAZjnTJqFeTEX0oKepF8JtRpYD87akmBuJDAtB5/rVjIjbo3EMOtarWiK2Bla2bfeGMahaMeK0txfMNKtZBa9c3h4PDWqBLxfsxBcLthuR9pXf1uONPzYa8T7QRcRAgBYUH1zbGZ1f+ANHUjP9xpKkuISGhmLcuHEYNWoUpk6diqSkJKxYsQKDBw/G/fff79GSQwghhBBCiLJGwq0QQoiAznL21mP30xu7YfGOg8abc+HWFGO1MH9rirlZQnCnelVzM3I71S+akMsp+xStv1q00zwf0FrZtiXpg3vfgGa4vV9j/LhyLz6ZvRUb9h9zu2ygiYiBwuLtB92KtvktSXgMBMJMh8qVK+P//u//zE0IIYQQQgh/xVbC7b59+5CcnIxGjRqZgFwIIYT98dZjt2WtKHO7rmcD42m5Jem4U8TddsDcJx1NM495e2f6JkSEhqBj/Rwht1EMOjeo5lHInbJm3yk2ER/8tRV1qlZQ1mdJ++B2rYd61Spg2EcLbSMiBgLMoi/J5exEeno6Nm3ahAoVKqBx48Yltk5xtiuEEEIIIeyFLYTbtLQ0PPzww5g1axZq166NvXv3mufXXXedr5smhBDCDz12ORW6aVxlc7s2R8jdmnwcC7c6RVzeEo+mGeGPt1HMyA0NMb64xlqhUXV0aVANFSJCjWhL0Th/tm/y0TRN2S8l+Nt4t1zwiYilBa1PSnI5X/PLL79g/PjxJmbMyMjI894tt9yCW2+91avt/PXXX3j00UdRpUoVHDlyBHXr1sUHH3yAuLi401qnONsVQgghhBD2wxbC7bvvvotVq1bhjz/+MAHttGnTcNddd6F9+/bo0MFT3XIhhBB24nQ8dinkNomtbG7X9KhvhNztKSdyRVze9h9JM9PFeRuNzQgPLYf2daKxfv9RtxYNmrJfethNRAwEvLUk4XL+DmPGkSNHmgH+4cOHIywsbzjcrFkzr7Zz4MABPPDAA6bIGeNOJhJcf/31eOKJJ/DRRx8Ve53ibFcIIYQQQtgTWwi333//PYYNG5abhTBgwAA0b94ckyZNknArhBBBREl57FLIbVSjkrkN6+4UcnfkCLmWtQIze5fuPFTgdjRlv3Swk4hoN0uSQPAUXrJkCS655BIj3p4OU6ZMQXZ2Nm666SbzPDIy0jy+7777kJiY6DY71pt1irNdIYQQQghhTwJeuN2/f7/xtW3Tpk2e19u1a4d169Z5vR1elFt+Yqw27M9kZWUFTFv9DfWd+k37m//jr8dp7ahwXN4x3tz4n7Hn0EmMm7Mdk5bvLXTd/YeOIT29SlD2W2nx9PnN8dC3q81jdyIi38/KzICzVzwTbP12OpzdvDreH9Yer03ZgP1H03Nfj4+KxKPnNjfvsx9LA+t3suK10yEmJgZ79uw57e0wzqT3LD1oLTjbi23ke+4EVm/WKc52AzmuJToO1W/a3/wfHafqN+1zgYGO1cDot6LEtgEv3B4+fNjcV61aNc/rfG695w3MbCBr165FoBBIbfU31HfqN+1v/k8gHKeXNeStphdLJmP16uQyaFFg9FtJQOnqi8sK6PvMRKxenej19oKl30qi398YUO20+7u4WPHa6dC7d2+MHTsW27dvR8OGDYu9HcaZ1arl7QsrHvUUg3qzTnG2a4e4NhDb6y+o39Rv2t/8Hx2n6jvtc4HB2jKORbyJbQNeuLV8yej/5Qqfh4eHF2k7zNINCQkxU2SFEEIIIYR/wGwEBrb5/WiLw59//omjR4/iwgsvRJMmTVCxYsU87w8ZMgRDhw4tdDtsS/74MzXVWRDPUwzqzTrF2a67z1FcK4QQQggR+LFtwAu3tWrVMmIrLRNc4XO+5y3cRkRERCm0UAghhBBC+Av16tXDVVddVeD73lC7dm2sXu2067Cw4lG+V9x1irPd/CiuFUIIIYSwBwEv3NL/q1OnTpgxY4YpNEFOnDiBefPm4Z577vF184QQQgghhB/Ro0cPcztdevXqhY8++gibN29G06ZNzWvTp083tgatW7fO9UlbtWqVyeyl/YE363izjBBCCCGECA7KOUqiyoOPWbRokam2O2LECHTs2BETJkzA7t27MXnyZFSqVMnXzRNCCCGEEDbk5ptvRkJCgkkWSExMxOuvv47HH38c11xzjXmf7/Xr1w/vvPMOBg8e7NU63i4jhBBCCCHsjy2EW7J06VJMnDgRycnJaN68OW677TbExsb6ullCCCGEEMLHfPXVV/j6669x9dVXm+d87AkuM2zYMK+2e/LkSXz66adYsmQJypcvj4suugjnnXde7vsHDhzAXXfdhfvvvz83y7ewdbxdRgghhBBC2B/bCLdCCCGEEEK4Y9myZVi+fLmx1yJ87Aku07lzZ3WkEEIIIYTwORJuhRBCCCGEEEIIIYQQws8I8XUDhBBCCCGEEEIIIYQQQuRFwq0QQgghhBBCCCGEEEL4GWG+boBwz6FDh7B3717Url0bVatWLbCb0tPTsWrVqlNeb9q0aaHr2s2/Ljs7O89r9erVQ82aNQtcLysrC5s2bUJISIjpM94HCydOnMDatWvdvteoUSNUr17d7Xtch+u6EhcXh/r168POZGZmYs2aNYiKikLjxo3dLsN+2bp1K6Kjo83+5w3FWSeQoJX633//jbCwMLRs2dLtMkeOHMHu3bsRHx+PmJiYArfH45zHe1H22UBl48aNZv/o2LHjKe/xvM/zvyv8z+CtsP7bvHmzuW/WrBlCQ0NhN3bu3InExER06NAB4eHhhf5fFvZ/sWHDBhw9ejTPa9WqVUOTJk1gF/hfuG3bNnOc1q1b19y7g7FJSkqKOd4qV67s1baLs46wF97uXxY7duxAUlJSntcqVaqEVq1aIVhISEgw/4uu8Hxt+TQXBIs187hjXxf2n2o3tmzZgoMHD57yemRkJNq1a+d2HS7P9fKT/z/EjuzZswf79u1D27ZtTSFEd+zatQuHDx82sW/FihW92m5x1gkk+J/GcxrjKMbv+WGMtX379tz4orD9iMc6j3lv99lA5dixYyam4rkpf8zFcz7P/fnp2rVrodtlIVD2IWPgGjVqwG4wfuW1FK9z8l9vu/u/LOz/gjEtf4f8tGnTBhUqVEAwaWppaWnmuojnKcap3lCcdU4Xedz6GRTEXn/9dXNfq1Ytc8I/55xz8PLLL5uTtzt4ku/Xr5850FyXeeihh7w60dkF/rHxREZRzeLaa6/FBRdc4HGd1atX49577zV/rhTleFHw/vvvGwE3GOCJ/rHHHjsleGUg8uGHH5r9yh0XXnihqXhNsdZiwIABuPnmm2FHKJx99NFH+N///mcERvbLW2+9dcpyP/30E5555hnExsaaP1AGwe+99x6qVKnicdvFWSeQBFtWRf/mm29MQMXA9fvvv8+zDC+U/v3vf5tCQfxT5T555pln4rXXXvMo8Bw/ftwUDmrRooU5Zi3uuOMOj/tsoDF58mR8/vnnJgjl+YmV5fPTq1cv00euF+WXXXYZrrzySo/bZZDxr3/9y+zTHKRiUDdq1CjbXBjMmjULn3zyCdavX2+CtTlz5phjy4L74V133XXKRQQFcu5zl156qdvtXnfddeYilP/LFj169MD9998POxyn/N/78ssvTVCbmppq9rnnnnsuz/HE1x988EHMmzfP9AMD4UcffRTDhw/3uO3irCPshbf7V36eeOIJTJ8+Pc8FUcOGDfHKK68gWGAcNmbMmDwDnrygHjduXIH9/fzzz+O7774zMTEHsW644QY8/PDDCBbefPNNLF68OM9rvK6iwMZ+cceUKVPMuYpCrSvsf7smwSxatMjEthzM5P/lr7/+espgJMUd/mcyacGKU3nsXnTRRR63W5x1AgnGFzw2Fy5caAZIPvjgA5x11ll5lmEc8tlnn5kYldeXvGZ66qmnMHjwYI/bZQzC/dP1GpT9xxjNLgMEY8eOxYwZM8y15iOPPIIbb7wxzzJfffWVOcdT03BlwoQJBSYZ/Oc//8H48eNzz3lDhw7F008/jXLlyiHQ4XUn97cff/zRHFs8jniOd4Xvz5w5M89rjGt57uL/qDu4/15//fWnFGLlNZkdkojWeqmpsd+ohVA/4nmQcQbP+wWJ/8VZp0RwCL/il19+ccybNy/3+Z49exy9evVyvPbaax7X2bdvn6N58+aOzZs3O4KZtm3bOmbMmOH18mlpaY6zzjrL8X//93/meVZWluOuu+5yXHDBBY7s7GxHsPLss8+afS4jI8PjMuyjTz/91BEs7Nq1yzF69GhHQkKC47bbbnPcf//9pyyzfft2R5s2bRzffPONeX748GHHueee63jsscc8brc46wQSPMZeeeUVx9atWx0vvvii47LLLjtlmWnTpjlmzpyZ+zwpKclxzjnnOJ588kmP2z127Jg55y1fvtxhV958803H6tWrHV988YWjS5cubpc588wzHZMnT/Z6mzzH8di95557cs9xI0eONOdB/lZ24OOPP3bMnTvXMWfOHLOPJCYmFrrOO++84+jUqZPZrzxx7bXXmt/EjvC3f/vttx2HDh0yz7lvvPXWW46OHTs6kpOTc5d79dVXHf379zfHKPntt98cLVq0MPupJ4qzjgjO/Ss/jM3c/dcGE2PHjnX7v1kQX331lTmfbdy40TxfuXKliTN4fRGs7N+/39G6dWvHhAkTPC7Dc5On/1q7wviC8Rf3EU/XkYxHzz//fMeRI0fM84kTJ5r9aceOHR63W5x1AomffvrJ3Hj+Yr+5u/bkOc71/MbYhH2wc+fOAv8vb7rpJoddYWzGfYGxVvfu3d1eR/L9AQMGFGm7PLdRA+B+TDZs2GD+X77++muHHeC5nP8F3J+uvvpqx1NPPVXoOuxj9gGvXT2xYMECs/8WdL1vd00tKSnJ9NMHH3xgnp88edIxZMgQx+233+5xu8VZp6QInjnhAcL555+PM844I/c5M9D69+/vdlpwfpjJwhR6Zg8FKxz5ZBYts6oKY/78+Wb078477zTPmX3GjD3aJqxcuRLBCNP+f/75ZwwZMqTQaYwcAeQoPacj2x1O57n77rsLtN344YcfzMjmFVdcYZ5zFI5Zer/88ovJMCqpdQKJiIgIMyJZ0BQSjn7yHGfB0cqBAwdi6dKlhW6fsw2Y0cF90W488MADJvu6MJi1wHMep+wVBs9rPL8x49bKQuBjngcXLFgAO8Csf2Zse5tlwcw/ZtJzFoFr9ranTG+e8/JPZbTDcXrfffflTvVk3w0bNsxkZa9bty43i4/Z8szmtjIKmDnEKbD5s+gtirOOsB/e7F8FxSQ8xzPbPb8VVjBZTDDDj7NTMjIyCl1+0qRJOPfcc012KWnfvj169+5tXg9WOIOFMe3FF19c4HI8Z3FWCjPVuO/ZHc5KZPzl6f+ScSjjUcal1iywq666yhzLjF9Lap1Ag/ECbwVZH3A2jqt1F895PH4ZrxUEl2GGIGef8di3E4zN2A+FxVo813MKP4/F/HZg7uC5rW/fvuZcR5o3b25mgdrlnMdz+W233VYkKzhmz/NYZOZxYXCWLf9jmBUebJrab7/9Zu6tzG9axdx0003466+/PF5XFWedkkLCbYB4Q3rjHfr4449j5MiR6Nmzp3mc34M0GGBKPKfX8cDkSc6d34sFLxgomlGUs+DUDE7F8OT7and+//13Mw3DmxM9p8Bz2g8vECg8uvMGCya4z3D/cQ2AOf2cwT/9a0tqnWCAF+renPOeffZZc65jMMgg2Y4CbmGMHj0aTz75pBHAOeWJIqwnuL/x4pUWExbsZ54HCxNQ7MrcuXPNoKc1eFIQ//3vf805jxdsnKrG/2a7Yl1cWsch/Q85HSz/9EWerzz9XxZnHREc5N+/CrI+4Tme4j/PcbNnz0awQRGR1mcjRoww9jgcaCromoEX4O6OuWA9xxMKOOedd16hFlRMfOFgJm/du3c3U+CDGcb1jEdd9ycmufC5p3N4cdYJpnNegwYNClyOtli8lqedEK1kpk6dimCDcSwH+3gdT02DNjsFYV1LuUIRl+c8nhODEVpuUMxm3ZDCuP32201/d+vWzVhO2HWQ1OFGU7MsdFytE/h/yT7gf6k7irNOSSHh1s+h9xD/BAvyDmU2A/1v6OXHbEmOaDLYpYgZTNDLhllj9ID5448/zEVjfv9WV2iYn9+3igIaR4X5XrCe6Dk6VZi3DfdHeuNY+xqD4XvuucerkVG74m5/YvEi672SWsfu0N+Ko6EMJDxB8ZFeYDze6RHM0U8GxfRQCyaYlWsdh/QMs/xEPQWq3Kd4fsufXcN9kAJbsJ7zWOyoMI9fCrvc39jXFI+YRc6LezvOcGHGwEsvvWQEaivAtc5H+c9XfF7Q+a2o6wj7427/cgdFC8YXPMfzmOMgMWsS5C/WZWdat25thBtmMLIv+P3/7//+z+OMFCZsMA7TMfcP9Lqlt2Fhg3PMxqIozv6eNm0a3n77bXNtxWzdYEXn/ZKBCTGsZWHVo/EEhbM///zTnPN4vF999dUmpuNMqWCBHss839FzmnEtr+3p58psRk+4u5bic54L7ZZF6g3MVF6xYkWh5zxm8FIUZz8zcYuezKytwVuwaGqHA+zaXcKtn48QM2igSbRrhlR+WJiGAa3rSY+FCJgmH0zwBMVRXcIp7TTGp5jtSZCg+ONOaKT4YfcKsu7gVEQWKvAm84wFkDhgQCja0mCeJ8PSHmnyZ7g/5Z9aZ9kdeNqfirOOnWHgwAt6CrAFVc3mKKdrESkONNxyyy1mfRaBCBaYGW9ZmvB/gFnHDNY8CRvu9jdrn7OO52CCNhMs2uDNOY9TbK2q2CwORPGElgneWHoEEgw6eSzxP/SFF17Ifd3az/L/Zxb0f1mcdYS98bR/uWPQoEG5hRe5L1nFtfIXYLEztDhwHUjn1HbG+NZUzfxYx1X+8zyfB+sxx8E59lmXLl0KXI4ZehTKLVhsirP3gu1ayhWd908fDqYwEYHTqQtLqDr77LNziz7zepbXsRSIginrlpnurgXyGOuzeFZBx6G76/lgvpbiOY9F7Vxt6NzBIniuRez5mLPJKJwHi6YWFmDX7hJu/RSO8HJ0jlllBVWgLGgUhYJlMHg0ecLy1PPkwcrRdWZ+uHqGMXuKf7J8LxhP9AwQ6AtUVCzfnWDwu/VEnTp1sH///jyvWc9dK9Gf7jp2hVnynA7KqejeWHW4O955LFOMC1as4zD/PuW6v/Ec55olymCXnuDBtr8RZs/SGqcw30N3UFBi5rKdznm0GqFPFwdGPv7441yhmnD/4Pd1d77y9H9ZnHWEfSlo//IGXiwxRvF0fgum87yn8w4H4Phf6O6YC8ZzPP/rOKBLq43i4K4vgwnrPJ2/D7j/eTqHF2cdu4u23A9pL2f5fHsL/z8ZawTzPujNccj9yt05j+JlsAm3vA5ibOtNrZpgOedNLkBTC7Rrdwm3frqD0bPw1VdfxQUXXHDK+7zQpgeOlUnqzsuWvn2cgubqv2Fn3PUBs205wumarcDsKOvgoi8m+3LevHm573N6FE90PXr0QDBBA3xOEXPNpHWFnjA7d+40jzntJP9UbO5v1uhdsML9iYWLXI3Jmc3XsGFDc5K3ihvx2LWEM2/WCQZ43HHaP897LGLhbv9kv1n95Ol4Z4BbFPP+QMbTeZ/nLxZ/ci1IRg9XwvMa33fNWGO/MdDjvhhsFOR7yMIYlm83B0DzFwnh/wbPg1YBIDtM5aSoxv2DolrlypXzvM/nHTp0MFPqLHgeo1WH677DKcmWl6a36wj7U9j+lX/foVdc/gKdPB5pgWWXY64453kOTFr+ehbsk+XLl+c+57Hleo7nuYvTr+mPG2xwyjm//yWXXHLKexywZFxhJW/k72u+zllowbS/5Yc1QOjJ6noOpwDLuNX1HG4VdCvKOnaH10oUbTnLgFPQranU+Wc6uhYry78PMnZj4SgW2woW8vcBr5t4fnM9Drk/8di14LmN5zhXb1buf8G0v7leQ/J/wl0CDP+H2W+WfUT+vmZMy9jWTue8yYVoatxHeIzx5tqHvJ5s2bKlW93Nm3VKi6JL8aLUs844BZNVF2kobZ2YKMBaHnw8YdG0/L333jPZkRzFo6hGE2pmMFAE4QjzW2+9FTS/Fr8zp1FwJIUHDr0I6dFCbyBOa7VglVNm9dHfhIEFp8jygOYUPE6xZgo9qwQGi/hjQf84CtqeMh3ZZ5y+Qp8h2iGwny6//HIzssRCUmPHjjX7LAVHu0LfVQYFDMIo5PDYpMhtVTFl9UoGZ/S95FRQXmR+8803eY5DFhzjsUtPIU5J8WadQIcXmQwOeN7ivXVO49QnTgVjkMAp/pyeQ+Hfep8X+B07dswN3Nhvr7zyitnvmB3OQI7TyqKiooz3FV/j1FvLLiXQ4b7A4IuBvSVcE07l5HmeF5Tjx483PpGcWsf985NPPjHFHKzpxYTP6ZNGYZwj6bTRefHFF00gwj7m1D1mI3lTDC5QilpQyLAuInmxyCwXitmu/UJBm8uwwJ07+DqzNTi1itvkfwT/LzgQSL85Fq3h/421jwYy3Bd4/qH1A61KXC1v6OVr/R/yOOVyvDBnPPLFF1+Yfc/1f4P9QvHNqh7uzTrC3ni7f7nuO1yHGUM85jhtlgIG3+f/LQdbggUWJLN8MXnRyHM8z2f8P7TgoDu9+yzx9s477zTHFwv1sqAba19w3YJqZdgVxgUDBw50K5rNnz/fXCNw8JLnetbE4P8gbZoo2k6cONH8B7M/7QqPSVorWQIE4zV+Z14fsU+s+J/9xPiBx+KHH35oxAnX45BxBONixrPerhPIsI8Yo1nCF4VrDgDzup3/dbxW4H7DAeCXX37ZxP5WwWHGELSKIbxOpeBjidyMxWgNQKGWxbXZb7yuYtxrB9hfVoE6xrXc9xjb8vi07BFoD8FjkOd6xv6Mc5l57Hr+onUE430mFTGO5f8Lz3O07aM4R02AA4EstGUHKKhatlwc/E5OTjb9Rn0jv2dyQbVqOEjA/xQOaHEf4/8xryd4fW8lM3BfZp8Hi6bWu3dvUwCP/vHc93hO5HHH2Z9WxnJ+3c2bdUqLco5gLbfnpzAo4wknP9YFJOHJnDsL/xgp/vAnpIk31+NUNP7hcid19YgJBhiEsTAZDzBmKzJ7NL9PJoVbihjWqAvFWhZDovBDwYdBrqtXbrDw/vvvG4GIwpg7uK9RMLL+OPnHywrrHDBgAEIvOvqB2RkKXvk9lDhtc8yYMbnPefzxAop/jhQUuS/16dMn930GbryYoihkeewUtk6g8+ijj5p9Kz8ccGJGPI8/Hrf5qVSpksnMIgzeGJjdcccd5iKWMNDleY9ZMwxQmKlb2iOdZcmbb75piqrkh6PGVlViirXff/+9ESo5iEIRl8GEK8z44HnNmirKC4pvv/3WXCzwMfuT/xelHWyUFZ72J/5nMpi1oIBI8Xv06NFut8NjlMc3hUfCizRumxe4vBhlv3HgxQ5Q1PEkTrgec4SBLwUNZr/zeOPAgOtAJ8W1HTt25PkvKWwdYW+83b/y7zscTJ4wYYIRcylWsnCPq693MMD4gAO99C63LjZ5AelqM8GMIp7zxo0bl/saB5f4nII3xUj+fxZWzd5ucP/hgCUFRFcfR9drBl5XMYazChl9/fXXZkYAr6sYo36RhP8AABESSURBVPGawXXAz25wv+H/Wn4Y67vapjG5g3ED90fug7feequJV12FW4rdFEm8XSeQ4T7C4nX5YQzG45P7Eq8Z3HH99dfnCtgUbvn/aF3fM55lbMKEGM5K4DUsr1ntUoOA53d3RcN5budxasX73CfZL7Q54LUnj0PXWRoUbnkNwf8H2l1Z2+Y1A69LaZ3AGR52yRz1tD/xe77xxhu5zynq8j+V53t3/ra8zuRAApOveN1EDYTXEBy84mcweYZ9bQ0sBIOmZg0o8P+S4jj/WzlDg7qGRX7dzZt1SgsJt0IIIYQQQgghhBBCCOFnBFdaoRBCCCGEEEIIIYQQQgQAEm6FEEIIIYQQQgghhBDCz5BwK4QQQgghhBBCCCGEEH6GhFshhBBCCCGEEEIIIYTwMyTcCiGEEEIIIYQQQgghhJ8h4VYIIYQQQgghhBBCCCH8DAm3QgghhBBCCCGEEEII4WdIuBVCBCxHjx7FL7/8grS0tCKtl5iYiNmzZ3t8Pz093WyX2y9rTpw4YT77+PHjJbK90vou+bdb1HYX53vOmzcPBw4cMI//+uuvIrf54MGDmDFjRpHXE0IIIYQoC5YuXYrVq1cXeb25c+di//79Ht//+++/zbZ9wcqVK7FixYoS215pfZf82y1qu4u6fEJCApYsWWIeb968GXv27Clii4FFixZh165dRV5PCBFYSLgVQgQs+/btw4MPPogjR44Uab3nnnsOGzdu9Pj+sWPHzHa5/bKGwiQ/Ozk5uUS2V1rfJf92i9ruoi4/adIkvPLKK7jtttvwySefmFtRqVKlCl577TXMmTOnyOsKIYQQQpQ248ePx7ffflukddauXYuRI0eaOKegOIrb9gVfffUVJkyYUGLbK63vkn+7RW13UZbPzs7GDTfcgDfeeAMvvvginnnmGezdu7fIbabY+8gjjxR5PSFEYCHhVggRVHAkfOHChRg+fDj8kYoVK+L8889HpUqVEEgUtd1FXd7hcODNN9/E66+/jh07dpgLlKISFhaGm266yQTJQgghhBB2gHHNddddZ2Irf6R9+/bo1KkTAo2itrsoy3Pm2UUXXWTE3rp16+KMM85A165di9zGSy65xCRRaEaZEPYmzNcNEEKIkoSj1cuXL0ePHj1Qo0aNU97nSDgFw/Lly+d5fcuWLdi+fTsaNmyIatWqud02M3sp/IaEhKB169aIiYnJfY+WAbNmzcKAAQOwe/dus60GDRqgadOmbqdGrVmzBhUqVEDnzp3NvQXbxW24vkZbAk6/YpDXsmVL1KxZs8A+KOi7cIT/t99+M49DQ0NRp04dtGrVyoiahVHQdvO3+/fff0ebNm1MMOrKlClTzOvVq1f3+nuyzVyOWdJs8xVXXIEWLVq4bWNBfUv427/wwgvmd+zYsWOh31kIIYQQwpfQHioiIsKIe/lhXEYrqZdffjnP66mpqWYafWRkpIlZC8rWZexcu3ZtE3sxxrWgbQA/t1GjRmY5brNbt26nxFaZmZkmrqIlVePGjdGkSZM87zPu4wC8K5zeT3sAxoOMQ8PDwz22sbDvsn79ehOjkqioKBMjxsXFedyet9t1bTe3v3PnTpx11ll5luHrTCg4++yzi/Q9ea3AfqVtGPuLbS5XrtwpbSisb/l7XXjhhfjyyy9NG4QQ9kTCrRDCNlDYu/nmm80I9gUXXHDK+xQA6W3L6UiuvPPOO2bqfZcuXYzwl19sJD/88IOZymQFXRQYH3vsMQwdOjSPbUPfvn1NkMYAmL5VI0aMwAMPPJC7nQ8//BDvvfeeEQ1pF5CSkoL3338/V0S0LASmTp1qslG5rWuvvRZVq1ZFrVq1sGnTJlxzzTXme7qjsO+SlZWFadOm5QaDDMQ5te7jjz92K3R7u9387eY0PwrZL730Uu4yq1atwn333Yc//vijSN/T2zYX1reE6zGwnjlzpoRbIYQQQvgtFAEZRzEGGjdunNtl/vzzTzOg7jqoz5iK0/A5KF+vXj1s3brVCIeMTS0OHz6Mu+++20y1p2hoiYtjxozJHZynbQDfZ0xF0ZBiIwfZ+Xr9+vXNMowJOZuJIiiXWbZsGQYOHIhXX301V4hkVinjNyseY4bwxIkTTYYp28FtMn5j/Jcfb74L2z59+nTzmAInhc6HHnrIZCF7wpvturabFmF33nmnyWx1XYYWXIxdKZoW5Xt602Zv+pb07NnT/CYnT548RVQXQtgEhxBCBCgbNmxwNG/e3JGYmOhYunSpo3v37o6PPvrI4/I7d+40y69fvz73tXXr1jlatmzpmD9/vnmemZnpuOOOO8xy3D7ZtGmTo2PHjo6VK1fmrrd48WJHu3btHLt3787TFq7LbZAFCxY4WrRo4VizZo15zs/lZ82cOTN3O4899pjjvPPOc2RkZJjnu3btMtvZvn27ef7qq686brrpptzlue1p06a5/X7efJf8cJmbb77Z8fzzz3vsN2+2m7/dkydPdnTp0sWRlpaWu50XX3zRcdVVV53293TXZm/61uLJJ5/M81lCCCGEEP7APffc43jqqadM7PLwww87Bg8e7Ni7d6/H5R955BHH3Xffnee1u+66y3HjjTc60tPTzXPGr4yRuG2LBx980Dy3YiTeM7biZ7u2heutWLHCPOf2uF3GgK7LDBs2zJGammqeb9682dG+fXvHjz/+mLvMyJEjHQ899JB5fOzYMRMbL1u2LPf9jRs3OrZu3er2+3nzXfKzZMkSR9u2bR0JCQkel/Fmu67tJgMHDnSMHTs293lKSoqjdevWjtmzZ5/293TXZm/6lnAdxtSunyWEsBfyuBVCBDzMor3llluMOT/vPcERbRIdHZ37Gm0DOD2Ko9WEU/HzZ7P++OOPZsoVp5Jx+V9//RWJiYlmVJu2DK4ww5bbILRraNeunbEHsD6rWbNm6N+/f+7yHL3nNKsNGza4bTMtCFjAKykpKbd955xzjttlvfkuFvw8Zg2wbbGxsSYb1hNF2a4FMwKYKctMEMLH3A6zoYv7PQtqc1H6ltPorH1BCCGEEMKfSEtLw1133YVt27aZKfDuMlEtGM8wrrFgViczOZlNak3Lp/dq9+7dc5ehJRVjKWZxMpuXMRRnQDGTlHUgXGG2aIcOHcxjbu/GG280s5aYBZqRkWHWZ+xLuwHCqfyDBg0yFgDuYHzH7XCWnGUrwPiNtgH58ea7uNqZse2M0ZmpykxaWii4oyjbdYUx7E8//ZT7nP3G7GR3FhbefM+C2lyUvrWuaxTbCmFfZJUghAh4nnvuOSPyWbYFnrCKNjBgtaDFAX1eXclvA8BpYgyi6dvqyplnnnlKBV9327KqxPKe07Hyv09/Kr7HKfz5YYDM6VT8fpzK1qtXL2Mp4M7WwJvvcvz4cSNu0xONn1e5cmUz9Y3T4DzhzXbd9TWnjTHAZZA5f/58HDp0yHjMuqOg7+lNm4vSt5xKFmjF34QQQggRHFBUpbjIGMq1noKneItxjcX+/fuNNZi7uI31GKxlOKX/77//Nv6srtASK/96+Z9TiGRsSKGRA/P54y/aKNAWy9NAPe0FWGx21KhRxjOXgqi7pARvvotlZ8ZrAQrR8fHxRjDlep5iW2+3mx+289133zUJAYxV+fvQms1K2CjK9yyszRRyve1b67pGsa0Q9kXCrRAi4KGH1MiRI/HBBx/gjjvu8LgcAzQGRhT9GCgR+lJxNNwV+lC5wkCIAuJbb71VaFs4eu4aCPK5NbrOUXlLxHV9n4Gap4JoHEUfPXq08dZikQh6WF155ZUmqGfBCFe8+S7//e9/TVDITFhrBJ/esF9//bXH7+TNdt1x8cUXG/80fkcGt7179y7W9/SmzUXpW6sghBBCCCGEv0GBj2IsY9ovvviiwIxb+ttycNw1ZnMXpzEmsnxROQBOOEDer1+/AtvibjuEsZVV2JYD8/nX8RTvEQ7i88ZZUSy89vDDD5u6EVdddVWe5bz5LhSRn3/+eTzxxBMYMmRI7mv0mc1fKKwo2/XU18zMZUxLwZyz7p566qkif0/Gt4W12eo/b/qWca3VPiGEPZFVghAi4OEULhbO+uijjzB27FiPy9HagEERzf1dMwsYeLmOyucfyWbBMWYl5LcTYIDnmuVArCJahNukCNm5c+fcz2LxAY70W1CYZADNkXt3WMtyGQbXFKiZAUxbgfx4811oRUBh2RJAGSByelxBeLNddzBrlhnJzCrg8hRyPVHQ9/Smzd72LYVcFpZzN61NCCGEEMLXcLbQv//9bxPfXn/99Sb70hOMZ1i01YpHGXc1b948t/AVYRapq7hLu6mWLVuaYlr5cY2jCKfyu2ahMv5i8gPFT8ZY/CzXmJCZwrS1yp+5a8FZVBykt6b+s/gWB/YZw+XHm+9CywZuz3VAngP9fN0T3my3IFH9559/NrEt2+9utlxh39ObNhelb3ld07Rp0zwF6oQQ9kIZt0IIW0BB9uOPPzZT6jlaftttt7ld7oorrjAVXe+//37znNP4WamXPldXX321EQvpaesKpzVxKhSDLlZ7pQcYR88ZPE2YMCFPBVdmgXLKEqc2MSBmIDV48ODcz2Kwxc9ilgOFULaZ3rz5LRcsKEjzs/r06WMyf7///nsTyLtWtLXw5rvQvuCzzz4zFwQcmac/F6fJefp8b7frDmZiMNPgzTffNBchnrx5C/ue3rTZ276dO3duoW0RQgghhPAlnH7PuIdxDGNPZt5ySn1+WE+Bg9sUVC+55BLz2kMPPWQ8cmmHQJH122+/PWU6/wsvvGDqFfA2YMAAE7syRqIQyfVdYznGVrQjo2UVPXc59d/i//7v/3Drrbeaaf0Ug5mNyjicMbM7mDHK7fEzGSMzppw1axbeeecdt8sX9l0YgzNR4NlnnzXxH2tQsI3WYL8nvOkjd/B6gBYIjFtvv/12j8sV9D29bbO3fcu4mNc3Qgj7Uo4VynzdCCGEKA7MQGDwxOlGljjHzFAGtwxE3Y2C0+z/wgsvxOOPP55byIqj4hRgGZA2aNDABGUUG5n16RoksxjDnDlzzIg4CwxcdtlluQUBaCVgjcJT0LW2xYDMmpJmjZZPmjTJZO/S/4oBHYM3CwqODKY5fcryseVnMthjNgUDN36u5debH2++y+LFi00hBH4PCt4URznSX9B0r8K2667dhEUWmAXNqWUssFDc7+lNmwvrW8Igmz5jBRWxE0IIIYTwBRyo5gC2JcRRtGO8Rauve++91ww+52fy5MkmRvvuu+9yX1uyZIkZZKetFjM9U1JSTFYpawpYUDD83//+h61bt6J69epm8Nx1RhI/j5m1HOxmjMZ6D4yh8xfxYqzHNjC2Y3YpLQ8sOwIyceJEM1tq+PDhuUW0+LmbNm0y0/6Z4MA40ROFfRfGqBQ+mQBAT2DGj0yeOO+88wosOFbYdvO324LiK+NhiuquiRRF+Z7etrmwvmXM+69//St3lpkQwp5IuBVCBB2c9kWBtyA/3KJiCbcMbDkFTfgftF3gxQ+LQVhVhIUQQgghAhmKhS+99JIRDEvSw98SbpkgIfwTir+0SGCyghDCvki4FUKIEkDCrRBCCCGEsAsSboUQwj+Qx60QQpQAUVFRxs+VU/SFEEIIIYQIZFhcl7YNQgghfIsyboUQQgghhBBCCCGEEMLPONXdXAghhBBCCCGEEEIIIYRPkXArhBBCCCGEEEIIIYQQfoaEWyGEEEIIIYQQQgghhPAzJNwKIYQQQgghhBBCCCGEnyHhVgghhBBCCCGEEEIIIfwMCbdCCCGEEEIIIYQQQgjhZ0i4FUIIIYQQQgghhBBCCD9Dwq0QQgghhBBCCCGEEEL4GRJuhRBCCCGEEEIIIYQQAv7F/wNrs0YzxjiCfQAAAABJRU5ErkJggg==">
            <a:extLst>
              <a:ext uri="{FF2B5EF4-FFF2-40B4-BE49-F238E27FC236}">
                <a16:creationId xmlns:a16="http://schemas.microsoft.com/office/drawing/2014/main" id="{B34B1D77-46F0-BF68-FDBC-2E890A305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74" y="1426464"/>
            <a:ext cx="11309448" cy="39867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04 · CLUSTERIZAÇÃO — BISECTING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Por que K = 5: um perfil a mais por 0,022 de silhueta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6035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WCSS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Queda WCSS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Silhueta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Davies-B.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Calinski-H.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Menor grupo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115,0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0,456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1,056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274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80,3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30,1%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0,483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0,954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546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62,2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22,5%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0,510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0,853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536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D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D2433"/>
                          </a:solidFill>
                          <a:latin typeface="Calibri"/>
                        </a:rPr>
                        <a:t>58,5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D2433"/>
                          </a:solidFill>
                          <a:latin typeface="Calibri"/>
                        </a:rPr>
                        <a:t>6,0%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D2433"/>
                          </a:solidFill>
                          <a:latin typeface="Calibri"/>
                        </a:rPr>
                        <a:t>0,488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D2433"/>
                          </a:solidFill>
                          <a:latin typeface="Calibri"/>
                        </a:rPr>
                        <a:t>0,897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D2433"/>
                          </a:solidFill>
                          <a:latin typeface="Calibri"/>
                        </a:rPr>
                        <a:t>438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D24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55,4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5,3%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0,474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0,995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377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51,5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7,0%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0,443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1,068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49,2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4,4%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0,451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1,006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314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D24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577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8A8983"/>
                </a:solidFill>
                <a:latin typeface="Calibri"/>
              </a:rPr>
              <a:t>Bisecting K-Means com critério de inércia média (notebook 02). Linha destacada: K escolhido.</a:t>
            </a:r>
          </a:p>
        </p:txBody>
      </p:sp>
      <p:sp>
        <p:nvSpPr>
          <p:cNvPr id="8" name="Oval 7"/>
          <p:cNvSpPr/>
          <p:nvPr/>
        </p:nvSpPr>
        <p:spPr>
          <a:xfrm>
            <a:off x="6995160" y="150876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52514E"/>
                </a:solidFill>
                <a:latin typeface="Calibri"/>
              </a:rPr>
              <a:t>Custo pequeno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A silhueta cai só 0,022 (de 0,510 para 0,488); no K-Means, K=5 daria 0,347.</a:t>
            </a:r>
          </a:p>
        </p:txBody>
      </p:sp>
      <p:sp>
        <p:nvSpPr>
          <p:cNvPr id="10" name="Oval 9"/>
          <p:cNvSpPr/>
          <p:nvPr/>
        </p:nvSpPr>
        <p:spPr>
          <a:xfrm>
            <a:off x="6995160" y="242316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37744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52514E"/>
                </a:solidFill>
                <a:latin typeface="Calibri"/>
              </a:rPr>
              <a:t>Um perfil novo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O 5º corte divide os 84 sem bens e sem despesas: D (37 anos, 0% com superior) × E (51 anos, 68% com superior).</a:t>
            </a:r>
          </a:p>
        </p:txBody>
      </p:sp>
      <p:sp>
        <p:nvSpPr>
          <p:cNvPr id="12" name="Oval 11"/>
          <p:cNvSpPr/>
          <p:nvPr/>
        </p:nvSpPr>
        <p:spPr>
          <a:xfrm>
            <a:off x="6995160" y="3337560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29184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52514E"/>
                </a:solidFill>
                <a:latin typeface="Calibri"/>
              </a:rPr>
              <a:t>Depois, só fragmentos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Com K=6 o corte parte C em 52 + 26; a silhueta cai para 0,474 e o DB sobe para 0,995.</a:t>
            </a:r>
          </a:p>
        </p:txBody>
      </p:sp>
      <p:sp>
        <p:nvSpPr>
          <p:cNvPr id="14" name="Oval 13"/>
          <p:cNvSpPr/>
          <p:nvPr/>
        </p:nvSpPr>
        <p:spPr>
          <a:xfrm>
            <a:off x="6995160" y="4251959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20624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52514E"/>
                </a:solidFill>
                <a:latin typeface="Calibri"/>
              </a:rPr>
              <a:t>Cotovelo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Quedas de 30,1% e 22,5% até K=4; depois, entre 4,4% e 7,0% por passo.</a:t>
            </a:r>
          </a:p>
        </p:txBody>
      </p:sp>
      <p:sp>
        <p:nvSpPr>
          <p:cNvPr id="16" name="Oval 15"/>
          <p:cNvSpPr/>
          <p:nvPr/>
        </p:nvSpPr>
        <p:spPr>
          <a:xfrm>
            <a:off x="6995160" y="5166359"/>
            <a:ext cx="411480" cy="4114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12064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52514E"/>
                </a:solidFill>
                <a:latin typeface="Calibri"/>
              </a:rPr>
              <a:t>Grupos úteis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O menor cluster tem 40 candidatos (5,8%); com K ≥ 6 surgem grupos de 26 ou menos.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05 ·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Quatro cortes, cinco perfis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05_arvore_bisec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22759"/>
            <a:ext cx="8138160" cy="3635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1508760"/>
            <a:ext cx="2926080" cy="102412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0" y="161848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EB6834"/>
                </a:solidFill>
                <a:latin typeface="Calibri"/>
              </a:rPr>
              <a:t>1º corte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quem tem recursos × quem não 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697480"/>
            <a:ext cx="2926080" cy="102412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280720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EB6834"/>
                </a:solidFill>
                <a:latin typeface="Calibri"/>
              </a:rPr>
              <a:t>2º corte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sem patrimônio: fez campanha × não fez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886200"/>
            <a:ext cx="2926080" cy="102412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399592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EB6834"/>
                </a:solidFill>
                <a:latin typeface="Calibri"/>
              </a:rPr>
              <a:t>3º corte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sem campanha: tem bens × não 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5074920"/>
            <a:ext cx="2926080" cy="1024128"/>
          </a:xfrm>
          <a:prstGeom prst="roundRect">
            <a:avLst>
              <a:gd name="adj" fmla="val 8000"/>
            </a:avLst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518464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EB6834"/>
                </a:solidFill>
                <a:latin typeface="Calibri"/>
              </a:rPr>
              <a:t>4º corte (K=5)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sem recursos: jovens e menos escolarizados × mais velhos e escolarizados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05 ·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Radar de K = 5: bens e despesas separam; idade e estudo refinam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06_radar_k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08" y="1234440"/>
            <a:ext cx="5147342" cy="51663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75320" y="4114800"/>
          <a:ext cx="3474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Idade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Estudo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Bens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Desp.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A78D6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0,46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0,93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0,72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4501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0,35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0,65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3875E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0,44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0,83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0,66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A3AA7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0,25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0,55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0,02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03A68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0,46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0,92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D2433"/>
                          </a:solidFill>
                          <a:latin typeface="Calibri"/>
                        </a:rPr>
                        <a:t>0,01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75320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1">
                <a:solidFill>
                  <a:srgbClr val="8A8983"/>
                </a:solidFill>
                <a:latin typeface="Calibri"/>
              </a:rPr>
              <a:t>Centróides na escala 0–1 (MinMax)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41732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160020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</a:rPr>
              <a:t>Leitura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2433"/>
                </a:solidFill>
                <a:latin typeface="Calibri"/>
              </a:rPr>
              <a:t>Bens e despesas: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definem A, B e C.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2433"/>
                </a:solidFill>
                <a:latin typeface="Calibri"/>
              </a:rPr>
              <a:t>Idade e estudo: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separam D (idade 0,25; estudo 0,55) de E (0,46; 0,92).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D2433"/>
                </a:solidFill>
                <a:latin typeface="Calibri"/>
              </a:rPr>
              <a:t>A, C e E têm idade parecida (cerca de 50 anos); D é o grupo mais jovem.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ta:image/png;base64,iVBORw0KGgoAAAANSUhEUgAABdIAAANzCAYAAACtZurWAAAAOnRFWHRTb2Z0d2FyZQBNYXRwbG90bGliIHZlcnNpb24zLjExLjEsIGh0dHBzOi8vbWF0cGxvdGxpYi5vcmcvctoD+AAAAAlwSFlzAAAPYQAAD2EBqD+naQABAABJREFUeJzsnQd0G9eZ/S/YeyfFLlKiumSrucvdsh3bKet1+j9xdlN3s9ldJ5tNj7Npm55s4vTYSZzYiUvsuNuJqyxXSbZkdVIiRUrsTSxiJ/A/90FDgRQ7gRkAvL9zcCQCIGcwAObOu+9793N5PB4PhBBCCCGEEEIIIYQQQggxLhHj3y2EEEIIIYQQQgghhBBCCBnpQgghhBBCCCGEEEIIIcQUqCJdCCGEEEIIIYQQQgghhJgEGelCCCGEEEIIIYQQQgghxCTISBdCCCGEEEIIIYQQQgghJkFGuhBCCCGEEEIIIYQQQggxCTLShRBCCCGEEEIIIYQQQohJkJEuhBBCCCGEEEIIIYQQQkyCjHQhZkB3dzd+9atfYe/evTpukzA4OGiO086dO3WchBBCOIq0e3pIu4UQQgQL0u7pIe0Wwn6iHNimECEt6N///veRkJCAVatWBWQb99xzD9rb20+7Pzc3F295y1vgNENDQ9i1axcqKirQ19dn9mvx4sVYsmTJyHMGBgbMcfrUpz6FtWvXBmQ/uO3bb78d5557Ls444ww4wR133IETJ07gH/7hH5Cdne3IPgghhJgcabe0+9e//jU8Hs/IZyImJsZcv5x99tnIyMjQV0gIIYIMabe0eyb+gxB2oop0IYKM3//+97jrrrvQ2dk56kbD1mmeeOIJbN68GTfddBNef/111NfX48EHH8T111+PG264AYcPH7ZtX3p6eoxZv23bNjjBwYMH8dWvftXsw9133+3IPgghhAgOpN3Brd0//OEP8Ze//GXkmurYsWPGXL/sssvMpLwQQoj5h7Q7+MfdweQ/CGGhinQhgpCSkhL813/9F4IJDkA///nP48YbbzT7xmoui8bGRnzmM59BTU2NmR2eD3DlQFpamqlm47H5l3/5F0REaG5SCCHmK9Lu4IbXJ2Ovrf71X/8V//u//2sG6Xl5eY7tmxBCCGeQdgcv8h9EsCIjXQg/QAP58ccfx6JFi3DFFVeE3TFta2vD17/+dWMa00wfy4IFC0wmemtr64R/g2b7Aw88gCuvvNJcsPjy29/+FkuXLsUFF1wwagnXCy+8gKNHj5oondWrV5vnkObmZtx5553m/6+88gqGh4fN/5ctW4aLL7545G/09/fjxRdfRHV1NeLi4nDOOeegtLR01JJB/h1ud/ny5Xj++edRWVmJSy65xLyXE8G/y5lwzoJffvnleM973mO2s2nTpmkeUSGEEE4j7Z5f2j0e/NtPPfWU2V8Z6UIIEfxIu+eHdvvDfxAiUMhIF2KObN++Hf/2b/9mBOFd73rXyP1//vOfzfLhqcjJycHb3va2UfdREJi/zeYhBQUFOP/885GYmOjYe/XYY4+ZJV3vfve7J3wOK9QnG4RyGRaXhFEoxwr6j3/8Y5Mzbgk6xf+9730vIiMjcd555xnB5tK7lStXmsoxt9uNrq4u81zmpFnHmQJusWPHDrMEjELOHPWOjg4jxh/84AfN/b7Ze+R73/se0tPTzevMz8+fdDDOSRNuk8ejqKjIXEgw3kVGuhBChAbS7vmn3ePxxhtvIDo6etRgXwghRHAi7Z4/2u0P/0GIQCEjXYg5wJneL37xi3jrW9+Kr3zlK4iKOvWVuvXWW82M+VSceeaZpxnpFLADBw4YgeLfoWh985vfNEuPnWDPnj3mX85O28Hvfvc7I7bPPPMM4uPjR+7nLLg1A83l2H/4wx/MTDhF2hfOnH/sYx/D+vXr8ZOf/GQkhua5557DRz7yEfM6fI/lH//4R/z85z8faSDLGfDJuPfee41pThOdUOC/8Y1vmN9T0zIhhAhupN3zU7tZJcfqNcLrKjYuq6qqMtdXahguhBDBjbR7fmm33f6DEDNBRroQs8Dj8eD//u//8Itf/AKf/OQn8eEPf/i057A6vb29fcq/NXYWlbO3a9euHfmZTUYpTpzN/etf/4qysjLb3zNr5jk5OdmW7fE1czKBou4r6FwiNh2shmL//d//PSrLneJP0Wa+ua+g83hbYk4mM8OPHDmCV1991VwAWLzlLW8xM+v333//aRcXQgghggNp9/zVbmvpunU9wxV/ZGBgAMePH5/BqxRCCGEn0u75qd12+w9CzAQZ6ULMgl/+8pdm9pXm6Zvf/OZxnzNbQ9XXRCeMdPnsZz9rOlPTSJ+sCSmFajrm/XhwFnnjxo3jPpaUlGT+pcByGVageec732mWczHXjZXfzEbj8rPpLtnet2+fWZ727LPPmhsvwHizBs80w32xMuCmAyNcuPKgvLwchw4dGrmfy9J4/GWkCyFEcCLtnr/aPVGzUea1/s///I8ZyF933XUz+ntCCCECj7R7fmq33f6DEDNBRroQs+Css87Cli1bTA46G2SMN1M6l4z0sVjZncw7m2pGeTrbHA8uc56IFStWGBOfcTNWnMlMocASq0GJBX9mRZgvnKX+29/+Zm6s/uZSbFbqc9LiO9/5DiIiIibdFv8mze7xJhU4Oz72/UpLS5vWa+DFAJcVXnbZZUbUfbnoootM8xZm9000ISGEEMI5pN3zU7sng9F8NNIffvhhGelCCBGESLvnp3b7w38QIlDISBdiFmzYsMFUHn/oQx/C+9//fpNjPnZZ0lwy0sfCDtpkqgzPD3zgAwgE11xzDX7wgx+YauyJctoposw4m2gfOWFAxnbWZmYpl1uPhTPPnCHnjbPat9xyi7nxWHG2fDJRZ/zNk08+iRtvvNGvuadPP/00WlpaTC4+8+LGwkYrPEYy0oUQIviQds9P7Z4M7o/L5RpppCaEECK4kHbPT+32h/8gRKCYfHpJCDEhbHxxxx13mJP3e97zntOqxZmRzuz0qW6shvI1zGnU+sJZ4x/+8IdGwCaKkQk0FGMuh2YV/s9+9rOR5VoWzBf993//95GmIONBgSsoKDBCa8G/c/vttyM6OnrUc3fu3DmSX0o4yOWstO/Mempqqvm98RqUvOMd70BCQgK+/e1vnzYTz0pyzmzPBgo5l6ONZ6JbVelPPPHErFcFCCGECCzS7vmn3ZNBzebr4VJ2IYQQwYm0e/5ptz/8ByEChSrShZgDzNv805/+hH/6p38yZvptt902EsMym6xsLoni79GsZS5Zb2+vEY/GxkZ885vfHNWYw25Yec8GJMyFf+ihh3DhhRciJSUFx44dMyKdmZlpBHsiOBFAMWRzVr5GXhC99tpr5rgxLsUXdvnmc1nZzb9J0X7kkUdw6aWXmsw2S+Svuuoq3Hvvveb/3Jdly5aZJWT8HQrupz71KbNUm7/DrHmuEODFAhu3Ll++fEavv66uDi+++KJ5ryeCRjqb0PL4vPe9753R3xdCCGEP0u75o91jK/G4ZN0qUqisrDRGOvdvvKbxQgghggdp9/zT7rn6D0IECpdn7NSOEGJCOKv6i1/8ApdffjnWrVs3cj+XTXGGl8uieMKfKktsMjgj/MILL6CiogL9/f0mE4wi5Y8sUH9Ac/+ll14yjTa5f6zO5pIuNiu14AD1xz/+sTGWx1Z57d+/3wg2jxGzxvm7fC4nCXhcLZqamoxxTaGkYLIJ6xlnnDHqb3E7zHPjYJj/5+NslOKb+85tcV+Z3bZw4UKzPM23ecl47+d48EKAgv2Wt7xlwiYpPJ3+6Ec/Mu/ZDTfcMMMjK4QQIhBIu+evdltwZZ9vpRz/Lo8Bt+1kkYIQQojxkXZLu2dyDSOEnchIF0IIIYQQQgghhBBCCCEmQRnpQgghhBBCCCGEEEIIIcQkyEgXQgghhBBCCCGEEEIIISZBRroQQgghhBBCCCGEEEIIMQky0oUQQgghhBBCCCGEEEKISZCRLoQQQgghhBBCCCGEEEJMgox0IYQQQgghhBBCCCGEEGISZKQLIYQQQgghhBBCCCGEEJMgI10IIYQQQgghhBBCCCGEmAQZ6UIIIYQQQgghhBBCCCHEJMhIF0IIIYQQQgghhBBCCCEmQUa6EEIIIYQQQgghhBBCCDEJMtKFEEIIIYQQQgghhBBCiEmQkS6EEEIIIYQQQgghhBBCTIKMdCGEEEIIIYQQQgghhBBiEmSkCyGEEEIIIYQQQgghhBCTEDXZg0KI8GL79u0YHBzEeeedN/JzbW2t+X90dDRSU1OxZMkS5OTkTPg3jh07hh07dmD9+vUoKio67fEnnngCfX19cLlciI2NRWZmJpYvX46kpKQJnzuWsrIyrFq1ao6vVgghhAh9pN1CCCFEaCHtFiJ8kZEuxDzijjvuQGdn54iRzp+3bduGc889F263G62trXjjjTeMif2lL30Jy5YtO+1v/PSnP8V9992Ht73tbfj2t7992uNf/epXkZ2dbcxwmvb19fU4ePAgrr76anz2s59Fenr6uM/1JTIyUka6EEIIIe0WQgghQg6Nu4UIX2SkCzHPoVn+ve99b+Tn7u5ufOELX8D73vc+3H///SgoKBj12OOPP46PfOQj+MMf/mDM9vEqza+55hrzHIvq6mp8/OMfx4c+9CHcfffdxiif6LlCCCGEkHYLIYQQ4YTG3UKEB8pIF0KMgsb4d77zHRP1ctttt4167NFHH0VWVhZuuukmE//y0EMPTevoLVy4EN/97nexZ88ePPnkkzriQgghhB+RdgshhBChhbRbiNBEFelCiNNgtvn5559vYl98ueeee/D2t78dERERuOGGG8zP7373u6d1BFesWIHc3FzzN6+66qqR+/fv348HHnhg1HPPOuss5Ofn650RQgghpom0WwghhAgtpN1ChB4y0oUQ48LK85deemnk5/LycmN6/+xnPzM//+M//iN+/OMf48CBA6aZ6HRg49H29vZR91VVVY2KeiGlpaUy0oUQQogZIu0WQgghQgtptxChhYx0IcS4nDhxAomJiSM/s/q8qKgIL7744qjIFt7PrPTp/s2EhIRR9ykjXQghhPAP0m4hhBAitJB2CxFaKCNdCDEur7/++kil+cDAAB588EFjnD///PMjN/7MnPT+/v4pj2JraytqamqmXb0uhBBCiJkh7RZCCCFCC2m3EKGFKtKFEKdx1113oaKiAl/84hfNz2wQ6vF4cMsttyAq6tRpw+12Y9OmTfjb3/6GN7/5zRMeyeHhYXzrW99CSkoKrrvuOh1xIYQQws9Iu4UQQojQQtotROghI12IeU5zc7Np9kmjnFXjjG5hQ9Cbb74Z55xzjnkO41suvvjiUSY6YdPRSy+91Dzua6RbDUSHhoZQX1+PJ554Ah0dHSZfPTU1ddTfGK/ZaEFBATZu3BjQ1y2EEEKEKtJuIYQQIrSQdgsRHshIF2IeQXO6t7d31M9s9MmYlujoaFMxzszy7373u8jIyDDP6evrQ3Z2Nt7+9reP+zdvuOEG/OlPf0JPT4/JP7/qqqvQ2dlp/mZMTIxpnvLv//7vxojnz774PteXM844Q0a6EEIIIe0WQgghQg6Nu4UIX1welqEKIYQQQgghhBBCCCGEEGJc1GxUCCGEEEIIIYQQQgghhJgEGelCCCGEEEIIIYQQQgghxCTISBdCCCGEEEIIIYQQQgghJkFGuhBCCCGEEEIIIYQQQggxCTLShRBCCCGEEEIIIYQQQohJkJEuhBBCCCGEEEIIIYQQQkyCjHQhhBBCCCGEEEIIIYQQYhJkpAshhBBCCCGEEEIIIYQQkyAjXQghhBBCCCGEEEIIIYSYBBnpQgghhBBCCCGEEEIIIcQkyEgXQgghhBBCCCGEEEIIISZBRroQQgghhBBCCCGEEEIIMQlRkz0ohBACaGlpwb333osHH3wQ8fHx+Mtf/jLlYent7cWPf/xjPPfcc3C5XLjsssvwb//2b4iNjdUhFUIIIQKMtFsIIYQILaTdIhRQRboQYtp4PB643W5zGx4exuDgoDGMh4aGzM+8n8/hLZy48cYbceLECZxzzjlobm6e1u985jOfwTPPPIOvfvWr+PKXv4xHH30UX/jCFwK+r0IIIYQv0m5ptxBCiNBC2i3tFsGLyxNujpcQYtrw608zfOxtYGDA3KyfaZLPBlZiR0ZGIjo6GjExMebG/4+9RUVFmecGK3z9fB2/+tWv8Mc//hFbtmyZ9PmHDh3Ctddei9tvv92Y74Sm+sc+9jE8+eSTKCoqsmnPhRBChBvS7ukh7RZCCBEsSLunh7RbhAKKdhEizGG1eE9Pj7mxetzXIGcFOaGJHRERYW40jC3zOyEhwUSR0AC3Hvd9Ln9/7969WLlypfnZd+ac/6cQ9vf3mxu3y6pu3seb9VxrLo9mOm+W4c5t88YoFf5tJ+HxmAmvvvqqOW4bN24cue+CCy4wr2Pbtm0y0oUQQkyKtHvuSLuFEELYibR77ki7RSggI12IMBXv7u5u8y8Ncxq4lklNgzwpKckYvTSp52JUW5Xq/LszFT0LGux9fX3G5LcMd+738ePHRwx37iv3OTExMWjM9clobGxEenr6qGPCY5SSkmIeE0IIISyk3cGBtFsIIcR0kXYHB9Ju4QQy0oUIcfFmlbd1432WaU7zOTs72xi6cXFxCFasCnSazGNhxTonBDo6Oszr6+zsNK8x2M117vd4Ewt8X2YbkyOEECL0kXZLu4UQQoQW0m5ptxC+yEgXIkSgOUsjmZXaNJZ9TXMa5QsWLEBaWlpQm+Yzha+PBruvyc7jQFOdx2Gsuc7XzmPAG811p3LXMzIy0N7ePuo+7h/3mY8JIYSYH0i7Tx0HabcQQohQQNp96jhIu4U4HRnpQgQxjGWhad7W1mYqs2kM0yzOyckJ+krzQJrrycnJ5jZW5Gle88YlXnyeZarTiLezWn3NmjVmtcCBAwewfPlyc9/OnTuN4X/GGWfYth9CCCHsR9p9OtJuIYQQwYy0+3Sk3UKMj4x0IYIIVi0zK5yVyzSEmR3OinNWVy9atMh2QzhURZ7GelNT04ixzuPKxzj5kJqaanLi/c3mzZvxgQ98AO9973uxfv16rFixAt///vfxf//3f2Z/fvjDH+LMM8/E6tWr/b5tIYQQziHtnh3SbiGEEE4h7Z4d0m4hZKQL4ThWDrhlnrNqmZnhNH5pnjP7W8xc4HNzc82Nx5dV/S0tLaitrUV1dbU5pqxUt6r6p4qA+eQnP4nt27ebqndOdFx00UXm/jvvvBOFhYXm/w0NDeZxa/u33HILPv3pT+Pss882961btw4//vGP9VYKIUQYIO32P9JuIYQQgUTa7X+k3WI+4vJwKk4IYSv82nV1daG5udmYvMTK92ZsC6vQQwE2zmRkydq1a8dtrhmM0Ahn9Auz1bmEj8c6MzMTWVlZE0blMFpnYGDgtPvZzNV63fybbHzKBqi+8H2mUT/2fiGEEKGFtNs5pN1CCCFmg7TbOaTdIlyRkS6EjdC4ZWU0DXRWnrMy2so7D8XIllA00n3he8AImNbWVmOU0wjn+8EJjVB8P4QQQvgfaXdwIe0WQggxFdLu4ELaLcIJGelC2DALzupnGrb8lxXQGRkZyMvLC5nK83A10sfOmB87dszE7BBWqbPiXNE6Qggx/5B2hwbSbiGEEBbS7tBA2i1CndB28YQIcpOZ1eeM/OAMLKudly5dOtIQUwQXNMyXLFlisvO4YsC68X1j1jqblE6VpS6EECK0kXaHFtJuIYQQ0u7QQtotQh0Z6UL4mb6+PmOeMy6EVdqMbWFDSkWFhAZ8nxYsWGBufC+PHj2Kqqoq817yPmaph3r1vRBCiNFIu0MbabcQQsw/pN2hjbRbhCoy0oXwYxOThoYG829sbCyKi4uN6SpCFzYftarUGftSX1+P2tpaE/vCKnW+z0IIIUITaXd4Iu0WQojwRdodnki7RSghI12IOcJMbZqsPT09JgZk+fLl5l8RXrPlnBjhjXE9nDDhv5woyc/PR3R0tNO7KIQQYgZIu8MfabcQQoQX0u7wR9otQgEZ6ULMYSkZDXQ2EKVxvnr1asTExOh4hjk0z3k7fvw4ampqTIQPI19Yoa7IFyGECG6k3fMTabcQQoQu0u75ibRbBCsy0oWYIQMDA6irqzMGKhtlsAI9ISFBx3GekZaWZm5sSMrPQ1NTE/Ly8pCTk6M8fCGECDKk3YJIu4UQInSQdgsi7RbBhox0IabJ0NCQycimccooj7KyMqSmpur4zXOys7NNZjrjXnhjo9mCggJzn8vlcnr3hBBiXiPtFuMh7RZCiOBF2i3GQ9otggUZ6UJMARtN0hylScrMroULFxqTVAgLfi6Ylc54l6NHj5obPy+FhYVmskWGuhBC2Iu0W0yFtFsIIYILabeYCmm3CAZkpAsxSUdwNpSsra01PzO2g0apEBNhTbSwIr26uhqVlZUm/qeoqAhJSUk6cEIIEWCk3WKmSLuFEMJZpN1ipki7hZPISBdiHDo6OkwjSS4rY5MLGqM8WQsxrRNrVBQWL15scv2OHDmC8vJyJCcno7i4GLGxsTqIQggRAKTdYi5Iu4UQwn6k3WIuSLuFE8hIF8KH4eFhY6C3t7ebSI7S0lIZ6GLWxMTEYOnSpejt7TXV6Xv37jXV6ZycUdyLEEL4B2m38CfSbiGECDzSbuFPpN3CTmSkC+EzG87qYULzU1Ecwl8w3mXVqlWmWS3z09va2lBSUqLqdCGEmCPSbhEopN1CCBEYpN0iUEi7hR3ISBfzHs6GW+Zmenq6ybhWjIsIBMzZZ6PaiooKVacLIcQckHYLu5B2CyGEf5B2C7uQdotAIiNdzGs6OztRVVVl/r9kyRKTYy3mD8zAP3ToECIjI1FWVjatuJWenh4T/8PfmU3mOZedsTq9rq4Ox44dMxM4jBDi/UIIIaZG2j2/kXYLIUToIe2e30i7RTghI11gvs+Gp6WlmZgNVaHPL9544w184hOfMOb54OCgifL52c9+ZpqETsRvfvMb/PSnP0VhYaFpJMrPz2c+8xnccMMNM95+fn6+yUpndfqePXuUnS6EEFMg7RbSbiGECC2k3ULaLcINl8fj8Ti9E0I4NRu+aNEiVaHP8cJo586dWLt2ranQDhVogm/evBkXX3wxvvrVr8LtduPjH/84amtr8eCDD477O4cPH8Y111yDH/zgB7j22mvNfbfddhu++93v4sUXXzSxQLOF1emNjY1ISEhQdboQQoyDtNt/SLul3UIIYQfSbv8h7ZZ2i+AhwukdEMJO8WEzUUZ5MMJlzZo1MtHnKVu3bkVDQwP+9V//1fzM1Qgf+9jHcPDgQezevXvc32H1OeGkgcX69euNCc+GOXOB1emMe+GSN1anNzc3Q3OcQggh7RbSbiGECDU07hYWGneLcETRLmJecOLECWOgE2WhzxyaxYw/4b80eC2Tl8avdXxZkc6YFCtnnD9HR0dPK3fcbvbt22diVXJzc0fuW716tdnX/fv3m0mWsWzYsAGXXnopvvzlL+N973ufee2//OUv8Y53vMNEA80V3+x0xg61t7ebFRNRUTpNCyHmJ9LuuSHtlnYLIYTdSLvnhrRb2i2CHzk0IuxpbW1FdXW1qT5n/rWy0EdXC9Agn+jGCBTLQCc8dpZZzptlpLPS3zLXLaPd+h0awTTUp7rZ+b6wgpzZ+L7Q+E9JScHx48fH/R3u33vf+17cfPPNJs6Fr52/c/311/t131idnpmZaarjafhz4ic+Pt6v2xBCiGBH2j0x0u5TSLuFECJ4kHZPjLT7FNJuEerISBdhC81cZl43NTWZymMalPMZGr+sEOjp6Rm50SinIT7W1I6LizMTD/w/K6X5r1VxPl5WGyupx2ak8/hPZND39vaO+pnQLGZGOG+JiYnm50CZ6zT3+/v7T7uf9/H1TtQk5SMf+Qh+/OMfm3x1cuedd+LGG2/EI488YpqF+ovY2FhTIV9eXm4q5DkBlJqa6re/L4QQwYq0ezTS7lNIu4UQIjiRdo9G2n0KabcIR2Ski7CEBi+bQ9I4no8mJM1pX8PcMs1p0FpGdXZ2tvn/eAa5P+DfpCk9kTHte+HFfbP2k9XijDfhe+hrrls3f5jrBQUFpmKC27AmAFiJ3tfXh7y8vHF/Z8uWLSYOxjLRyTvf+U5885vfNM1G+X9/wte5fPly1NTUmM8yJ4IWLFgQlFE5QgjhD6Td0u7JkHYLIUTwIe2Wdk+GtFuEIzLSRdhBM7SiosIYtCtWrDDV1fPhAqarq8uYwfx3ItM8GPO2aQxzX3lLT08fVc1uVdDTXK+vrzez+zTXOTHCG1/bbIzl8847z/zdl156CZs2bTL3PfXUU6by/qyzzhp53vbt202lOQ1s7huPLX+Px5K0tLSY/czIyECgKC4uNtujoc5tM49d8URCiHBD2i3tngpptxBCBBfSbmn3VEi7RTji8ljBxkKEAZ2dnaZ6l+b5smXLwtpwpFlOg5k3vm5WfjP3mznfNJjHRq0EAivaZe3atQHfnmWud3d3j7xumug01Pm6GUUzk3343Oc+ZyrJP/WpT5lIl+985zt4z3veg5tuumnkOfwM8Xkf+MAH0NbWhre85S0oKyvD+9//fmPq/+pXvzLm+v333z9irgcKmuiMeuH7zH2YqtJfCCFCBWm3tHu6SLuFECI4kHZLu6eLtFuEGzLSRVhAk5VZ6MxEZ6PGhQsXIhxfI7PFWXVOE5nGalJS0oiRzIpuu2M/7DTSxzseNNWt48GJBU4iWNXqUxnNNML/+Mc/4vnnnzeV+ldccQVuuOGGUcfw3e9+tzHN3/SmN5mf+Rm7/fbbjaHNSRpmw7/vfe87rXFpoOA+HzhwwPzLJqScMBFCiFBF2i3tlnYLIURoIe2Wdku7xXxHRroIedxut4m9YMUwYzgYYxJOFyo0zJnnTcOYxjXNYhq3NIudjmpx0kgfe5y4tJCGOo8TI2FYIc7jxImVcKre5ue9srLSVIFwwoivTwghQg1pt3NIu+1H2i2ECAek3c4h7bYfabeYCBnpIqRh1MehQ4dMNEc4VehSKGmeM4Obr40Z3FZ8STDF1QSLoI/3uaDRzMkVRq9w8oETLPw3XJp1siFrQ0MDcnJyTBOXcHldQojwR9rtLNJu55B2CyFCFWm3s0i7nUPaLcYSfJ0HhZgmrEA+ePCgMXBXr17teHW2P2AldXNzszGAWVFNk5RNLoPJpA4F2DSUldq8cSKCkxLV1dXmsaysLHML9Sr1/Px8M3HE6nRG/ixevDioJlmEEGI8pN1iIqTdQggRnEi7xURIu8V8RBXpIiShcUgTnU1Fly5dGtIGImNJ2tvbTf42XxfNXxq9gW5eGc4z4xMdZ0a/cKKCVeqcoOBERaivYuBEwf79+xEfH29WZYTyd0EIEd5Iu4MDabfzSLuFEKGCtDs4kHY7j7RbWMhIFyEHM8NpotMALSsrC1njkA0jaeryxlgOmro00IPdkA5VQR9bVcGJC1aq04C2Kv9DNR6FDV9oprPhLM30UHovhBDzA2l38CDtDg6k3UKIYEfaHTxIu4MDabcgMtJFyEWflJeXIykpyRiGoQhFkCYu8605GUATl41DQ9HEDVVB991/5tDz/eCEDONSmEUfiu8FJ2b27t1rltdxlUY4RB0JIcIDaXdwIe0OHqTdQohgRdodXEi7gwdpt5CRLkKG7u5uY6LTdGYedKjBaBFWn9fX15vKYTaIZPPQUCbUBd33vaGhzkYiofzeUNT37dtn3otly5bJTBdCOI60O/iQdgcX0m4hRLAh7Q4+pN3BhbR7fiMjXYQEzLSuqKgw8RulpaUIxQx0mrSsdKZJG6oV6OEq6OOtFuCqB75XoZBVP1bUGfPCz9fy5ctlpgshHEPaHZxIu4MPabcQIliQdgcn0u7gQ9o9f5GRLkJmRjzUTHQa6LwQOXbsmDnJMjaEjUTDwUAPV0G34PtFM52mOj93fO9YqR4quN1uE/PCuBpVpgshnEDaHbxIu4MTabcQwmmk3cGLtDs4kXbPT2Ski5BocJKSkhJScS7MlKutrTX7n5uba3LQQ7Up6nwUdN9mIlxJ0NbWZhrB5uXlmQzyUFpuxqx0munh+P4IIYITaXdwI+0OXqTdQginkHYHN9Lu4EXaPf+QkS6Clt7eXhw4cMBkVZeVlSFUTqJHjx7F8ePHjXm+YMGCsI7WCHdB9/0scmKEKwxYnc73NhRWFliNUFhNzwak4TiZI4QILqTdwY+0O7iRdgsh7EbaHfxIu4Mbaff8Qq6KCFoxZyV6YmJiyJjoNM9pWlLkVq1aZfK1w9lEn0/Ex8ebzyFvjHth1FBfXx+CHX7++Fns7+83PQa49EwIIQKFtFsEE9JuIYSYGmm3CCak3SIUkJEugjJOgyY6T6Ksog2F2ceqqiocOXIEhYWFJoImJibG6d0SAYCrI1auXGk+m2zo2djYaLLwg91MX7FihblIPnz4cNDvrxAiNJF2i2BF2i2EEOMj7RbBirRbBDMy0kVQwWpuVs4yh3rJkiUIpSp0Gqzh1kxUnA4jbIqLi0dVp7PiO5jhxA7NdDYQYvNbIYTwJ9JuEexIu4UQYjTSbhHsSLtFsCIjXQQNrJRlZTcrvNkcMZjznFWFLnxnydnUk6Z6MFd7Myd90aJFaG5uRmtrq9O7I4QIE6TdIpSQdgshhLRbhBbSbhFsKMBZBA319fWmmePy5cuDOlucVeg1NTVISEgwRqpiXOYv1ix5enq6ifZpb29HSUmJMa2DkdTUVOTl5aG6uhpxcXGmB4EQQswFabcINaTdQoj5jrRbhBrSbhFMBK9bKeYVNCAbGhqMCckK32Bd/nb06FFjpDMLXTEuwcmWLVvw0ksvmQmOzZs3Y/Xq1dP6/D3yyCPm/eVEzlve8hYj1jOdJa+trTXV6fx8ZGdnIxihkX7ixAkToaSJICHEXJB2C38h7Z4cabcQwl9Iu4W/kHZPjrQ7fAne7Awxb+jp6TGRLjk5OcjIyEAwN2JhFjbNx6ysLGWhByHf//738alPfcqY6Fzd8K53vQsPP/zwpL+zZ88evOlNb8Kzzz5rxG7Xrl246aabZj1LzmazdXV1purb7XYjGGHEC/sQHDp0KGj3UQgR3Ei7hb+Qdk8PabcQYq5Iu4W/kHZPD2l3eOLyBHOorwh7BgcHTQUvq9CXLl2KYIQNGg8fPoy0tDQUFRUFdXa7E1X6O3fuxNq1a2dUwR0IaFxfffXV+MlPfoIrrrjC3PfDH/4Qd999t5ktp3E83uePv7NhwwZ85zvfGbmfRnh+fv6cJl5oUvOYWOIZjDn/nERISUlBaWmpJoaEENNG2h3aSLvHR9othAhnpN2hjbR7fKTdwgnkCArHYCUsDWoa02VlZUH5TrS0tJgIDFYqs9pYJnrwwopy5tZfcsklI/cxoqWtrc2Y/eOxdetWHDt2DB/72MdG3T8XE52wIp4Nc5n1f+DAAVP9EWxw3zh51dHRYWKVhBBiOki7hT+Rds8MabcQYjZIu4U/kXbPDGl3+CEjXTgG86h7e3uN4RhsBjUXanD/aLIyqoOxMy6Xy+ndElNUpOfm5o5qVMsVBNZj47F3716z0oAG/C233GKq0hkFwxn/uWJVozMGiLFAzCMMNvi6OUHEhkM01IUQYiqk3cKfSLtnjrRbCDFTpN3Cn0i7Z460O7wILvdSzBuamprQ2tpqKtFZvRtskResQu/s7MSKFStM9IUIfvr6+pCYmDjqPn62GKvCx8aDTTfJBz7wAfO+873+wQ9+YH72h5nOyReuZmAT3SNHjhjDOtjStNg0l2Y/V4dwYksIISZC2i38jbR7dki7hRDTRdot/I20e3ZIu8OHU6WbQtgEm0Cy0ruwsBDJyclBddxpJNJQjIuLw/Llyx3P/Q4GaPzSZGauHm80mHkfb5bZzEkRHisax7yxKpwGNm92HcOkpCQz+TFW5LnPfGw8aLwfP37cVKJffPHF5r5rr73WZKw/88wzI1nrcyU9PR2xsbEjZvXChQuD6rPFqnTGz3ACic10fav6hRCCSLtDC2n33JF2CyFCHWl3aCHtnjvSbmEHckuErVjNIHiCY1xKMMFoi8rKSrNfzMieT1EuNJtppPLG98gyza0bYfwOjXGarJZhbhnpvrElzOCzjHdeDFi/53ujqczlTbz5K9ZnyZIl+POf/2yMajavJTSGyUQZ/FaDW06a+MbBcL9qa2vhT/g3uR1+xhj1EmyrMXgs2HyU+8djOZ8+/0KIyZF2ByfSbmm3tFsIMRHS7uBE2i3tlnaHPjLShW3QVGW8BY3U0tLSoDryNIK5b6wUzsjIwHwQb8aaWOY577PMbZq7rMi3TG8rHmU8w9vqHk5TeGyFtVWxPtaU542TFow5oeHObXG7rA7nvzTBZ1Otfdlll+Eb3/gG7r33Xrzvfe8z991xxx0mVmXVqlUjF5Rf//rX8da3vhUbNmzApk2bzKTOli1b8Pa3v908Z8eOHeaYWL/jT3gcaVLX1NQYM50iyuMeDPD9pdHP3Hg22c3OznZ6l4QQQYC0OziQdku7x0PaLYQYD2l3cCDtlnaPh7Q79JGRLmyD8R/d3d0mOiLY9ovGJhtDpqamItygmc3IE5rX/NfXNGe0zoIFC8z//R01YkW88GZViI+9wPO9uPA11/l85pWzESgN9ulURzNz7Oabb8ZXvvIVbN261SxlZEX6L3/5y5Hf5/buuusurFmzxhjpfN3f/va38clPfhJPPfWUOS401T/0oQ9h48aNCJRwcsKG8UaWmc7JhGCAkyb8PLAhEY9/sJj8QgjnkHY7g7Rb2j1dpN1CiLFIu51B2i3tni7S7tDG5Qm2znciLGElMCtdGZtSUFCAYIGVtzQNFy9eHFZNRXm8aUwz/5uGMk/UNKX5GmlM+8s0tyrS165d65e/aZnrnHDh/vNGE5wTHLxx/6faDiNZtm3bZl7z+eefb163BU36e+65B2effbZ5z30vNl9++WXzf1ais4o90PC1cl+5bZrp4002OAW/q5wA4X4p4kWI+Yu02/7jLe2Wds8WabcQwtISjbvtQ9qtcfdckHaHJjLShS2GISuDKTKrV68OmiPe3NxsqoIZSxJsTU9nAxtrtrW1mUE4q7zZYJPmM43kQFU8+9tIH++zY5nqnBTgZ4jvFV8TI1lCvSkmXx+r8PlZZOQLK+SD6QKcDYEV8SLE/ETabQ/S7tBD2i2ECFak3fYg7Q49pN3Cn4S2CyVCgmBcWmaZ6DQvaTiHKmzsyXx3VtYzHoXGOav++W+om8yE1dA0znmjqcuLFhrq/ExxJQHN9KysLPMehmLlNPfZamzLyaZgqUxnNX9ubq4iXoSYx0i7A4e0W9odCKTdQghpd+CQdku7A4G0OzQJfadNBDWsbKXhSVMuWHKgeYFhVaKHqone39+PpqYm81rYwJJmMqNKwsE8nwx+hvhZ4q23t9dMIBw+fNgcA1ZOMyc9EJXxgSYvL8/MkpeXl2PZsmVB8V3hPnGFA5vwKuJFiPmFtDswSLul3YFG2i3E/EXaHRik3dLuQCPtDj0U7SLm1dIyGoPV1dUhmYluxZzQQGfUCeNNaB47WY0d6GiXmVQH8LjwQodmOqvyQ61RppWZzs8ozfRg2H9FvAgx/5B2+/94SrtPR9odOKTdQsw/pN3+P57S7tORdgcOaXdoEd7lqyIolpaxeWMwwEgQmuiLFi0KOROdx5EmK6uwWX3OiQkuAxJARESEMc8zMjJMvA0NdeZ78z7GprBaPRTgZAgb8fpWpjv9HmupmRDzD2m3/5B2T4y0O3BIu4WYf0i7/Ye0e2Kk3YFD2h1aRDi9AyI84YxaTU2NieAIhspaGqxVVVUoKSkx+eGhAo3zQ4cOmcp+5oSvWbPGZIU7bbAGqxHN6nxOlDCPf2hoCHv27DETEPx/qLwGvr98r/m+s+I/GJaa8TvM7w9NfiFE+CLt9g/S7ukj7Q4M0m4h5g/Sbv8g7Z4+0u7AIO0OHWSkC79Ds42mG81eVgQ7zeDgoMnR5omJzSlD5YKI2dT79+83x5EV6DyWoZj/7QTMGGd8D7O9OYlCQ72hocEsRwuFC5Pi4mLzXvMzEAzmNZvy8uKSTXqFEOGJtHvuSLvnhrTbv0i7hQh/pN1zR9o9N6Td/kXaHRrISBcBWVpG85InAaehcUoTnRW+CxYsQLDDymk2QqXxywsjxuLQVA2VeJJgIzEx0XwOWaXO7HEeVzYoDQZzeqplc9znnp4eMwHgNJzM4UQUP5vMoRdChB/S7tkj7fYv0m7/IO0WIvyRds8eabd/kXb7B2l3aCAjXfhdkIIl0oVmKfeF/y5cuNCxhpzTgftoGb2s/F2+fDlKS0sdP4bhAN93ZuKvWLHCxKbU19fjwIED5jgHM5w8YVU9jXQ2U3Ua6zvNPgNCiPBC2j07pN2BQ9rtH6TdQoQv0u7ZIe0OHNJu/yDtDn5kpAu/QpMyKioqKCJd2HSys7PTmJGs8A1WGD1TWVmJo0ePmupzVlAnJCQ4vVthKexsSMoqf65QoJlOkzqYq9P5OWCuPyNeWJ3uNPwusQFPV1eX07sihPAj0u6ZI+22B2n33JF2CxGeSLtnjrTbHqTdc0faHdwEr7soQg5GPtC8ZtWv03R0dKCurs6cgIK5MSer0Pft22f+zwaZNHpFYOGkCj+jnLBgzEuwV6cz15+z0owo4sWf0xl4bOjKSZ9gnoAQQkwfaffMkXbbj7R79ki7hQg/pN0zR9ptP9Lu2SPtDm5kpAu/QeOa0Q9Om8F9fX2m2Smru5nVFYxYDVAZPVNUVGTysJWDbi80hDl5EQrV6TTS+VnmygWnG6ayQp7fsePHjzu6H0II/yDtnj7SbueRds8OabcQ4YW0e/pIu51H2j07pN3Bi4x04RdY0ctZXmaRO50Vd+jQIWRlZSEzMxPBCPOurSp0xoxw4iGY89vn0yz5wYMHjUkcbPDzwe/W8PCw49XgXOGRmppqGo8G68SDEGJ6SLunj7Q7eJB2zxxptxDhg7R7+ki7gwdp98yRdgcvMtKFX6CpFh8fb6p7nYKmHivRWRVfUFCAYIP7V1tba/KuVYUenLPkrPpmdTqz9YONyMhIlJWVmUpwmv5Owka4nLRqbW11dD+EEHND2j010u7gRdo9M6TdQoQH0u6pkXYHL9LumSHtDk5kpIs5YzUf5JfcSWgucoaeMSnBVuHNSmJGuXBWfPny5apCD9JZck5w8Mb3qrGxMegqrjkrzc83L6CdrJznseKKD04MOR01I4SYHdLuqZF2Bz/S7pkdK2m3EKGNtHtqpN3Bj7R7ZsdK2h18yEgXc4JGI6MmWMnLinQnG67QXGSOFCt3gwnuG6ucaTjSRHfyOPmbFxoP4+7eKhw70Y5wgUK1dOlSY6RXV1cHnVHMVR/cR+6bk0Y/I3G4fTYYFkKEFtLu+a3d4Yi0e3pIu4UIXaTdUyPtDi2k3dND2h18yEgXc6Kjo8NUgTtZjc6LCpqKzBpPSUlBMMFK/f3795v9Yg53VFQUwoG2vhP45b7nccfh7TjuGcA3d/0Ntx18EQ09HX7fFo3am266Ceeffz4uu+wyfO973zNNY6a1n21tuOKKK7Bu3boZxZBwYojGCT/b5eXl096eXTC6aGBgwFETm7PjCxYsQH19vYl5EUKEDtLu+anddiLtPh1ptxBiLki7J0faPXek3acj7RbjISNdzMnAZhU4B5qMnHCK5uZmM/vMmbpgEyI2PuV+MS4k2OJmZsPA8BAert6NL+94GK+1Hh312CtNR/CVHY/g1/u3ovbEcb8tzfvwhz9sInHuuOMOfPe738UDDzyAb33rW9P6/c9//vMoLi5GT0/PjCvL+ZletmyZydynoXLixAkEC1x1wdUXdXV1jka80Einod7Q0ODYPgghZoa0e/5pt91Iu8dH2i2EmC3S7smZD9r98q56PLfHg/LqwKwEl3aPj7RbjIeMdDFrWO3LSl0aek5BA505zQsXLgyaSBfrQoeVuqxky8rKQqjD1/R6y1FjlD9UsxuD7mFzf5QrAkmuKMRFeqv1GDSyvaUGX33tUfx83xbUdLfNabtbtmwxS+u/8Y1vmFUPGzZswH/8x3/grrvuMlUZk/G73/3OmMw33njjrLdPk5if75ycHFOZHkxNSK2IFzavdSrihceHs/S8eGWFvBAi+JF2zx/tdgpp98RIu4UQs0HaPb+12+324JXd3sKlx54/ggeerkDr8V6/bkPaPTHSbjEWGeliVrC6l6LFOBWnljxTOGkiBlOki5Vdx4sdVjOzK3WoU9/Tgf/b8wx+sf95tPZ7q7JdcOG8nFJ8avXluCa2CDetugxXFqxAYtSplQk7W4/hG68/jlv2PIuqzpZZbXvHjh2mopxmrcUFF1xgJnDeeOONCX9v7969+M1vfoNvf/vbc65I4O/n5uaayRo2IT1+3D/V9v6Ax4WxKk5GvPCCNTo62lTHCyGCG2n3/NFuJ5F2T460WwgxE6Td4zOftHtg0FvEZnH4aAduf3AvnnihCl0n/FPMJO2eHGm38EVGuph1nArFi0unnNwHVsEGS6QLj0dNTY2plKaYx8XFIZTpHRrAPZWvmery/cdPRXeUJmfi4ysvwpuKViEuKtrcFxMZhU25i3HTmsvxpsKVSI6OHXn+7vY6fGvX3/Cj3U+jomNmhi8NYlZd+2L9zPd/PBjB8slPfhJf/OIXTfSIv+CEDavTq6qqTNRMMMBVGDT4nY544WQHM+id3AchxNRIu8Nfu4MBaffkSLuFEDNB2n068027h92nrz7mguS9h1px23278dy2o+jtm1vPKmn35Ei7hS/qniRmJVzMRKahyWgHJyNdFi9eHBSRLpaYs8kJxdzJzPi54vZ48HJTFe6r2omuwVPGaGpMvDHJV6TlTljlHRMRifMWLMLG7IV4vfUottQfQufJv0EznrelqTm4tng1lqUumFa1+ETPmSjO5Ktf/SrWr1+Pq6++Gv4mPT3d7A/NdOvnYFhqxqpwrs7gZ8+JTMDU1FSTJd/Y2GiMfSFE8CHtDm/tDjak3ZMj7RZCTAdp9/jHZL5p99DwqV5fhblJWJCRiDfKmzE45DYm+459jdhd0YyzVudh/YocREfPzh+Rdk+OtFtYyEgXM4bRFlxi5hu34USkC438YIh0sZaVMT871MX8SFcr/nR4u/nXgjnoF+aW4YLcxcYonw7REZE4O7sE6zOLsavtmDHU2wd6zGPlHU0o3/00FiVnGUN9VXrehKLN93jXrl2j7rOqwcdWqlu89NJL5jP6+OOPjzROIZs3bzZ56TfddBPmQlpamslrp5nO/ebPTsPv4r59+0wlgT+r8GdCXl4eqqurzb44FfckhJgYaXf4anewIe2eHtJuIcRUSLtHM1+1e9jHSI+NjsQZS7OxrCQdb5S3YH9lqzHTBwbdeOH1Wry+vxHnnZmP1UuzEDmDokdp9/SQdgsit0PMGFajM4PMqWp05qCxIr2srAzB0uCEy8qWLl0asmLeOdCHvx7ZhRcbD5uGoRYr03JxVeFKpMcmzOrvRkVEYENWMdZmFmJ3Wx2eq68YyVmv7GrBT/Y+i4VJGcZQPyOj4DRDfe3atfjtb39rDGI2/CSvvPKKWYWwZs2acbf5xBNPmIkeX2P94x//OB566CG/mcw0z62YF66KcHpCh99FVoKzWz0jaJhZbje8+OJ3oaWlxWTKCyGCC2l3+Gl3sCLtnh7SbiHEVEi7TzGftXt4+NQIPTLCO16OjYnCWatzsXJxJnYeaEJFdbsZx/f0DeGpV2qwfV8jNq0rwNIS74rqqZB2Tw9ptzCfAx0GMRN6enrMzalsdBqkzIPmTGAwRLowyoIV0uwSzmiLUGPY7cZTtQfw5e0P4QUfEz0rLgk3LjkH71q8EakxcSaLnu97R2cnWttajbHd0NhgOqRbx4G3puZmczy6urvQ29eHwaEheOBBpCvCmOmfWHUJ3l66Dtlxp5rBVHe34Wf7tuDrrz+G11pqTLSMxaWXXmo+a9/4xjdM5QGX8f30pz/FtddeO1KRzu2tW7cOjz76qPk5Pj4eiYmJIzfrIovZef684GKsi9WAlLnswbDUjIa+9Z44AU18fg4mit0RQjiDtDu8tHu610ssOuju7javlbrN6yeaEKzmI4zI4426wUlQmhP8rLCh91zO49Lu6SPtFkJMhLR7NPNZu+vqT/Ur6+vvPTnubjLPcQ/3Yf2KDFx3SSmK85JHntfR1Y9HtlTijof3o7quY8ptS7unj7RbqCJdzAietGlUOtXQgwM9zgLSsAuGpXYcfIZqg5MDxxvw58M7UN9zSlhjIyJxfuZCLI/NwMDxHhysP2jMcBIdFYWo6CgT2xEZGeVdkXByoM0BN0159+CgMZWHhoYwNDQ4sgyNFzvxcXGIi4/Horg0rFh+IQ52NuHZ+go09naa5xw7cRy/3L8VeQmpuKZoFTZmFxvj+1e/+hW+9KUv4bzzzjOTJ29605tw8803j+wzt20N/O2Gn0NOMtBMX7FihSOV4OMtNWP1vhOfSW6f31F+N4IhP14I4UXaHT7aPR7WZLfvzdJE6pJ1o35Tuz2+2j08bH6fWbP8Hd6sSDQen4SEhFG36RQxSLtnhrRbCDEe0u5TzHft9s1IZ0H6sHsYw4Nun3H3kNHuBUlA+qJoVDe5cbzbq+VNbT34y98rUJSbjAs3FCI3K3Hc/ZF2zwxp9/zG5VHpoJgmPLG/8cYbJlKFzQXthuKwZ88eUwXsdC51b28vDhw4YOI9Qs0wbO07gXsqXzPNQH1ZHJWCVZFpSI1LGDG9+W9MbCyioiLhwulLwmie79+/35jI42WwuT1uDA0Ooa+/D329fejt6zX/0pynuZ6UlIgm1yBeaqtGnY+hT3Lik42hfnZOialo5wUCB/DjLU3jRQT/3njZ3Pzc9PX1GQMgEI04rcx+Vg9wmaFTkUcWzCnna160aJEj26+oqDDbX758uSPbF0KMRtodHtrtC8+xXKVFY8EywMea3vyZmjie7vH3d+7caZZxj2eMsyKOf5PHa+wAn3+X14C8DuOqr6l0Vdo9PaTdQghfpN2nkHYDR2o7cN+TFeZ4nLE0CxtW5k467u7p6UVdUzcqjvWip3/085YsTMOmdYVIT514QkLaLe0Wk6OKdDFtmpubzaDMCRPdmpWnWerU9n2FhVnUzNsOpYH4wPAQnji2H48f3Yshz6lZ7cyIOFySVYKyjDxjns+kKclURLgizOw2bynJp3LEaaRzUE4DIKbrBC5GFo6nZ2FXbzPq+rwV6k29Xfhd+ct4qHo3rilehXNzSiccsHMwPxE0CSZ7fK5wnzi5c/DgQRM9w/8HwrCfSdNPTjhxciGQr3siGMWzd+9ec9HL1StCCGeRdoe2dvtWrtE4Z/wKtdO6HmLz6+lWik8XTgjz7/PmW7hAY4fLzbkPPJbUOu6DdRtvInmy5tPS7lNIu4UQvki7vUi7J85In2rcnbtgAdat9qCipg2v729CT5+3Qr2i+jgOVR/HkoUpuGhjMVKSTjfUpd3TQ9o9f5GRLqZddUtBt3Kp7YaDNxrpzERz0qTkcaisrDSDVp44QwHu8+stR3H34R1oH+wduT8+IgqX5y3FxgWliLD5mDImJjUlxdw8yEdvTy/SuzqRMRSJeiThgLsTdQPd5rlsTvqHilfxcM0eXF24EhfkLkZ0hPP5+L7QPGDTUVY6MsvOX01NZwMvnhjtwtxbVsjbDasVab7wfFFcXGz79oUQp5B2h652W/tN05qRWaxAp/FMY5sTlk4sbecSc05C8MZ944QtzX3qDSuqGXeWlZVljnMoIO0+hbRbiOBB2n3qOEi7T60Ct4iMnP64nb7J0oWZWFyUjoNH2rHrQBP6BoZNX7Ty6k4cqtmDJUUJOH9dEdLTTuWrBzPS7lNIu51DRrqYFqx+4lLg/Px8R44YM9HY1CEp6VSTSidggy7OjNM0ddLQny7HOttwR/krqOxtH7kvAi6ck1OCS/OXIi7S2UxvwsgYayk6Deiinl6UtbfjUFsjDrg7UDfkbeTZ3t+DPx3ejkeP7sWVhStwUW4ZYiKD5xRGA5ufi/Ly8pGl706Rm5trqtJpvLABqd1YRn5hYaHjUTdCzGek3aGp3dxXmueckKSRQHOaE5P+bJg9V3gceU3GG3NCaapznzmhTMOfOkDTP9iPt7T7FNJuIYIDabcXafcphnwq0iMmqEifDK44X7koE0uK07D3UCv2HGrB4JAbbg9wsKYHh2sPoqwgFmetyUdWZoa0ewZo3D0/CR4XSgQ1rLKl0emEKcbsaQ7OmMPtJNyHtrY2bx64H5dQB4Lu/l7cc3AbXuk4ZmacLRYlZ5ncceaPByO+pjpFaVV7O8qbarFnoA21w15DvWOg12S8M6Jmc8EKXJy/JCgmBAjNA5odVVVVJiPcqWY4XI7H40czmxNQdhsZNH24bXaSd2oVixBC2h1q2s2CBa6+4406yMnIgJjRbDZ6suGov0117jOPOQ0Q6gBN9mA31KXdXqTdQgQHGndLu8cy7NNsdC4xrNFRkVi7PAfLSzOwq7wZB6ra4HZ7MDQMHKjpR1V9FRbnH8VZa4qRkZEu7Z4GGnfPT2Ski2nFqnBpMWNVnKCurs4sF3Yyb5nNKjkoZDUbYyuClaHhYTxZuRuPNx5Er8ebg0bSYuJNLMqKtNygFkRfoiIjkZ2VhaysTKxob8fB+qPYO9SOmkFv5EvXYD/uO7ITjx/bh80Fy02FfXyU89V6NI6Z/26Z6U4db1aW8UKcy+7tzgPmhBsNfG5fRroQziDtDh3tZnNPms9cfcf9ZFN3nkP9DavbUbkLeOAnWMs7tgCef/hPoGS137TKGlByhZllqDc0NBhD3YkVUtNF2i3tFiIYkHZLu6eqSJ9JtMtExMVG4Zw1eaZK/fUDTTh89Li5v38Q2Fc9hCMNlVhWFIv1q4sd7083GdJuabdTyEgXU8KBEAdGTgyAaEiyqnXVqlVwCg48jxw5Yip1gnUQyH18o7YK99bsQtPwqRz0KFcELswtw6YgzBWfSZV6RnoGzklLQ1lrGw41HcP+4U4cGfA2Je0ZGsAD1W/gb8f247KCZbg8fxkSo501TGgY7Nu3z1QV0lBwAprZzAJmRaAT1YCsSmTTURpZTlXmCzGfkXaHhnbzGofnaZ6z2ayaA9ZAnK89x8rhfv5eoP7wqPvd9/8IyMiDa/0VcK04Dy4/6SdfQ3Z2thnkclLVyrmlNgRrhrq0W9othNNIu6XdU1ek++8aITkxBhdtKMTqsizs2NeAY43egrWefuD1Q/04XFeBVSUJOHNVibR7EjTunn/ISBfTanZid0WrBauzOBBzspKMA0DmlTqVDz8VLSc68ef9L2N3b8uo+1em5Zoq9LTY4BywzhR2ImeFOj+LpS3NqGpuQGVkL8p72uCBB73Dg3ikZg+eqj2AS/KW4oqC5UiOiXNMTEtKSkxeOk0Rp1ZT0ECimc9YA7srw2meM3uW5w82xhNC2Ie0O/i1e2BgADU1NSZbnAYuz9EBMdCbj8K99S9A1e6Jn9RWD8+Tf4Bn631wnXExXGdeBldyut/0kBPK1CNWpjNDnT9zojfYVshJu6XdQjiJtFvaPa1mo3400i0yUuOw+bwSNLaewPa9DWhq8xbmdfYAL+3rwYGafTh7dTZWLi2Wdk+Axt3zC3WBE5PS29vr2ECUg0xGyjCiwilYTctoGVaJBVu2KmNcHizfga+89ugoEz07Lgk3LjkX71q8MWxM9LGRL7kLcnHm4mU4Ozobb0suxZlp+aaJKukbHjJxL5/f9gDurXzNZKo7AbNi+dllRaRZTu8ANCmsiBcn9oHGEE18p16/EPMVaXfwajfPh62trWbVEveNK+44+PK3qew53oThR38F9x/+Z7SJnpoNXPJu7N/4LvMvFpSceqzvBDyvPgr3rf9tftfTcMRv+8OVjaxGX7ZsmanC379/v1l1GGxIu6XdQjiFtFvaPa1mo5GBs/AWZCbimgsX4fJzipGWfKqQsb0beOLlZvz54Z1oaPLGwAQT0m5pt92oIl1MCgc70dHRZgBkNzT/WM3rVDW6b6RLILJK58KelmO4s+JVtA71jdwXGxmFy/KW4uycEkS6wn+OLCE+HosXL0JzUzNiWltxZt4Z2DfYjtdbj2LY48GAexh/rz2AZ+srTLTNVYUrkW7zxAInoGgWsAqP1XdOQDObsQGseuRFhp3QxOdr58AgWJfyCxGOSLuDU7uZfVtdXW3Ox1y1xNgtf+M50QHPyw/Bs/s5hq+feiAhFa71lwOL18LjcQH79wPFKxBRuhqellp49r0IVL3h/R3eDrwC94FXgPwyRKzfDJSth8sPDefZ2JONX7niMFir06Xd0m4hnEDaPX+126lol/GgHhfnpaAwN9lkp7++vwknegfNY/Vtw/jTY4dQVpSIS89djKQE5/uTWUi7pd12IiNdTCnoTmSLWo232CDM6WXhXHIdLLT0dePP5duwu6N+1P3rM4tMlEmSw9ngTsS9sKFZckqKMYvXRKVg04qL8XLLEWxvrsGQx41B9zCeqSvHlvpDuGDBIlxVtBJZcUm2LhM/ePCguehyIuKFFY+8KOXn2W4jnRNwnIhjw1MZ6ULYh7Q7uLSbcAB++PBhcx5mFbq/CxQ8/T3wbH8cnh1/B4YGTj0QmwDXmZcAy86GKyra+1yfATlxZRXAddHb4dl4FTw0z3nrP7maq+4Q3HWHgJRMuNZdDtfqC+Ga46Q0tZHvD3WRBQvd3d1YtGiRI0Ub4yHtlnYL4QTS7vmn3bNqNhpgI90iwuXCkuJ0lBak4mBVG3YdbEb/4DC4JxVHT6Cy9g1sWLUAZ63OR2yM86v/pN3SbjsJ/7JVMadolf7+fmNU2g2XPTNf2W7jb2ykC01QnpSdZmB4CA9V78bN2x8eZaIXJKTho8s34W0lZ847E31sdToH4ZGREWg5Vo/Lcspw05rLjHFuNVkd9rixpeEQvrT9Idxe/jKaerts2TdW3zkd8cLt08zmd9puOBHHgYEQwh6k3cGj3b7XNOyZweup0tJSvw7EPYMDcG9/HO5bPwvPK4+cMtFpmq+9FK4bPgXXqgtGTPTJcCWkmOpz1zs+A9f5b/PGwFh0tsLz3N1w/+q/4H7mThMd4w99XL58uZnwZXU6Vy8FC9JuabcQdiLtnl/aHcwV6WOJiozAqrIs3HDlUpy5NBuRkd7tc5de3d2IW//yBl7b14ihMZP0TiDtlnbbRXCUfoighPnkFAw2DbQTmo2snqVoObXU99ixYyYSwykj3/dYMKrknsrX0NZ/Kks0MSoGVxaswJmZhWa2WPCiIsI0tWTUS2VlpcliZZzLpgWL8WJTFV5pqjJxL26PBy80VuLFxkqcnV2Ca4pXITchNeBLzZiHy1UWbJ5rN4xHoqHNxp92V3rwe8zXzQECJ8eEEIFF2u28dvtqOFdLWSvs/LnCz+MehmfvC/C89ADQ7ZNXShNi2TmmCt0VP7vjYEz3ZWcBSzeainTP3heB2nLvg4P98Lz+FDyvP21iYkzsS+HSWV+v0UTnRLgV9UKzwoll8+Mh7ZZ2C2EX0u75od2zZdjtU5F+0si2m5joSKxfuQDLF2WY6vSDR9gHC+gbGMaz244aM/38dQVYXpqBCJvNfl+k3dJuO5CRLiaEVaSc1XNiCRWzyDIyMuAEXV1d5rZ69Wo4Sd2JDvz58HYc7GgcuY8NNc/NKcUl+UsQFzl1ddl8wwVvc83YuDgzGZKTswBZmZnYXLDcVKe/3FRlbmxIysuRV5qP4NXmI1ifVYxri1ejIDEwg3dWV1DUrQkaJ6otaOAz34/7YecEFSfiOCHHAYITkwhCzDek3c5qt8Xw8LCZ1OUkIquu/VWUYFY2VeyA+4X7gPZT1weGxeu88SvJ6X7ZltGKgiVwFSwxFegmR/3Q68DwEPcEOPw63IdfB7KL4dqwGa6lZ02r8n287VCbGH9WVVVl/u/EasixSLul3ULYhbQ7vLV7rvhWeztdtZ8QF43zzszHqsWZeG1/I6pqO839nScG8PjWKmzf04BNGwpMJIwTRZHSbmm3HchIFxOKCM3ksrIy248QZ39pojshEtYMNAdwzHZ2gt6hARPjwlxvt7F7vSxKzsS1RauRHR9cDViCkdSUFMTELEL1kSNwDw8jOycbCVExuCx/Gc5fsAivNB0xFem9w4PmCO9oqTG3MzMKcd3C1ShO8v8kTnp6OhobG81qCzZXsxtWU/Bihoa23dV+zEfnAEFGuhCBRdrtnHaPfR8OHTpk/m9Fl/gDT80+uJ+/F2isHv1A0XK4GMmSEThtcaXlmLgXz/orgfJt8Ox7CbAi0ppr4Hn8Vni23APX2svgOuMSuBKSZ6WTXEFVUVFhjmEwNCGVdku7hQg00u7w1m5/MOxARvpUpCTF4pKzirFmSS9e3V2HhlZvPFvL8V789alDKMhJwoUbCpGfY/9KA2m3tDvQyEgX49LZ2WmM7NTUwEZejCdgNNyWLVvmyDtDk9GpXHhGjrzUWIn7j+xE12D/yP1JEdG4tmQNVqY5P6AMJeLj4lBSWoIjVd5s8pwFOaZinZX8F+ctMZX925qr8ULjYZw4mSm7q+2Yua1JzzcV6qUpWX7bH753jFVhlQObf9qds8ftsxqeE1V2G+lcJcALU36/g+miVIhwQ9rtfBUzz3M0gnkNxWIEfxQFeBqOwL31XqBm/+gHchbCtfEquBYshF244hKAMy4GVm8CqvaYeBm01nof7OmE58W/wvPKw3CtOA+u9VfAlVU444nXpUuXmlxaarfdq6jGIu2WdgsRaKTd4andgapIdyraZSIy0+LxpgsXo7quDa+8UYcTfd77a5u68efHDmBRYSo2rS9EVnq8bfsk7ZZ2BxoZ6WJc2JjQiaVMbW1tZrscSDlVjc4KKLvNvqrOFvzp8HZUd7eN3BcJF85IyMY1S9chNgxjXBjhU15RYQzvJUuXmozzqahvqDdV3ZzoyMvNm/L5cbFxKF1UiqrKKiOoNHQtYiOjsCl3Mc7OKcGO5mpsbTw8MoGxu73O3Fak5RpDfUnqqd+ba1U4P9sNDQ0mw91uaODv2bPH9rxyTsjxgpQDBVYICCECg7Q7Miiq2XgNwVzVuQ7EPW0N3giXih2jH0hfANeGq+aUTT5bTnSfMGZDXHwcli5ZA9eiM4CmGq+hXrOPF1Mm+sWz53lzQ/FKtBavReVwAgoKC00vk6lgxAsLKg4ePDgS++Ik0m5ptxCBRNodXtodjM1Gu09Qu8sRHxePJUuXIDIi0u/j7oX5GViQmYAduypxrM2Fnr5hc3/lsQ5U1XZg5aJMnLc231Sy24G0W9odSGSki3ENZQq6EwMXVsvS7HOqM7fb7bZ1+50DvbjvyC5Tie7LwugUnJ2Yi1WLyhDhCj4xnytbtmzBD37wA2Mmd3R2IiYmGl//+tcnFGk2IPv5L36OjuMdJqaFVd1ccveFz39hykmX2JjYkcr0iMhIk5nuS0xEJM5bsAgbsxeaxq5b6g+hc9A7lb7/eIO5LUnJMYb68rS5N8BlVTor7Wjq2918k9tLTk42n3VOGNkJJ8h4XpGRLkRgkHY7c+1gweuHw4cPG42Y60Dc09UGz0sPes1pz6nBM5LSTYQLFq2By4Frgy3PjdXuGHz9619DXt5CUxXv6WqHZ/9LQPl205TUULMPmTX7MNDnwR921+JoUiG+88P/m7KpHDXDqkynueF0Zrq0W5PgQgQCaXf4aHcgGfKJdplpI8/nfMbdnZ0dJ7V75uPuz3/+C0icYtzNIrYNZy5CRmUVeoZTUHGsB719Q2aOfe/hVhyoasPa5Tk4e00e4uMCb0VKu6XdgSI4zxTC8Uphirrdecasku3p6XHEaKOI1tXVmckDOwR02O3Gk7UH8KXtD48y0bPjknBdxhJcklSAlaXhaaK3trXi+9//Pt5/4/txyy234LbbbjOZ+D/84Q8n/J3jHR3413/5V/zud7/Dd7/zXdx6622mcSd/dzpQ1BeWlKCpqRGdXd6GKGOJjojE2dkl+M/Vl+GtC89AesypC4WKzib8aM/T+M6uv2NPW5232dssYQNfVmjX19fDCXisGZ/kxHZppM/l2AkhJkba7Zxe8rx29OhRU9U2l4G4p7cb7ufuhvu2z3mruS0TPS4JrnPfDNf1/wnX4jMdMdE5ATui3T+9Bb812p0+SrvZ5DTi7Gvgeudn4DrnWvRFn9LRvDgX/vusQnxz8TBe+8mXzGTBdCrTlyxZYq7PqB9OIu2WdgsRCKTdoa/ddlak00KfSVGXNe6+8cb346dm3P1b77j7B5ONu4/jX0aNu2/FsaMzG3eziC0+shtXnpuLDSsXICbae2yH3R7s2NeIW+97w8TADA56q9YDhbRb2h0ogvdsIRyDgxXOVNotJtwuK5Tszo62KuG5XQpLoNnf3oCvvvYo7ql8DX3DgyMxI9cUrcI7c1chpd+D4qLiaUWdhCJbn99qLgDefN2bzc/RUVH4x+v/Ebt27UJTc/O4v3PuOeeMys1PS03Fhg0bcLC8fNrbZYRMQUGhMeD7+k+Gt41DVEQENmQV499XX4LrS9YiMzZx5LHKrhb8ZO+z+N+dT2BX67FZm8KcsKEpwTx+u6GJ39vbayau7IQTczxeHDAIIfyPtNs5mpubzfHnQHw20XCewX64X3kY7ls/A8+OJ0w0iiE61pszfsOn4FpxLlyRUUGj3VHRp7S7uWm0dru43yvPR/x7PgfXZe8FFpSMPJYcE4kLYjvh/s1nMPzIL+GpH70ibyxcdVZSUoKqqiqjXU4i7RZC+Btpd+hqt53QgCYznUd//qR2X+cz7r6e2v0Gx91N4/7Oueeci+Wjxt1p2LBxA8rLD057u4yQYTV4Q30dli5Mxg2bl2H1kqyRWJqBQTdeeL0Ot963GzsPNJkiw0Ah7RaBQNEu4jRYrWp3M0Kr0acT26W5x/wvnuwDmTXa0tdtzPOdrcdG3b8hqwiX5y+noqCmpgYlC0uConN5oODysMKiolGvcdHixeZfDpRzprESwu1xY9++/Vi0aNGMtp2akoL+vixUV9eYi6aoSS6aIl0RWJtZiDMyCrC3vQ7P1legua/bPMYs+5/t24LCxDRcU7Qa67KKEDGDzw6XrPOz3tTUNK28WH/CCSNOWPHC0TczPtBwYo4TdNaEmRDCv0i7nYG9H9hfhZXTM43r8jBLfPcWeF5+yDTqHIHZpSvPg2vNxd7mnkGi3dSr6JhT2k0dtbSby7/H4mJBwMKVcC1cCU9rnYmqGap4HVEcSLPa/uCrcB98FchbjIgNm4Gy9XCNk9vKlYo00Zlhu2LFCkcKLoi0W9othL+RdoeedjvZbHSm8eiWdsf4jLsXL17kM+7Omea4e98sxt2p6OvrR3V1tbleOGtVrslJp3FeUdNu4l56+obw9Cs1pkr9gnUFWFaS7nc/Rtot7Q4E4VnyKmYNK2RZqWp3FiWXVHV1dTlm4NNMD1SkzMDwEB6sfgNf2fHIKBO9ICENH12+CW9deCZiPC6ztIxZZU40WrUTNjtJSUkedZ/1c3e316ieij/+8Y+or6vDu971zhlvn4P9+Pg4c7w9mLqinAb5mowCfHzlxXjnog3IjU8ZeezYieP41YGt+Oprj+DVpiPmQmO60MTmSgh+9u2G3zN+7u2GTV+cXp4vRDgi7XbuuFuD1JlMEHo8brj3vwz3774Az9N3nDLROXhcutFUoEec9aagMdEJVxMlp5zSP5I8A+12Zebjj0f68OHHD6KzZD0Q6/Pa6g/D/fAv4L71s3Bvfxyevp7Tfp99PXh9xOPtZESYtFsI4S+k3aGl3U4yfDIjfaYe84kT3eOMu1NmPO6uq6vHu971rlloJsfd8SPj7sT4aGOYv+2yJViYd+qaoqOrH49uqcQdD+/HkVqvN+NPpN3C36giXZw2UOLSJrtnZjkrHBsba252w6pgxk74e/aTAsDmlaxCb+s/NShMjIrBlYUrcGZGoTFpKSpHjx015uZ8aMTIJWXtfaMjTThbbT02FQ8+9BDuuutufPnLXzYRODPFBZeJeOEFFJejT7cqm+/VqvQ8rEzLxcGOJjxbX466Hq8ZXd/TiVsPvoiHanabiB5mrU8VzcMLN86QM+LFzspwK96FVRg08e1cypiZmWmWUdq9XSHCHWm3/VDjqSM8r023SbkZGFbthnvrX4CW0avTsHCVaSTqSrO3P810YZRLf/voWLT+k9o9nQrxhx58CHffdZfR7rRzzoZnaBCo3OVtqHr85PJyNlndco9ptOpatQmudZfDle4t7OA1GiNe2ASNPUa4VNsJpN3SbiH8hbQ7NLQ7mDLSZ1qRHh0Vjfa+0b2x+vq8Wh4VNfUK+AcfehB3ndTu2Y+7C8wxb2pqxoKTY9605Fhcdk4xmtt7sH1vIxpavNGfTW09uO/JChTlJuPCDYXIzToVsToXpN3Sbn8jI12cJuhOxIqwSpXmnt1wqTBnY2e6VGkq6k4cx58P78DBjsaR+yLgwrkLSnFJ3hLERZ46xs3NLXC7PbavAnCK3Nxc7Nu/b9R9LS3efNUFubmT/u5DDz+MX/7yl/jiF76Ac84+e9b7QJObncsp6qywY376dOFgfnnaAixLzcGhzmYT+XL0hPcCpam3C78rfxkPVe/Gm4pW4bwFpYgaZ5m6Bd9zNlELxETOZNDA56QVJ7DsnLxhRQJfJ793oVIBIkQoIO22n4aGBtOonAPE6eCpOwT38/cCtRWjH8hbDNeGK+HKLkQwk7sg1yzt9qX5pHZT1yfjoYe82v2FL34BZ5/j1W4XB/BLNwJLNpiKdGOoHzvZ92SwH56dT8Gz82lg0ZmIWL8ZKFpmJmBLS0uNmc7iA6dW8Em7hRD+QNod/NodLAzNsiJ9wbjj7hbzb27u5N7DQw8/dHLc/UWcc/Y5mC2REZEj425WxzM/3SI7PQFXX1CCuqZubN/XiLYOr8l/tKELdz6yH0sWpmHTukKkp05/rD4R0m7hTxTtIk4TdLsHJpwZdiofnUJCI9FfeZs9QwO46/AOfO21x0aZ6IuTs/DxlRfh6sKVo0x0Nr1khS7FPGKm3UNClA0bN5pM+kOHD41qYsb3oayszPzMeKGXX3kFbe1tI8955NFHvAPxL3we55133pz3g+Z5dlYWamuPzSiSxYKG8JLUHHxo2fn4wNJzUZJ0qlFta/8J/PHQq/jitofwTF05Bt3jx7fwMz80NDTtpXX+hBNXdse7MCed37WentOX7QshZo+02144GciqaFZIT9WY3dNyDMN//Qncf/7f0SZ6ZgFcV/0TIq7+56A30clGS7sPTa7dr7z8CtrafLT7Ea92f34C7aaWuvLLELH5Rriu/09g+dnAyHWSB6jcCfe934X7D1+Be+9WxMdEG+P+yJEjxgxxAmm3EMIfSLuDV7uDDasZ50wr0jeOM+5+ftxx98vjavcXPv8FP42745GVlW1WRI8dd/M6oGBBMt5yyWJcvLEQSQmnvJKK6uP43QN78PeXjqC7Z2BO+yDtFv4ktM4gIuCGNgXGys2yC5qIPIEmJvpn6c504QCMsRr+WNbl9niwteEwvrT9ITxddxDuk9nbaTHxePfijXj/knOQHT86n4yRLhSTzMwMJMSfmpkNd9asXo0Lzr8AX//a1/HY44+b3LW777kHH/rgh0biUDo6O3HzzV/Gnj17zc/PPfccfvKTn2Dz5isQERFpTHbeXt+5c077kpXtfe9bmr0z87OBn91FyVn452Xn44PLzjeTJhbtAz348+Ht+MKrD+DJ2gMmL98XXsRZcSd2w4sJrgSxO2uWlfAcOAgh/IO02/7jTROXkVyTXbd4OlrgfvxWuG//ijGDR0jJguvSd8P15n8xBnKosHrNalxwwQX4+te/jscf82r3PSe1OyLSq92dHZ348s1fxt5xtJsVaTTZedv5+vja7UrNRsR5b4Xrnf8N14argASf69GWY/A88Vu4f/1pLDjyKiL7e0xloRNIu4UQc0XaHZzaHYxw5bo1XJupkT563P3YSe2+Gx80427vqumOzg7cfPPN2LN3zyntvoXavdnoO0123l7f+fqcXkf2yXE3V+NPOKYuTMP1VyzBuWfkIS7Gu3987bvLW3Dbfbvx/I5j6OsfPZ6eLtJu4U8U7SJG4GwkzWW7I1ZYFctt2hltQWgisjp2rhETVZ0t+NPh7ajuPjWLG+WKwEV5ZbhgwWJETxDtYUW62J2PHQx87vOfx6OPPoodO3YgLi4WX//a17B+/fqRx5nRzyVkGRneKu+u7i6cfdbZaG1pxaOPPDLyvJTUFKxbu3bW+8FVAFZe+kwjXsZjYVIGblx6rol6ea6uAuWd3tzXjsE+k5X/+NG92FywAhcz3udkLh0ncvbv328q0/21MmI6WBeRNLXtjFnhtnwrHoQQc0Pa7cyy8Ikyuj09nfC88jA8u54FfFcjJaTAte4yoGw9XJNEfgUzn//cKe2OjYvF16jdGybR7q5T2s3qNl/tXrtuYu12sRHpGRcBqy8Ajuz1xr5YmfK9XcDLD2FxZBTaspeg98K3Ib7I/gkJabcQYi5Iu4NLu0MhH53Mxi7xjrsfOTnujsPXvvZ1bBgz7j57zLj7rLPORovR7kdHnpdqxt3r5jjuLhg34sUXFtatWJSJsuI07D3cij0VLRgccpt4m217GvBGeTPOXpOLtcsXIDpqZnXB0m7hL1weu8sRRdBCc6umpgZr52BMzoY9e/aYk6rdjTYrKiqQnJw8ZbbnRHQM9OL+I7vwUmPlqPtXpeXhqqKVphp9IgaHhlBRUY6ShSWOZXzOZklZX28vevv6TJMSj9uNwcFB9PT2Ijk5yYhjZFSUMaPj4uONQc4GI6FAQ2MDenv7UFpS4te/y2akz9WVY79PzA9JiIrBFQXLcVn+UsRHxZi8V1682D2pwsoMmvfMrbMLGvd8vTzPqOGoEHNH2m0f1DxesyxZsuS0CUhPfy88O56AZ8ffTMb3CDFxcJ1xCbDiXG8uuM24h91mtSG1u7+vzyypHhwY9PaqoHYzcisyCnHxcWZQS4Pc7sKGqTBDleajXkO9eq+3PM2XohWI2LAZKF0Dl40xedJuIcRskXYHh3YHK8PDwyYKk7fjnSfwyIveIqTUBGDD8uST4+5Io9vUbxrkoTXu7kVpSem0ns8KdJrn+6vaTBGiBSNgzjszH6vKshAxg1J9abfwB6pIFyPwRG13o9H+/n4zI293nAzFiZVSxcXFszKUGd/ycM1u9PlEdeTEJeGa4tUm5mMqGOXBiuBgNtH5Ojs7OozxSbOc71N0lHewHRcbh4jISMTGxZnHEhK81c1DQ4Om0r+3od6Mcy1TnbPOfL3BKvDMbOPERveJbiQl+u8CKz8hFe8uOwuNvZ14rr4Ce9rrR7L0H6x+A38/th+X5S/DmpQMszLDbiOdK0HY7NROI10NR4XwL9Ju+2C2KifgfQfinqFBeHY9Y6rQ0ecTW8Wc71UXwLV6E1yx8bYa51ymfaL7hBmoUrs5YWoNtLmUmxrOxxJPavcgtbv9OOr7Tmk3z9XJlnY7bKyb7ecUw5VTDE93Ozz7XwYObjs1YXF0P9xH9wPpC+BadwVcPO7RsQHfLxaASLuFELNB2u2sdgcb9Cba29uNP8GxNz0S+jL0CiIiYkaeR7/Y8g+4mrn9+HH0NfSaCee4uHjEx8chJTkFiUnBPO7OMgWNjPedznsSFxuFs9fkYeXiTLy+vwmHjh4393f3DOLvL1Vj+95GbFpfYCrYp3O9Iu0W/kBGuhiBJzMOnOyEQsFt2l2ZyoEPs5p5mwn72uvx58M7jDFqERcZZczQs7IXInIalVAc1FIoFy9ehGCExnhba6vJKWdVeXJSslmGHR+fYIz0sWZ7U1OTqaa28s2t/He+zt6eXvP3jh09ZoSNudx8rt0TNlMRFRlpzHQ2Y0lc5P8LjwXxKXjHog24tK8bW+or8EZbnTlGvcODeOToHjwZEYUVkSnILspHWpx9uX28eOHqAl682fUd9G04GswXtEKECtJue+Cglg3KV6xYYX7mqizP/hfhefEBoMsnrorXAcvOguvMS+FKGN0bJZBQb1tP0+5U04MlKjrqNLPd0m4r39y8Js8p7abRfuzYMaOHaelpyEjPQHSM89rtSkqH66w3wbP2MqDiNQztfh6RPScbZ7c3wvP0HfC8cD9cay6Ca93lcCWfagTub3hNw143dmookXYLEfpIu53R7mCDXgj1mN4APREWOdHo5SS2NV4+3sVJ46aRSwzvuDvytHF3j9HuHqPdzIBJT0tDekYGYoJu3B1lzHQz7p6B4Z+UEIMLNxRi9ZIs7NjXiKMNXeb+9s4+PPTsYeRmJeLCDQUoyp28QFPaLfyBjHQxquGJPxpvzgSaaU40/KCRzpPodGnp6zYZ1ztbT2Z0nmRDVhGuyF+OxBlUPlE0KJKsCAsmmIfGppu9fb1GwBctWjTrzHAKYmxMrLnxOOfl5ZoLRi5jLK+oMK+fDUf4eLDApq9mAqGjE2kB6hOQHZeEfyxdh0vzl2JL/SHzeWJj2n73EHa627B3+0O4OH8prixcgdRJooH8BS/QeOP3kJUadsEsPjUcFWLuSLvtg4YpB6+s6vYceg3urfcBbd5VRiMsOsNbEZ2Sadt+sXrNV7sXL1pkqs9nAye8rSIDmue5Y7Sb2sgm3TMtQggEpuJ85XmIXHYW6l55FjmthxHVUuN9sL8Hnu2Pe2N2lmxAxPrNcOUv9vs+WMeqs7PT1nhCabcQoY20237ttrtYcDpeBHPbOQaj/7J8+fIJV6r7ZqSPl2DiO+6meZ6Xlzei3VxxnZqaFoTj7ky0trZ5PZnU6XsyJD0lDlecuxCNrSdMNXpTW4+5v6HlBO55ohwl+SnYtKEQORnjH09pt/AHMtLFqIYnMzGX/QHNNJ5I7b544Um7rGzq5lQDw0N4/Og+PHFsH4Y8p0SsMDEN1xatRkHizI4XM0o7u7qwdMkSBAtDw8Oor6szsSasyi4qLjYV2v6EAs/qON76B/pNo9XDhw8jJ2eBMbCDYekZs+YYrcKqADZTCeQ+ZcQm4m0lZ5qmo1sbDuO11hoMezwY9LjxZO0BPFtXjk25Zbi6aCXS2XQtgPCizW4jndV0jAASQswNabc9mIzS48exOi0G7j99A2ioGv2EwqVw0azNtK+J2fDQMOrq68xgOTsr20TVMS/Vn9BYpzbwZqr6xmp3EGSpR0RGIXHFBlQ3L8Ti8xOBfS8Blbu8jV553Va+De7ybUDuIrg2bIZryQa/NntlYQA/G3b3+ZF2CxG6SLtt1u7VqxEsMI6FPek4Acs+bYsXLzYrdSdjePhULvh0ZHficXeO8V2CZdy9YGTcnTqrfVqQmYhrLiw1lemsUPdW7gNH6jpxpG4flpWk44J1BUhLOb24QNot5oqMdDEiNFyWOtWJ3N+GNrdbVFRk67vAQScHf5NVwnPfXms5inurXkNbv3eWkyRGxeCqwpU4I6MAEbMYQLa2tJjBVrBEm3AJOE30+IR4lJUtOS26JRBwNrywoAAnuCS6rs7ksBcUFgTFLDkr8Jqam9HZ2YVUG3L7aZK/eeEaXJRXhmePHcTr7bWmQp2TNs/Wl+P5hkO4YMEi07w2Ky4poINxO+GEHVdmcPKOUS9CiNkh7baHtoM7sWz/s4hsPDz6AeZ2b7gSrtzpNczyF50dncZEZ4XdkrIlp0W3BAJWcFGr07rTTG+NEe0Ogup0akpzUzO6o5KQcuE/wrPhSngOvgoceOVUbn1DJTyP/BIeRsNw1cCaC+HyQ5Qat33o0CFz3WjnxIK0W4jQRdptDxxrsNqbK2GDAca30ESnB7Fq1app+wFDU1SkT2fc3Z1G7a41K68Lg2rc3WQmFVJTZrcanLpbnJeCwtxkHD563GSon+gdNI8dPNKOiup2rFmajXPPzEdi/KnjLe0Wc0VGuhipDHei0ai3MYa9ESecmTYznxMMeGpPHMddh3fgYEfjyH0RcOG8BaWmgjiODcRmweDQkDGuy8r8v7x4NlXoDfX1Js4lLzcPqWmzmwmeC7yI4LHgRU6wVKdz22apWUuLLUa6BWNc3rLoTBTvi0Jt/DBeP16HQfcwhj1ubGk4hK2Nh3FuTineVLQKOfHJfh+M88LOTrhNfv+Uky7E3JB2BxZPeyOGt/4FeRU7Rj+QlmMMdBQtt9U8ZRV6/VjttrkqnHmmi8fTbger07ntjMxMk4PLni7Mpmc+umfNRUDVG/DsfcHkpxvYrPT5e+B5+UG4Vl4A1/rL4UrPnfW2rWasLNKwc2WXtFuI0EXaHXgGBwfN+GblypUIhir0o0ePmhXxLCBk1MxMNNPXSJ+t1CaZcXeZj3Y7X51ujbtbWlpnbaRbsMBxSXE6FhWk4kBVG3YdbEb/4DDcHpj/7zvcivUrF2DjqlzExkRKu8WckZEuRjX9tBOaaNymnRWpVqxLYWHh6fszNICHqt/As3UVpirYYnFyFq4pXm3yredCe1ubOWk7PQPMC4uqI0fM7LxdVeiTLeuiGcDu4sdqa9HX22sq3JwUdc5QNzU1mhie2WbEzwa+5uzUdORFReLSwuV4sakKrzRVYcDNiwAPXmysxEuNlaapLT+PeQmpfhuMq+GoEKGJtDsweGi2vvwwPHu2wOU+NYBFYhpc668AFp0Jl82raQYHBnHkpHbbVYU+EbxuYwYrtbvWV7sdNNPTT2p3X2/fSEa8KyraZKSjbD1QX+k11I8d9P7CYD88u56GZ9czQOkaRMxyYoTPZ3EGry3tNtKl3UKEJtLuwNPc3GzOyXYX7I0X41NeXm5Wb82kCt2XYbrBs6xIH2/cnWy0+xh6e/tMdbrz4+4m0+clPm7uXlRkZARWlWVhycJ07DnUgr2HWjA07MHgkBuvvFFvTPVzz8jDGcuypd1iTshIFwY2GuXsqN1G+kRNNQJZBU9B8x3seE3Kw7i/ahe6h7zZWiQtJt5UAC9PXTDnwSG7aXNWPC8/D07CnLQjVUeQlJyM/Py8oMhII5xgYHPT6uojZskbZ+sp9k7AfPiUlFTToKUg3768W8LPJS8mchfkYnPBchPr8nJTlbn1DQ+Z6Z1Xm6uxrbka67KKcG3xahQmzi2XlaYMI514DmB2uV1wu3ZHyggRbsxn7Q4Enr4T8Gx7HJ7X/w4MeZcGE3dMPCLXXQ4sOwuuSPsvnfn6qd18/byOCIZscqs6ndp9xFe7HYrrYj586kntzi8Yrd3meOUvNg1HPR0t8Ox7Eah4DRjme+wxVevuqjeArEJv1v3yc7wm/DShkc64m/GKNAKFtFuI0EXaHfjCOa5QYu8QJ+FkJ010agT3ZbbaPVWz0dlUpy9atDhIxt1RPuPuAr/93ZjoSKxfsQArSjOx82ATDh5pg8cD9PUP4dltR02m+tqlaYiPOC7tFrNC4bTC5BQPDw/bPjB2YjDOCgBuk3nwpLKzBd/a+QT+UPHqiIke5YrAZfnL8IlVl2BFWq5fBqxc8kvsrFYaC00IDsS5FDyYTHQLVsaXlJSOLH/j5INT0Jjq6DiOYd9KRBvgZ5OGibXdhKgY81n85JrLcXn+MsSfjBXikWGG/9deeww/27sF1V1tc57I4HfDTliRwc+kEGJ2zGft9jeewX64X30U7ls/C8+2R0dMdE9UDFqL1iLi7f8F18rzHDHRfbU7mEx0C1bGl/pqN0eqDmr38Y7jcPuYDmNxpWYh4ry3wPXOz8C18WrAd3VXyzF4/vZbuH/9abhffACeEx3T2i4noa3qcDuRdgsReki7Aw8ztwkNbKfgeI4mOnVpLib6bJqNTn/cXYKhwWAYd6ebVV3DbBLuZ+LjonDemfm4/oolKC049XnoOjGA519vwtY9faiopslu3+uXdocHqkgXZvBD7Ix2sRqN2lm942sAdAz04v6qnXipqWrU46vS8kxjR1aj+5Pj7cfN0iWnzGvmsx+prkZySgoWLFgQdCa6bzX4woUlOHKkCrXHah2LeYmPj0N0dAy6urqQZuNFGC9qeOMyed9muMzlZz4/c9JZjf5C42GcGPKa0Lvajpnb6vR8U6G+KCUrJJqWcYkj+xUIIWbHfNRuf+PhSp+9W+F56UHA1zSNiARWnIuGzDJEJaUiIsaZpeEc4FYfqUaKpd1BZqL7VoOXLCxBla92O7CvcT7azYmHyXDFxgNrLgRWnQ9U7/PGvjQf9T7Y22Uy1D2vPgrXinO8VerZRZNODPPGz6nd8S7SbiFCC2l34GltbfXmfzukmYxRraioMGP/goK56+Fcmo1OVQ2+sGShiY07dqzWsZgXXsdSQ73j7rSAbCMlMRaXnFWENUuysH1fI+qavEWOPf3AQ89WIj8nCRduKEBBTuA1XNodHshIF+ZkzxO8nctxWWHFGXm7c8u6TnSj3HUCz2x/2URlWOTEJRkTsjR55ibkVHCGt/tENxZmlfj9b093+8eOHkVCfDzy8nKD1kQfa6ZXVlaitbUNWZmZtu8Dj1FKcjK6bTbSLSOA+ey+RrpFbGQUNuUuxtk5JdjRXG2akHYNeldS7GmvM7flaQtwbfEaLE3NCeqmZfzuW4MJIcTMmU/aTbOQg2J/4fG44SnfDs8L9wPHm049wMFu2Tq41l4OJKai88ABlCTb13h69D56TJUYB5i51O4gNdHHmukj2p3lgHa7XEhJSZ6WkT7yO5w0KV0DV+kaeJpq4Nn7IlC9h28A4OZEywtek71oGSLWXwksOgOucZbAWwPjcG84Ku0WYm5IuwOvnaxIX7JkSYC3NPH2qYMcxzEyxR/aHYiK9FFmutHuw2YCIivT/17I9MbdKejq6g6YkW6RmRaPq84vQX1zN7bvbUTL8V5zP431ux47iEWFqdi0vhBZ6YErUpF2hwcy0oURdLszLZ1oNLq3rQ6/b9mLDs+pOIm4yCgTncEGjpEBygbrOdFjBIJVzk7AzLGBwUEUL1wY9Ca6BauyiwoLTe5qcnKSIw1aORiurqk2ExF2Hjc2WulldfgkplFMRCTOW7AIG7MX4vXWo3i+/hA6BvvMYweON5rbkpQcMzlEY32qiziraRkNMru+kxyMcxk8LziD3SASIhiZL9ptVcFzQOqPv4XqvXA//xeguWb0g8Ur4dqwGa407yTkie4T5txkNa50Qrv5Hi+kdofIOZIxL4W+2h3rgHYnndTuWWiLK6fY3Dzdx+HZ/zJQvg0Y8Gorjh6E++hBIDXHNJx1rboALp+VCtRRuyPSpN1ChB7S7sDCOFWe++2OoPNtcsqig7KyMr9p95BP1GggLr847i4sLDKZ6Rz/OjHuZv+2GhvH3XnZSbju4kS8ceAoDhzpRk+/9xhXHuswt5WLM3H+2nykJPn/WEi7wwMZ6cIRQWduGBsl2UFzbzfuqdyBXW21o+7fmFVscqcTowMrFp1dnSZSxQkTm0Le2NiIhcULEelQA7C5iEx6erpZJl66qNT24xefEG+2yYmQ8arDA7nd4x3Ty2WNjojE2dklWJ9ZbOJdttQfQvuAN6KlorMJP9rzNBYlZxlDfVX6xNm6XE7Hx/h5savS1NoOzz92nQuECCfCXbt9t0lTdK4RNp76Srifvxc4dnD0A7mlcG240hioY7WbFVJOmNi+2h0RGWLanThGu10OaLfrpHYnzU67XUlpcJ11NTxrLwUOve5tTtrZ6n2wowmeZ+40qxlcay6Ca91lcKVkmesETn7YibRbiNBD2h1YGBtp4lQd0G5er9TW1hoT3Z89XXybjQbqZSWeHHcz4mWRA+PuhJPj7hMnekwzVDvgZ2RRUTriInvhisnF6wea0NPnXS2973ArDlS1Ye3yHJyzJhfxcdNvQD4V0u7wQEa6MIIeqAZeE2GHeTYwPITHj+7DE8f2YchzSoAKE9NwXdFq5CcGdukQ4awqlynl5i4I+LbG2zbFPC0t3VYj2J8wE/bQocOORLxQzDk7TjPFzuMXFxdvTBQ2HJ3u5EdURAQ2ZBVjbWYhdrfV4bn6CrT2eyvjKrta8JO9z2JhUgauKV6NMzNOz+rjzxR1fi/tMtKjoqLMdmWkCzE7wlW7x8IqX5rosx0Ue1rr4H7hPmOIjiIjD66NVwH5p1eN0bjv7urGgtxc2A23TRM6ndo9SyM4GLT7sKXdNke88L1kVbrR7jkePxcLLVacCyw/GzhW7o14qa/0PjjQC8+OJ+B57e9A2XoknHkp+k82HLXreyntFiL0kHYHVj/ZtNLuPi7Wtpk1zhg6f0d8+Ua7+DMjffxx9yFHIl6scXdXV6dtRro17uZ3ckVZKhYVpWF/ZSveKG/GwKAbbrcHr+1rxJ6KZmxclYv1KxcgJnru+i7tDg9kpAtj2jkxGA/UkisK2Y6WGtxb+fpIdS6Jj4jCeSmFuGjRKkTYNEvNY8vXmpSUBCcjXUKVCFcECgsKHIt4YdZqQ0Mj8mz0UiZqODodGE9EM/2MjALsba/Ds/UVaO7zNlOp7m7Dz/dtQUFCmqlQX5dVNOp7YBnpdsJqWru3KUS4EG7aPRGMdZnNZKansxWelx7wVhMz0sUiOcM0j0Tp6nGzrq1jS/1McsDI9o10CVV4bmeDNaciXrgKsLGhAcjzz98zn5Oi5XAVLYenrcH7mTq8E3APAyzUqNiOiIrtWJqyAP1RJxC/5gK4Iu0ZYkm7hQgtpN2BrQjn8WWDbicjXfxNoJqNjjfuLigodCzixTvubkBerp/EexpwzB0VFY3e3j5j4K9Zko2lCzOwu6LZVKUPuz3GVH9xZx12HmjCuWfmY83SrDmv9Jd2hz4y0oU56fPLbCccJAZim7UnjuPPh7ejvONU8zCahefllKJkIAY56Zm2meikt6cX8XFxRpjsxO1xo7mpGQWFBSEX6TIWmjapqWnm9dhdYZCQkGi+H0PDw6YJajA0HJ0O/IyvySjAqvR87D/eYCrUG3o7zWO1PcfxqwNbkZeQgmuKVmNjdrH5fErQhQgtwkm7/dlo1NPbBc8rj8Cz8xnTLHKE+GS41l4GLN3gbTA5He22WT/Zp4KDcZrQoRbpMl7ES5ql3UX2ajeXqJuVXUPDpgmqP3Fl5MK16Xp4NlwJHHzVm6Xe510BltDZCDx9O9yvPmQ+ayb6JT6whRTSbiFCC2l3YFewcdzohHbX19ejpKQkIAUOgWw2Op5+pqamoqmp2fQrsxO+d95x95BpgmoX7GPX19c7UgkfGxNpKtBXLMrEzoNNqKhuN/UYjH15+pUa7NjXiAvW5mNZacasV0tKu0MfGenCnLCYJRbKg/ETgwN4qOYNPFdXATdOiU1ZSjauKVqFrLgkHDx40PaqqN6+XsTNMdd1tvlwkVFRjlTCBwIuDWfEywKbTRya59yeV1ztO5b8nPJ7OVdoqDMbfWVaLg52NOHZ+nLU9Xjz1+t7OnHrwRfxUPVuvKl4FfKiIlWRLkQIEQ7aPd0Ks+lETnkG+uDZ8Td4tj8BnGy+bIiJg2vNxcDKc+GKipm2ds81k33W2h0ZPtqdaWn3wCCiY+z73NA85+eU72OgjqUxyDkxs+YioPINb+xLe4P3we52eLb+BZ6XH4Jr1flwrdtsDPhAoMG4EKGFtDuwE+9ONBllFAojKwNVCW9XRbpFVlaWiXgZGGSUiZ3j7ijvuJvV4UnOj7sT46NxwdoCrF6chR37G1Fd5y1K6+jqx6PPV2Hb3gZcuL4QC/Nn3k9H2h36yEgXGBoast1g9tdgnJXXLzRU4q9HdqF7qH/k/vSYBLypaCWWpS4wJzbmhQ8ODRmRsxNWtWVkZNi6Tb5WK1PciQangYBLy7g8nEvemd9mJ5yl9i73sk/QucSsp8db4eYP+B1YnrYAy1JzcKiz2US+HD3Rbh5r6uvC78tfRlpUHM5Nykdufh6ipqjW9Bf8PiraRYj5p90ziWqbapueoUF4dm8xpiV6u049wGqmled7q4Jj44Nfuz0ntTsr05EmaYGAn0+j3e32azdXdtkxGDcRLkvWA2Xr0HFwF6IrXkV8S7X3waEBeHY9a24oXYOI9VcCxSv8+v56J/t9Jo5sQNotxOyRdge2Ij07Oxt2a3dTU5PRuEBpN+NFLOy4PPCOu5PR7si4Oz6gk+ATaRonYSYiNTkWl51djOb2HuzY24j6Fu8YvbmtF/c9WYGi3GRsWl+AvOzp77O0O/SRkT7P4cmfjZHsajBIuD0ugZrrYPxwZ7OJcanp9hqCJDoiEhflluH8BYvM/y2GhobNv1HRUbYa2n39fWYwZyc0AIaGBpGalopwgp3E62rrkLMgx9YJAjYhYV65nVDQhwZ9Ign8BC/wlqTmmJUaVd2teLauHEe628xjx4f68PjxSry8rR5XF63CptzFo75DgYDnAH9U3gsx3whl7Z6p4UDG26bH7YbnwMvwvPhXoLMVo0aZS8+Ca+2lcCWkzOrYOqrdqWGq3Tk5tk4QxMd5B+N2wdfmyi1FY3QKSrNSvJEvFduBoZN9QKp2w121G8jMh2v9lXAtPweu6Lk37uV3o6vLZwLJBqTdQswOaXdgj21vb6/tFek07znhH8jJ92GbK9It7a51ZNztnQS3f3J46nF3dnoCrrqgBHXN3di+txFtHd79PNrQhT89egBlxWnYtL4QGalTXz9Ku0MfGenzHGuQaucSZooNBxyzzRDrGOjFfVU78XJT1aj7V6fn4arClUiNiR/3dUZGRtiaVc7l6MzTsrtisP34caSkpNqeyx5orJnp7u5uJCf5txv6VBXpXG5vJ2x8whUUgYLfv0XJWVi0LMs0IaWhfrirxTx2fKDXTFA9VrMHVxatNBNTMQHKqYuJiUFnp3eZnBAivLV7ttvk9nzzTjlYRuUuuLf+BWitG/0LpWvgWncFXKlZIafd1JlUaneI9zWZVLuT7dPuOAe020yCDw2Zz5/r3OvgWXc5ULHD25z0hDdWjZ9Zz99/B8/z98J15qXeCZ/E2U+eOLE8XNotxOyYz9odaLgyh9cHdhYYWLEuNJ0D+VqHfDLS7TLSnRt3xzug3dGmkGE68LtUkJOM/OwkVNV24LV9Tejq8RaFHao5jsNHj2N1WZZpSpqcOPFkubQ79JGRPs+xxNXOyBNrmfZMK5OG3MN4uq4cj9TsRt/wKZMxJy4Z1xavQmnyxANnnhx5krST/v4BxMXF2jqLyyr4rs5OFBUVIdzgcUxJTUFnZ5etgh4XG2eqphkjZNfkBFdO8GKb72egPz8LkzJw49JzcaitEU9W70Wd27u0rWOwD/dUvobHju7F5oIVuCRvCeL8/B2iUWUNKoQQ4and/timhedYOdzP3wvUHx79xPwlcG3YDFdWwZy3OWBpt42vk4P/zq5OFBWGoXa7vNrdRe1OdkC73W7bzBxqNyfB+X6aCnVGCq3eBKw8D6je5zXUm2q8T+7rhueVh+DZ9qi3On39Zrhyime8TScG49JuIWbHfNVuu4x0mrB2azdN30WLFgV0O74V6Xa9PI4/U824u9PWcXesA+Pu6FmMu01RWmGayUcvP9JumpL29Q+bQozdFS3YV9mK9SsW4KzVuYiLPf37Lu0OfYK+7IUn4p/97GdobGx0elfCEh5fu6ufLHFlFhXfW+ZeT8Xe9jp89bVH8Zeq10dM9LjIKFxbtAr/svLCSU10wpgMu/PRvea9zdscHMLQ8DDiE+xvkmYH8fEJpvGnnVhxQMMn44Fs2WZU9Mnln6cunALNwpRMbIpZgI8uvwAr0k41Rese7Mf9R3bic9seMJNYPUP+i2Jh1YiM9PBE2h344xsK2u2vbXqaj2L4/h/Bffe3R5voWYVwXf1BRFz1Ab+Y6GabDmk3NSZctTshPsHWmBWntDuak80eD9xjtNsVEQkXM9Kv/Shc133MrJwYcUPcw8Zgd//xfzB897fhOfS6iS2a9jajo0dil+xC2h2+SLsDf3znk3bbiVPb5DgmMTExoNsZ1WzUxo8PJybsjlmhqe0by2sHvOazYpdmSmREBFYsysQNm5di/YocREd536DhYQ+27WnArfftxrY99RgcGq3R0u7QJ2q6J4lf//rXkz5n1apVuPjiiyd8nDNLv/nNb3DDDTeYnMTpwt/7v//7P5x//vkzanbATsOvv/46Ojo6zO+tWLECZWVl0/796ezXbF7PdDl48KDZf4peYWEhNmzYgMzMTL9vhxfedje1soSOmWJ8b6+44ooJc8Wae7txd+UOvNFWO+r+jVnFuLxgORKjps6X/NOf/4z169YFXOTGN+/tFXQOVFkpFG6xLhYJ8fGo7eu3dZaaM9NRkZGmysyuCzSKckSEyzsZY9NSTJ4rOXh/7sHH8Z53vxuNvZ14rr4Ce9rrzeM00B+s3o3HjuzBlcWrcHnBMiRGx6KiogLf+ta38IMf/GAk25cXI0899RSeeeYZs+SR5y7qw+bNm0edb6xlpjfffLN5HldSvOlNb8IZZ5wxrX2+7bbb8MILL5x2f0FBAb761a+O/Lx161b8/e9/P20bjHD413/910m3cckll+B973sfvvnNbyI/Px8f+MAHRj3+0ksvGS34xS9+YT4fvvvEn1NSUrBkyRJcddVVKC4+vdpwusdqNki7T0fabY92+wN+py5euwoFNdvgPrbPrLkaITUbrg3+b9xIOCg2hqiN9Pb1IYbaHWaxLhacIOir7be1OtxEGURFet/PGHvez4jICLgiXGYyhtsed7+yi+C65F3wnOjw5qgffBUYOGlUcMXFsXLv55sRRasvgGucuEJfaIrxuP7yl7/Ev/zLv5z2uKVJ73nPe3D55ZeP3C/tlnaPh8bd83vc7S/tpm9j5wokp4x0+jScWAy0rtGUtbDz48NJ8Nr+WgfG3awQH0SMbeNubwwRrxe47dkQHRWJM5flYFlJBt4ob8b+KmqzB/0Dw3h+R62JgDlvbb6JfeEYX9od+uPuaX1SuEEaDhZ79uwxL+LDH/7wyH1TVRVyuQ1P3hdeeGFAjGdfM+hzn/scXn75ZVx66aXGRKcpzYkA5lfxoPsjlyxQr4f7/5nPfAbbt283+5+VlYWdO3fiO9/5jvkg/b//9/8Q6nC2b6qctv7hITx+dC/+dmw/hjynZvCKEtNxbfFq5CdMP0/yD7ffjtKSEtubb9J4tUsALDhrHG9zNpydcDBM8WFsjp2v0xu1wqXT8TbntQ0BNsX00mguK1uMp59+Ctdeey0WpKTgHYs24NK+bmypr8Cu1mPm6m3Q5cEjR/fgydoDuCR/KbKP9xmj2moayn9pTh84cAD/9E//hMsuuwxHjx7F17/+ddx9992mGob5quTOO+/E+vXrkZeXh02bNqG2ttYI55vf/Ga8973vnXKfy8vL0dTUhE9/+tOj7vedNPvxj3+M3//+9/jQhz502jbe9a534cYbbxx5LkX1nnvuMftoQREnPA9zEDIWbp+v36oG9N0naidFmnpJvfjYxz6Gf/u3fxv53Zkcq9kg7T4daXdgtdtf0GRM2vYQynq2I8LXQE9IhWv9FcDitXAFaODKSXDbl6T39oa3dkd7tdvE5tjYxNU0EBsaslG5vVXp01lpxVx018ar4DnzUuDw6/DsfRHo9PYqQUczPM/+CZ4X74drzUVwrb18wtz/+++/HytXrsSDDz5oNI1jHV+oSdSoI0eOmDGLpSkcb0i7pd1zRePu4MdO7bauu5cuXRpQs34iI30u18yzNdLtaG7qW5Husn3cHWF8QDbwtgsr4tT2HieDcx93M8bl7DV5WLk4E68faMLhmuPmKvZE7yCefKkaO/Y24IL1hXjqsfuxStqNUB53T8tI5x+86aabRn7+4x//iFdffXXUfWT37t3GAOYF8wUXXIDS0tKRx37729+af//yl7/g+eefN+Yzq7lpcFsNKSwzZS4n3n//9383MTB/+9vfjAntyyuvvDJqpmE622buFc0VXiiwqv2cc86Z9PVMdRym4j/+4z/M/j/xxBOjZsJ5AuMExnT3nSf23/3ud3j7299uPiyHDx82kwqcheYJka+ppqYGy5YtG2km4ft773jHO7B//37ze/z7/D1fEZ7u9t/5zneaDzhvPEac7SFjZ3z4gedzsnOykbluBe6v3oX2AW9WM4kccmNBywBK4/uQkIdZVQlFTjDDyFnWbdu2o6a62uR4nnvueUhNSRn1HH7xnt+6FZ2dHSgpKUV+Xp6ZzWKFz0RQABJsXqbNivTExFPvZ7jBWeq4uHj09vbYa6RPc2Ds121GRnoF3QaYCfe3J57AypX/ac4TTz31JK7/h+vNY9lxSfjH0nU4/OgWtGXFIbo0D67ICPS7h/DEsX2IhAuL33Eluob6kQ0Y4eL57+GHHzZVPRasAuftRz/6Ef77v//bCCDFk0b6Rz7ykZFqDk4YzmTZaVpaGi666KJxH+M2eK6mVr3//e8fud/aBs9fvr/LcyLPTRP9vdnu0/XXX29mxj/+8Y+bwcWVV15p7p/usZot0m5pt13abT3HNxJlNtd3nv4eeLY/Ds+Ov+PdqxgxddJEj02A68xLgGVnw3WyWpzf7+3btqP6pHafd+555t+x2r31+a3o6OxAaUkp8vLz8NSTT+E9751cu+2OWAl77Xa5zCC8p7fHViPda2rbmx8eOUPtdkXHAMvPAZadBRyrgGffC0DdyfiigT54dvwNntf+Dixej4gNm4H8spHvIQeNHIesW7fOrMR64IEHTqveInyc35M//elPoyaPfZF2S7tng8bdoT3u9pd2j4W/O1FEGrV7y5YtJj2AE380s8ZOANL3oBfS3t5urptZWcrz22SrSLnPdq8+53G3o/J+2O29FoqMcMHl8ikusGXcHYfeHk72x9tvatsIfSJOvPuLpIQYXLi+0FSg79jXiKMNXeb+9s5+PPzsYRw/sQCLhmKl3a7QHXf7rZznhz/8oTEqeFJ87bXXTLUfqyQsfKsVeXIc+3NXVxceeugh8yL27eMS3pmzbds2U4nOivSxJjqhCe7byXmqbbN6g+Ly+OOPo6GhwVSzW5WPE72eqY7DZPCNpbCxIn3scjLGdXCZ2XT33Vq+xQr2O+64A8eOHcP//M//4BOf+IS5yL7vvvtQV1dnLqp9Z3us3+Msza9+9Ssj+t/4xjeM0cUL9plu/4Mf/KBZcsHtf/e738VHP/rRkSZMFvzA8jmVbY34U/M+3Fbx0oiJHuFyIb21H0UH2xHd2IFnn34GH/7Qh3Do8CHMBG6P1VBjYZ44j/ctt9yCxqYm/P3vT+JDH/wgKisrR73WT37yk/jjH/6Aurp6/P73v8OXb74Zv7/990GXkc6KdMafhDPx8XHotTmvzQlBZ7Wl73cukOzatctcrMbGxOKC8y/AE0/87bTnRPQNIuKNaqxudKP99YOIPPkdHoYHRVeeh+8d3oo7yl/FXx5/xAwIfAWKcEDBiSeec3ixywoZXoCSsa/TX1Us3Aa3NV4jNrsrZTgo4qTBXXfdNWLW/fnPf57WsQok0m5p91y12/c5vszk+s4zOAD39sfhvvWz8LzyCHCyF8OwKxK9S8+F64ZPwbXqghETnbnX1O6f3HKLqUShdnOfKw+P0e6bPok//OEPqK+rx+9+/zvc/OWptdubkW7/arJw124a6H3zQLtpmnFyeqa4XBFwFS1DxFX/DNfb/h1YsoFVIN4HqZGHdsB917fgvvNrcO9/GZ7hIVMg1NLSYsY2HK/QVB8PmkuMffn5z3+O7u7u0x6fiR5Ju6XdFhp3h/a42x/aPfm4O2Lccw0n83hseDzokVx99dVm8sGC2373u9+Nn/zkJ+Z40NxiZSlfXzBGu9hh3g+dzNcez8sINExysL3HSVS0X03t6WCObQDG3ekpcbji3IW45sJS5GScWr2QllWEvUcjse6i9+OJp06PKSXS7uAed/vF5eOMJk/+zKthBTbhrCiXz3OWkbm5PEnzcZ4Y16xZM/K7nCnwheLBEyWz/mYKq+R54j733HOn9fyptv3oo4+amWPffdm7d6/5d7zXM53jMJ39P++88+a87xbMQ7RmVnhc+Hu8sYLAinOwzCxfFi5caMxlQjHnrM5jjz2Ga665Zkbb52vhYJcwqoF/h0suOHNkcfam81H6tsvwXH05fBdHlaVk45qiVciKG12l9fNf/By3//72URnIs4XvMU3zW39zq9knDn74d3/285/je9/97shzmpqbcdtttyIpMQnDbjc++1nva5oM5mIxc8tOKDp2m/d2Q3EdGDh9qU8giYyMMCsX7MTODMUnHn/C5IPRvN941lnmO8aL2uXLl5/23OuvvhaPffjDODMuG/kXr8erTdVww4NhjxtbGg9hzRc/CM9wHFr6uk/77vJcyfMNJymZX8aLc/LZz37WVMxR8Mbb5mQwuosDB1+4fJ0DF15Qc6UQ89vfeOMNM5k6m234C+ay8zxKWB1IQ8NXDyc7VoFA2i3tnot2j/cc3/PGdK4TPGy0uPcFeF56AOg+furJERF48EADFr7lRhQvXYHEmLiJtTs9zRgFI9r9vVPa3dzcjFup3UlJpgHkZ6ah3R6j3fZmlZtczpMNtsJZu3ts1u6IENVuV/oCuDZdD8/Gq4ADr8Cz/xWg76QB3lgNz2O/hmfLPWip78M/Xnu1MaxYjcXvGCfGzzzzzNP+JmNfbr/9dlNtOnZF8Uz1SNot7SYad89f7Z4tNLW4LRYpsmiQ2s3oBUYrMPHAek59fb2pSGfeMSfvxltpM16lu50RNnaa9yMV6ZH2G+n0FayCUTvH3Z4Q1O7JWJCZaMz0Y41deOy5PYiO9a6g7Pck4KwrPoo/PrAD1126Cmkpo693pd3BO+72y1U7o024pNAyj603/dvf/rZpmMnQ+MkGD/x9vjjuPE/2NEZmA+NXaFazetuCuTecTbVgab/VdHSqbXO5U1VVlan4OOuss8yFKpuqBuI4WDEyY/d/rsfNWspArA+FtcyL5ObmGrFiNarvsiorpsZ6Di/QuQzLEvTpbp/ibFFSUmJyxDjDbW0rY80SNJ6zENX15SPP62/vxHlJ+Xhr2dnmpMaqcVbr19XVmmomHqfKqirMBP6d8U6Q27dtMxW41gUGlzBdd+11+PwXPm+afzE+hNvetOkCY6ITDrCv3HylMeYmw65q4pHtnayAClRubLDAGWNOUtgJPzt2v59kNlVtM6X7RDe2vrAV3/vu98zPiQkJ2HTBJjz2+OPjGs68YHz/jTfi/370I9z6pmuRHTOEXz71IIov2mj6GURERaImahBf2vYQLsorwzsWb0DkyQY1vCAmvb3eygZeyHPQz2o6RrCwQoXnCVbITLfhKGeRxy5V51JUi6985StmWSrjvma7DX/B18mMbmL9ax2TsYw9VoFA2j334zBftXui57DCzTpvTLUtT1MN3I/8AmhvPP1ApWQhP7kdJcdeQ0LbfrgZf+HD0qPl+M6Va5Cy7QFYQ61/X5mO8vJmDD1+GyIiIrH8WDn+d/NKJLz4l5HnfHpdLqrSeuH+28RV6bknTiDmcCzcs2w4NXM8KOrqRmTtq3Db1Sjc40ERK5Nrt8Ft06Rt8uAA4oeG4T5gX+V9munv5IE71r44mazeXkRFRZ72mZ0T6TlAQw9neU7dd+I43pQCXBUxhLaKrUhY+B5z3mBk2nhGOqO+GB/5pS996bRYwpnqkbRb2k007p6f2j2XcTdfE4+HtfKez2FRIgtirLxxbpvH0Trv0BxnVAMnboJq3H1ye3Y00B4+mZHOaBe7YZNRK4867MfdAd4mX1d6UgQeuvNb+O8vfBs1zcMYOFkA3XTcg9/9dQ82rMrFpvUFI78j7Q7ecbdfRgnM9B7bcJM7zoElH5uIzs5Oc/Lkh4pGNV8AT94U5tnA3+fvctbMCornLCaXCPEEwGpxzvjSSJ/Otv/hH/7BRLp8/vOfN8/nzDIb1o13gTqX4zDZ/s/1uPk2wLBmaX3vs05UPEY8VrwRCpz1f8KoHE4q8D5unzPY1vaZDcYZWZoJ1u9Y//L1+/4d7oN1Mub9S993LfrgfTzKFYGLcsvwk29/Add8/N/g9njQ3dWF//qvTxmDmzNFiUmJZpluV2enqQyfCXydY3+nuaUZixYtGnW/dbHR3NyEgoJCtLa1YtnyZaOeYzUunXQfPLRBT99moHCfPM4et9v2bVr/2gHfRztfo7VNmvd2btO6cAr0Np/8+5PmO8W4g+uuuw5PPPG4qfTkOevDH/4Q4uMTRl1ccH94gf+Xe+81kQmXs1HH4y/gy+/+MF7vrMerzUcQGRtjqtSfra/AqrQ8rEr3Gtu8ULfOJ/z+W3+TA3ue83jRzhil//zP/8TTTz8954x03+VdvJHZbMOaQBhvuRfP17yInk4VDCMorNgxSyvY/HQ8uOTVmigIFNLuuR2H+azdEz2Hx2C628KWu8c30cnxJmzMSwW6G4HTkyiwxByKQaD21CQ8Vfms/FSg3psvvdSsth4Y9Rx++7L4HJ/7xmJvwqoXM03fGd7bZM2evYvubevVPQq7A3oi3EPIOrIdv/1Rtan0pKawItaKGxjR7uFhU0nOSAdGJrzlLW8Zud8ytajRvt9pC2m3tHs8NO6ep9o9k3H3mN+hr0LDfuxrJZxgoLHPa2UWuvg+x4pjnGwfzPhwnG0GCms7PL6B3ubwsGXan4zV9Gk+GmjoZXjHwPaO9c1xtXGbhNsL9DaffPJJDA0M4rEH/oBrrrkOu8sbEJVUjKjoOLBOcNueBiwuSpV2Rwf/uNsvRjp3jBl9Y18kB4fWTo83K8llt5wd4PIea1nMnXfeaWYiZ8PGjRvNh44zlqxAJDwhcwkjBYtG+ky2zTeIy41440HnkkhWPtJ8GW8Zz3SOw3T2nxXwjCaYCH8fNyuyhoYUhZJwH3yX8TDzndV27KDLJpsU2u9///sjMSJcqsYTHh8n1t/hRb1vFhyFhseDH2w+p31fJfI2rfM+5nGju6UNwwOD5niz6Qoz47kMg9EPVrPQFwdfMEt1+fh0sC5Y6usbzM0XviZWt/v+rfJy76x7S3MLOju7jDFSVTn6Ofv2erPiptqHI0eqYTflFRW2b/Ng+cSmRKCY7vvvT1hBYif87E/HyJsLDzz4IDZdeKGJsWIj17LFZcjPLzC5hexgffbZ3gbLHcc70N19YuS4X37F5fj1r3490mTnWGUVkOBChI+wxSESHUdqsbPa+xqYTcaGQbxY5s3C0gdOdLJSjpOXrKAJRAOf2W6DeWqWmTBWeFkBP1WkEs/ZrMRhFiTJzs42DawfeeSRcZsWsxEK35NAGunS7ukfh8mYj9o90XO4JHK628qKyUS+KwIRNi/fFSLc6I1LRUbealxfuBS///3vTXyLtZKGjbX5XbS+d29961vNahsrbtI6h1AbqfnjrUSTdku7x0Pj7vmp3VPB6yFe6zAVgDdfaOKzut33b+3evXvEZOc+8nWPfQ77zpGp9qHCgTHwnj17bIt2GThZvmx5FXaicbd/eODBB7Dpwk1mjJeQEIfsrEx0DZ0qwomNBo4eOSjtLgz+cbdfjHSa1t/73vdMBAZFldx7771mBnbt2rXmZ/6fxrRvLhhL53mytA4EZx3YjGO2sGKc+be8QORyqskOxHS2zRPG4sWLjZHKZd800Zl5TjHi3x/7eqZzHKbafzYU5f6z+to3z4z7x/3hDK2/jxtNLEbW8APGPFFL1Nj4hPA+/syIBL4OihjNJ+4rf5fb/9///V8zO2S9Tuvv8ILcN2eIx4wVDJwd4jEt/8S/4ZLLL8PB/nYTYvHqYAuyz11tHuOHna+ZVTWrVq32xrwMDZqMNi4z4uPTfX18D7lUbmxXcOZC33nHncYksww1dgVfuWIlzjz5WjZtuhD33fcXlJQsNNW5vECwctwm2wdeBOXn5yEhwZ76Nu4XL47KyhYj2p9LiieBleg00ZctXTrKQA0kHBT29JxAYWER7MIyswNpao6FDXb4mRz7mfUnhyoqTGTSN7/5DeTkLDCf2QsvutB8Znkxy/iiG2/8wMgqDE5gWZ95/vvqK6/imWeeQUR0FI6kR+DAiRa4ok5W4PQO43MXXIvMkznprF5nsyJOaPI8wfMGB/w8V1pGOgcRnKjk998fJjq3weo7VgFbS7Zmuw1W8rHZESdqzz777JHPBc+91tLbieCyWFbdc7Dim+fOqkH+TNODq52s48DjwsbZt956KwKJtHv6x2Ey5qN2T/QcFi9Md1vgv0PvAobGb+zDqJ3v/+AHWFK2BJmZo5sD0/Dj9+Pue+5B6snv9he/+CU0NjXi1yeLJu78059M0zc+l5FV1Mj/+I//xKuvvmK+XxNx4OBBc02QZEMDMcL94kB82fLliLGpURrPRTwfr1y50rZM2ZbWVpzo7jaGrV3UnZywzfeJ+wo0VVVHzHdl7GfWn+w/cAD/9IEP4P6//hV5ubmoOnwEly9caHoBUG+oU1x1ZVVy0gSzvnf899lnnzWDRmKdQ6hRzGbesWMH/vmf/3lEj6Td0u6J0Lh7nmr3NF4fr3Woo1Y1qAWvl3/2s5+htLR0ZDKP5xj2SbJ63DF6hlGM3Ed6ANRIKz9+sn2gprFYh+dBO+B+MZ6SOjrZakR/8Oqh3RgaHjpZVDiEpUuXmRxx+8bdPac1aAwk4Trurqg4ZIxg9k/MzMrGUy+Uo2s4htnChq62Y/jQh69GYnw07vuLtPtjQT7u9ouRzhMyT/5swPm2t73NfNmYS/7lL3955MPIkzRPypzh5DJ8mprMv/rpT3+KD3/4w+ZvbN261cyCzgWeaD/1qU+ZA8zt8ITKGQl2FufFO4WCTGfbNJF4IcoGdRwY03zhG2mZ6GNfD/PNpjoOU8Hllqygp4hwH7nUi184ChtnTzgY9+dxs7pq8/VYN8KZYF5QL1261DT7oOBzGSify5mdn//85+bD7bt9/i3r961/x1t6YeWm8X7PsBvXpi5CXmQXnj2Zk563+VxUDg7gIpcLF114If70pztx881fNhEsvMBnla75/RlkkrGSuK1tO1pbWkfuO+/883HddW/Glue24Kb//E/z85EjVcaM/va3vzPy99/85uvMMhy+L6zO5SwwRWWqfbAy0+xsWsYlX1zFa3ejNJrodm2TFy5s4mr7a4yY2WfOH3B7gdwmc8NZgZ6Xe9Jk8Dm2my64APfcczdqa4+huKh4RGx89+eDH/oQ/usrX8DKj77dmOgWS9wJeOy7t+Ad37zVnHdZkcL3jRfPVsWud2JsaCSPmlUqNPI56P/Rj340p2aj/Fs8R1qTndQDnsN5m802CKv7GAnD8ztfk1VVw8ZSn/jEJ8bdJ75mnisYlXP++eebbuD5+fkjz+N9PCZf+9rXjOE39ljx8UAi7ZZ2z1a7J3qOdd90rhO8G4wHYscPw+gcGEbj8S40bNsxamUOY5pu+H834oEnnsQ73/9P5mc2zuWAlhfDkYleY/2G974fdz/wMN514z+b7y+NCZoNXYPukeeMS2yCuU36HD/jiU2AJyYekT4RAAGFkQLRceY12mWkuztPwBUPe49rzHHvZ9LGbbpj4hCRkBTQbd770KMoLFuGwsVLzc8sRLGu4TlG+M1vfmMqTFkMNKLdPu/zpz/9afzjP/7jyP28UZstPeJKGWm3tHs6aNwdWuNuv2n3FHCVH/V2rHbTy2Dzv3e+852na/fJv8/n/PWvfzVjA1/tnmofRsbdNjYc5TbNuDTA27Sy0a0Ib5roHK/ZAV8f+87Ytb1Rn0mbt+kdAwdum38/Oe5OS8vG31+sQVP7qRWZBZkR+Mq3Po//95Y1SJF2IxTG3S7PLFL1ecLjUmRGnvjCai7eWG1Fc5li4AsNUJ48uXSHBjFPlDzBcpkzzQ7O6HG2lAJidYxm9SANEVYU0qyeLqzu4TIgnvy5NJsGOivNfBtCTLVtwogRvlb+HRrofF3WyXK81zOd4zAdaOJz/60ZQJr5vrNyU+07l2yx8vP973//SPYhXwNnWmj2WxVzzAvma2TuO2d9KVSszmNVNpdTHD582Gz32muvHRVnM5vtE4oz/741O249h8bWwzV78HCNd3kXOSt7Ia4tWm2+EM8/vwW9vX2m2pr7s/X5rSbDbTrc/ofbUVJSaiqhfAWd7w3NeTYzffHFF1FTXY2U1FRcuGnTaRMfbDzKCp7Ozg4zi87XfctPbjFVixPBbDv+Hd/qxEDDEwePpV3bZF42qy1ZnWyXyVxztMasDMgeU+UQ6G2ySjvL57McaOz4/Ozes8fMvpecrBDkJFLxwoVIiI83mXicuCouXoic7GyzP4NDQ1jqU8Wyr70e91a+hqGTTVFjIqLwviVn4+ycEiNKvEDm95evg+fBsQ15OMnJ5a3cBy49ZXWONdk5HSic40Xf8NzrK4asqKGpwCr7ybbBSUu+Tt+mk2PhuY3nTe47/46V2zjePnE/eK7jecY3I3Ms0zlW/kDaLe32t3aPfQ4Hxlal23SusSbjxz/+sfku8NrFN9OQq0M4wOdEHCe5OTnG7w0LEMZWv3HbXMbJyXQu2eR1GxsOT9a0jN9h/h3f1xZoeO7lucmubbJKhwUarO6zy3Tg9SSvM2dyLe+PbbI60c6qNjs+PxxjsJrT+q7x3M7+T1b1Js0v/szlz9wfauDq1atP+xv8frAK1LeaUtot7da4O/zH3dLu0NLu3/zlDXR2DyA2JhJnLBw+Oe6OtHHcHY/srGxbtmdtk+OmrEz7xvqM+uW1ZHqAx92eiHjsrxlET9/QSKHe5ecWY3VZlrQ7xMbdszLSRfjADxBnYqwGqpags5J+NhMA04FmFSdIxjOznq49iLsqd4z8vDo9D9eXrEPUHE2lY7W1Zsn0dPJux6O2rg4FJ2e0aDByIO4eduOrX/3qhL/D4xpnhCfL1mXMLD4aqTAOQyOdUTIFBflISrRn6d7IBEVmJtJOLkO0g0OHD5nPa0qyfZV0+w/sN5NO8XFxkz6P/Qz+XnsALzZWjtyXG5+Cj664EPmJ0z9GjLrgUkwu6bSj670Q4UKwaXeg4AQYTT7fipKZwItvK0qEl7s0HWgiMyJusvM9L8DtNHy5pJjVdkVFRWFrpLOqkO+FFbNll8lBHR078Aok1DR+Xu0souB7ye/9ZANHfyLtFmJ2SLunh7R7NL+9fzfaO/sRHRWBtaVuW430g+UHUZBfYFtkDjlcWWni0dJS08Jq3F1e3Y6XdtWZ5q0kJgq49qISlBbZ4xVJu/2LX6Jd7ILxLLyNBwc8119/PYKZYNz/8ZrABhoaZlYH8bFcVrAMidEx+N3Bl+GGB3va69E3PIR3LdqAmJPNRscOzKwmJWPJys7ClZuvNP+Pjooy1bSzhZE7qakp5gS7Z/ceNDQ24Btf/8akvxMVHWUy3e2EBqjVTCYc4eoBVlaxKaad8LPDz5CdDA0OISrKnrxca4KIRtNUp4TOgT7cXbkDNSdONV7dmFWM9y09B3GRM9tfax53vPMQe1F87nOfm/B3mdk424kxYS/BqH2hvv/Bpt2BOqasyOM5f7YwY5bVJjQ2WYHLij/GXkzGXLc5G2iAMtMxXOHqAU7C2GX0WvB99K3qDMdtUke92m3fOUHaPT8IRu0L9f2Xdk8PafdoWLVM7K5/ZS67GXfHx9m73aFBW8fAp8bdUQErPHx1dwMOVLWN3JefnYiSrF7kZtnTj4dIu+exkc4L8f7+/nEf8+10HawE4/5T0H1PyhzkMBctkEuUeJKabJB6Tk4pEqJi8Mv9WzHoHsahzmb8vuIV/L+ysxAfFXOasTrRsfPdBk3tvv6+We8zs5TYhIB50ddedx3OOedsJCdN3qiQAtDX2ws7YQV8b0O9MUVdVueKMKKvr9cMUKNszL/jseR3l58hW7c5PGyrec/Zcd4mu3Cp7GrBPZWv4cSQ9zsX6XLh7YvW45K8pbMaHExmyjHuhQ2eJ3tchAbBqH2hvv/BqN2BOKY837OCZrZwGTv727CynRGBzFy0GpxNBLfp20jeDvj+WTmNThgtgYbHkysLAjVIHQ8eSydMbX627dwmdZQ3u7c5EdLu8CEYtS/U91/aPT2k3eMb6VYls1309fadHHfbPAY2Omr3uDswBWy9fUN4+tUaNLWduq48c1k2Llyfj92735B2hzAhZaSfd9555haqBOP+c1DjOxhnXhubagaS6VR7rckowH+svhS37H0OfcODOHqiHbcefAk3Lj0HydGnZkXXrV1rblPBE+NcDAAamsxOn+nvdM+hCn42xMXFmkYkvHCMi7V39tgOmJMfb/Os+PCw23xH7JwZ56w4sdO85+y/t5HP6RErbmauNhzGU3UHTqahA+kxCfjoik0oTZn9cjR+TlnlOp5xxDw+9jEQoU8wal+o73+ware/jym3ORfDg7/P7PSZ/o7dFek83/H9ZAYk/x+ORrrd1eiMr+ExtdNgtj43dm9zpo0A54q0e34QjNoX6vsv7Z4e0u7RRJwcJ9FHt7Movbev1/ZrEku77Zx4Hzw57va3ed/c3oOnX6k5LQ99zZJsc70n7Q5tFEo7z6FQWdUsdsGqpOkMUpek5uC/zrhixDhv6uvCrw+8gLb+EzPeJk1ty5y083VOVAkRKFiFTkOlq6sb4UhXZ6d5fXZCE8fbHT3C1igZVt3buarAWtI2dpu9QwO489A2POljoq9My8UX1189JxOd8Pth54WSEOFCMGu3P3HC1I6NjTUDHDvhYMpquhyOMHLO7lVE1Beay3YazPysGh21cVWBVXVv5zal3ULMDml34Ahn7Y48WZFuN52dXQ6NuyNty4AfiZKJPH0MPNc89Eefrxox0RPjo/HOq5cZE51Iu0MfGenzHKtqxk7DdyYXEUVJ6fjvMzcjM9Z7Ej8+0IvfHHgRDT2dM9omBzaMyuDSHbuIjYsbyfS2Eza44qDVztdqB/0D/ejt60OqjY1HrDgZuzPZjaDbWI0+UQ58XU8Hfr7/eZR3NpmfeXlxXfEafGL1JUjyWRkyW3jesTu/VohwINi125/b5BJfO3NBWX1lZXrbCWN5mJNudwZqoKGxwYp0Oxt+OlUFPx8y2Ym0W4jZIe0OHOGs3Va0C7HrEoHjbo6Bp4rDC0ScTFyc3Zns/otwZR46G4q+8HrtSBQP89D/35tXIi/7VMNWaXfoIyN9nsNYBd7mkkE6UzjLyBnc6RrMOfHJ+PSZm5GX4D2Rdw/147byF1Hdfaphw1RYJ8ehoWHYBSuYOTvOZVF2kpKSjMHBAfT22LvdQNPe3o7k5CRb89FJT08vEmxe1mYE3e4mKz4XEbwY3N5cbVaAcPKKJEbFGAP9zQvXIMLlH+ngxS6rXIUQ4afd/jQdeH6y83VyEGd3TjonwXlOPHFi5qvugpmWlhYzELd79RGPo92VdPPFSJd2CzE7pN2BI5y12wkj3TvuTrY1H5309HLcnRCSjUaZh/741iOjmooyD/3tVy0zFem+SLtDHxnpwpw47FwKxYE4tzmTGeP02AR8+owrUJLsbaTWNzyE35e/jPIOb6XsVND4YzyH7bmncXFmZtVO+FrT09PN7Hi4wNldCnpmRuAa6U1akW63kR7AzuFTdUgfcA/j/iO78GDNbgx7vJWn/N59cd2bsCo938/bHJKRLkQYa7c/TAcOju2uMGMls92Dcb7WrKwsNDVN77omFGDWKY30nJwc27etivTAIe0WYvZIuwNHuGq3b7yoHT76sHvYjLszHBt321uRPuiHAjbmoT/47KGRpqKc/Nh8/kJcfu7CcfuPOWGkS7v9i4x0MedmXnZlrSZGx+KmNZdhRVqu+XnI4zbZzW+01QZt1ioNWLsr0gkN586uLse60vub48fbzWcmIdHeGWq3x42+vn4zIWJ7tZfd4jo4hG7PEH59YCt2th0buf+SvKVmEisjzv+VfYyIULSLEOGt3f7Y5nww0gkNZ0az2d1fJVBwQp8r85KSTi1ntgNqC1dr2B3twvfN7lVWTgzGpd1CzB5pd+AIV+22uyKdryUmOgaJjoy7+xBvc6QqrzHnoqNT5aGPh7Q79JGRLhwZpM7W1I6LjMbHV12M9VlF5mc3PLi36nW82nxk6t+Ni0efjcvgCQ1YRqzYnVfO9zQ1JQUNjQ0hn5XOnPnmpmZkZWXb2nyT0ETnLHJ0jL2DVGbBM2PfTipOtOKuhj1o7O0yP8dEROFDy87Hu8s2IipADV84GFe0ixDhr92hNjDmNrlM2+68cprOXFF27NixkM9KZ+VTfX09cnNzbW2ESWiicyWD3frCzylzeu3EqcG4tFuI2SHtDhzhqt2+RvrJ2O2AMTQ85B13Z2c5MO7uM9pt97jb2w8tNmB56OMh7Q59ZKSLkWZeoTIYj46IxIeXX4ALc8tG7nu4Zg+erS+fVLzi4+OMQWkn8QnxI1XNdrMgNxc9J3rQ0TGzxqzBRn1dnTmOzH63m+6uLiQlJtl6IcHPCysa7MplZ3zL40f34Znuoxj0eHsI5Man4PPrrsJZOSUB3baq2oSYP9odSkY6s7Wtqma7KSwsRHd3t1lWHcrU1NSY48j8WLvp6OhASkqKrQY+Py80AeZDLru0W4jZI+0OHOGq3aMq0hFY6uvqT467U2A3XV3djo2742eYyz6TPPTxkHaHPjLShZkZZ45lKA3GmQP+3rKzcHXRypH7nq4rx2PH9sE9gZkef7Ii3c4Kbe5nclIyujrtN7Ojo6KQl5+P+vo6k/0VinR0dqL7RDfy8wtsnxUnnV2dptGKnTBTnw1V/dU9fDI6B/rw24Mv4cWmypH7zspeiM+tu2qkuW+g4IWuBuNCzC/tnouRbmeFGTNP2SCTy5vthse4uLjYGNF2H2t/QSOhs7MTCxcutL0anfB94/tnJ/yMMvvYicafdm5T2i3E3JB2B45w1e5Im6JdOjo7HB13d3V1IsnmcXevGXdTu6MCloc+HtLu0EdGujAnfl4Yh9pgnIOzfyhZixtK143c93JTFe4/snOkSaIvbFzBmBBmQdsJjdiubm9cht0w3oUzuzTTQy3ihe8Vq9HzcvPMpIDd8PPJlQS2C/rJ5qaBvoCp7GrBz/dvQc2J9hExeEfpOnxw2fkmQinQWDmCykgXYn5p92yMdFbe271dDsZZ2ewEXCLOajAOyEMt4oXvFfe7qKjIkfM7B6esRnTCSOdn1c6JA06k2R2zIu0WYm5IuwNLOGq3HRnpjHRhNXquQ+PuATPu7kNycpIjzU2nO+6eTR76WKTd4YGMdOGIoDND0l8VZpsLV+D9S84ZOf3taqvFnw9vx6B7+LTqcGaY2d38k0YsZzudqizLzcvzRrwcd+aiYjbQ9LciXVLT7B0M+1ajJyYkmOpwO+FnJZDNTbli47n6Cvy+/GWcGPLmK6dFx+EfEkpxeeEK20wAGh3cFqtHhBDzT7unC88RcXFxtse7cDDObTrVtJtGNJeJt7WdWjYc7PBzYUW6ZGRkOLIPrERkc1NWhzthpNsJdZSv087XKu0WYm5IuwNLOGp3oCvSveNub6RLmkPjblajJyQkmupw+8fd8QHNQz99m9LucEAOhhgRdDsH5ByMczbOXyJ3Qe5ifHTFhYh0eT/SBzuacHvFK+gbHhy3+aed0IilIetUVTpnlQsKC1BXX2eWawU7FPOGhgb09PY6trTMymlLdiAfzjszHph89N6hAdx5aBueqjs4sj5hZVouPlp8FhalTn8m3R+w6kDV6ELMb+2eaQMxO6E5SUPWqco2vr8lJSXGmGZMSiiY6Gy0xvfJqUgXwvfLiVx2J4x0Hmu7M9ml3ULMDWl3YAlH7Q5kRvqpcXePw+PuLkf6oVkV6YHMQx+LtDs8kJEuRswsOwfGrDCzKtv8xbqsIvzH6ksRG+GdyazubsNtB19C9+CpRp+cabW74ShJSU3B8Xb789osmNOen5dvRN3uqr6Zwk7hrJ4vKVnoyNIywkx5ilyKzbEuVmPaQFSk1504jp/vfx7lnU3mZ14mXVe8Bp9YfQlc/UO2GwB2Z8MJEW6Ei3ZPB5qFTmgXl2m3trbCKVhZx8zVw4cPmwq3YKa+vt5U4C1ZssSxcztX/nEwbreRbjW3s1tHnTDvpd1CzA1pd+AJN+2OcAWuIr1pZNxdEgTj7hQHxt2TV6T7Iw99LNLu8EBGukBkZKSpHLK7w7XVQMyfLEtbgE+ecTmSomLNzw29nfjNwRdwvL/HsYajJDU1zRj4ff32m/gWHFjm5ubiSPWRoKxMNzPijQ1mIF5SWoLYGO976NTScH4+7cwdtRqNUpSjY6L9WiW4vbkav+b3YMD7HU+MijEG+psXrjGRR04Jut3HV4hwIpy0e7rbtDsvnPEk3K7dx9iXzMxMFBYWoqKiIigr061K9ObmZixdutTE8DgFjRNWIjLGz074GeH30W5Nk3YLEXpIuwNPuGl3IDLSrXF3e1CMu9sdGXcz1oXfx4nG3f7IQx8PaXd4ICNdGDjoYBVPOAzGS5Iz8ekzr0BajHd2sa2/B78++CKaervM0h3OPvLEaXe8Cxt/trd7Gzs6RUZ6xkhluhMdzSeC70ldXb2ZES9dVIq4WOcG4ryw4PvEaga74XeQzWH9taxuwD2M+47sxIM1uzF88sqL348vrn8TVqXnm58Z08DZeCeMdCcNFyHCgXDS7qm2yapfu7fLJeLUgpaWFjhJdnb2SHWbk1V2Y+F7wusJToAvW7bMrFZw0tDn+5SVlWX7thkhwAZzdjcalXYLEZpIuwNLuGm3v41077i7Dsfn+bi7e4Jxtz/z0Mci7Q4fZKSLkWXTduePWku1A1FhlpuQis+ceSUWxHujOboG+3DrwRdR19NhYk544rQbzo7TvObJ2UlYmc5GKMxDqzlaY5ZTOQk/A4cOHTYZZYsWLXJ0RpxwCZ7H7XYkp405+v7KZW/p68av9m81zXctLs1fik+fcQUyYhNPa3hi91J8LsG3O9tViHAj3LR7skgZLpV2IvOUA2EOgDn4cRJWt1EjWf3NQblTDcx9tXLfvn3ms7B8+XLHJ0ZZ8Udj34l8dCdy2aXdQoQu0u7AE07aParZ6Bz354QZdx8yq6CDZdxNs5qT0c6Mu5MDmoc+Fml3+CAjXYwIut3Nw1i5NDQ0FLDBYEZcIj59xmYUJ3lnOHuHB/Hb8pfRFjmMzi77l0czn51Llrh8yWk4mbC4rMz8//ChQ+hwYLk4Z8O5pIxRM5yFppgHQ2Z2S0sr0jMyTOSJnfD7x3x0LkufK3vb6/GL/c+jqc87YRQTEYUPLTsf71q8EVERkeMuL7Ozko6vlYaH3VXwQoQb4ajdE0Ej3YmVVDzGrB4MhkpwHoOVK1ea/9PEdmKVG8/dNAS4XJ3V3zTRgyGmq7Gx0RgnnHSxk/7+fjMwttsEkHYLEbpIu+05xuGi3f6oSLfG3dXWuHvxIsQExbi7BRkZ6Q6Nu/tGjbsDkYc+Fml3+CAjXRhoaHHGlgMku5uWBbKaLjkmDp9ccwWWpuaYnwfdw/hrw14cOtFmuwnAZUOZGZnGqKWYOQ0bihQXFSM3Lw91dbWmOt0OQ4ZLuPieHz5caf6lgZ6dleVYl3Bfenp7jcA5EuvS3WUu+hgDNFuGPW48dnQv7qrcYWJdSG58Cj6/7iqclVMy7u/w9dpdGc4LSJNJFwQXcEKEMuGq3RMNRGlY2j1xwEnGnJwcY9TaeZwngufNxYsXm5Vl1dXVpsKNZm6g4QoExgjt37/f/EsDnX1X7JyEnQh+FlnV5lSsS3JyslnZZSfSbiFCF2l34Akn7Z6Lkc5xd7cZdx/GiW5r3J0dJOPunpPj7gwHx91e7a4IUB76WKTd4YOMdGHgoJiDJLsHxnZkrcZHRePfV1+KMzMKzM/Min5psAkv1lXAblLTUo0J4XRWui9pqakoK1tiZoIrDh3C0aNHjaHs74asnDw43tGByspKY9pzGTTF3MlctrHwYiszM8ORruVdXd1mMD5bOgd6cdvBl/BSU9XIfWdlL8Tn1l2FvITUCX+P33m7K8NpwqgaXYi5E87aPRYalawccqIqndFs1G6n81bH7tOqVavMfu3du9doKz8H/o7coQHBDPQDBw6YgTiXqdNEdzIPfSy1tbXGMHFicpZGOid57EbaLUToIu22h3DR7tkY6d5x93FUHq7EUWvcvTgYx92ZDo27u8y4m7EyzEPfGoA89PGQdocP9n9qRVDCkzmXP3GAOhczbzaDcTsyT6MjIvHRlRfiDxWv4qXGSmMRP9VSiYjYGFyY6404sQPO/i5YkIO62jqkpaUj0uYlyBNBAWNn8ZyBAbS2teLIkSqzVJv7mJycZP4/m5lrijjjSjo6jptGoq6ICGRlZQbVa7foPtFtctpZKWA3zM2nsObn5c3q9ys7W3BP1Ws4MeSt1Ix0ufCORRtwcd6SSasFaZA40ayM2+SFpBBiboS7do+FA0Ful6apnfA8WlBQYKrIOOjjippggMZxaWkp8vPz0dTUhPLycvN54D7S3OX/Z1MxTm1g9T8NdN74OVuwYEFQvXbfbHRO6nBi3m64GoSDcTaTsxNptxChjbTbHsJFuzmus/BMOe7uM9dJ3nG3y6zU4rVT5JhoT6fhKjLuqzPj7mEz7k7PyMHjL1ShsbVnVB76JWcV+S3KxRdpd3ghI12MwEovJ6ra6uvrzSxsoJcHR7oi8P4l5yAxKgZP1h4w9/299gB6hgZwZcEK25Yn0+ygMd3a0mK7GTAV3K+83Dzk5CxAV2cn2o8fN7PFnAmPi4tHfHzcyL8REZGmKScZHhqC2+UyjUtpRvf29pl/aaLzd5OTU4xQJiQmBMVSsrGw+p6vMysre07RKnO5mOCxn2nOrNvjwfMNh/B03cGRC6uM2AR8ZMUmlCZPvcSd5oMTjUaZr6yKdCH8Q7hrty8cYLL6mAam3QNia3BLreDgN5jgflFjuV+cVGEmLI8TzRq+V743HjdrmTvPxTyWjLqjHlg3muj8XWvlGD9jwRDhMhZ+/vg6GTFjd7SKZeLz2PNmJ9JuIUIfabc9hIN2Dw9740asivThoWEMu9wYGho0TUN7Oebm2Lu/z/wux92FRUVIDPpxd9ZItIrd4+7+oSg8/kLNSJQL/YrLzy32e5SLL9Lu8EJGuhiBOVEcFNi9TQ6E7MqLinC5cEPpOiRFx+KvR3aZ+15orETv0CDesvAM83igoaBx0GeabGY4EyMyFZEnB9C8cXa7v38Avb0cXPehtbXFGOS+S9DKK7wxOZy9tYz2zMwsJMTHIzomOihF3JeOjk4MDQ6ZWBcn4KQFK/9nAieA7qvaifLOppH7VqXn4Z+XnW8+39OBFQtskGZ3o1EaN3bnsgsRrswH7baIi4szA0++Xrt7WfA8yZVbbLLJppbB2OOBJjkr2nizKp84ycL3iYNWGuS+2r1nz56R37MG7Kw853tqVqIFoXnuC2PyOAngVFECjQ8nYl2k3UKEPtJuewgH7W5oOFUxTQkvrygf+T1eFzEqKDMrEwnxCSEy7u4wxXd8vU5woLIFB6oHcTLJ5f+zdx/gcZ1l2scf9WKrW7aKbcmWbbnHCQmpQCqhJNQEQmdhYSFAWHroYWn7sUvZpYfQQ8+GEkhggfSeDXFiOy6SJVuWm2TJsiSrl++6X2VkSZbGKjPnnJn5/65rokiWNUczIz869/uc53Xz0F9yUVVURrmMRe2OL8FL8OAbnUCpO0n/gGs106vipiBPJyNenYzrPl+4ZJ31d3bbn46MFKJ/tOyz7sF+u3rZ6ZbqwaVPeqz1/ao4Li4fmd0eVJqdnqUinZlpVjB+NVnh885du6y6utpSU1MCX7inGqui50En4l7vGB66//aOdlu2bPqXpe8/3uY2FG3r63bv61G/YukGe9HS9TNaDFJB16KOl9hoFIisRKndIQrQNe/Uj02h1UGoq8rUMVZZOfkGzkExtqNtLAXpCp+3bNliGzdudJ3cQQ/MJ6MFWT0P6uTz6nU/8f71+tfvP16jdgOxj9rtnViv3UkZLbajcWQPLGW/1dWrY/i8e9Cddy/y4bxbM9AffuqA7dwzcv4cmod+5UUrXJgebdTu+BKsIcVIyI1PQjNPvfaCqo12aUbZ6Nyx7W2H7Ke1j1rvmMunoqmstMw6OtrdrtGxSMU7+ZlL61X0Y7GYy6FDh0bmwRfk+3L/mh+vDku3UHEK+vl8rHmv3bTzgdEQXaOKtJnuFRUbZhSia6d4dSd63U3HRqNAZCVa7dalwPp3RFe3+EHzsBWg+vG9R4JC85SxtTsGQ3RpbGwcnSnrB82OVyeg12PKqN1AfKB2eyuWa/fEzUb1PufdM9PdM+Dmoe/cc3TcPPSrL6/2JESndscfgnRMummZl9TVpkBP/8B4SeHp6YWL7ZqSDZb+TBd6fUeL/XDXQ25sRrTp0rKSRSVu49GBwcGo3x8m32BUQXZ5WZlvv5DoZHw6nZV9Q4N2657NdlvDFht85tL8ZTlF9okzXmhrC2a+Sal+kVR3htdzhnW5ojpDAERGItZu3be60v2g+9dl4tq8TFcCwHsa7aPaWVFR4dtCQHNzs1vU8Rq1G4gP1G5vxXLtnhikxyrNJlcNKy8r9/S8u/lol/3h7trRTUX1cF52XoVdck5FVDYVnQy1O/4QpMP3jU90WbECPb862/K7huxf119s2akjGz0e6DpmN+180I490/EbTeqCzsjMtEMHD0b9vnDySJX9jSOblM10k89I6erudl2VeXnhu+GP9HTajdvvtydb949+7OKyVfbBjZdaYca8mJrtykajQOQlYu1WkD523reX1AWtbsJ9+/b5cv+JTCNV9uzZ4wIRrzf5DNHPmhaQCgu931eF2g3ED2q3t2K1dsdDkK6RLo3aHHyRt+fdNXuP2u331Y9uKpqeanb15auiuqnoZKjd8YcgHeNo1qkfl0sr0PO6my50v+pmKhxKdaFkXlrmaHCp8Rl6G01ajVU3tMa7aE42vHPw4EFLz8jwZc5uSGtLi+XnF7jNXaey7egB+872+6ypZ2QEUEZyqv3z6vPt1VVnznqev4IIdQVoNIOXQhuNen0pPBDvErV2+3HfovtWN7QWEfw6hkSlAEQjVfzoBg9pampygYzXV3RRu4H4Qu32VqzW7pQxQfqQxaaDBw9ZRka6FRQWeDYP/aEnD9j9T+x3/y+Fuan2/GcXWfmiXPMStTs+EaRjyo1PvKRAT8Ge/qHxuqBqB2+dFJXPy7cPb3q+FWeOjJ041tfjOtPVoR7tES+lpWVuA5TePm8vkU9U2vBS8+n9HOmi3cqPtbdbUdHkHW2Dw0N2x75t9qu6f7ixLlKanWsfO/1yO6u4Yk73rV8g1cnndTdfaKNRv64AAOJVItduv+jfMc1cVXe0RlYh+nQVgsIPP0e6aKNW1TJtUO41ajcQX6jd3ovF2h3rHeknzru9GekSmoe+o7519GMbVhbZ+iWDtnTJzMehzhW1Oz4RpOOkgq6Tk5aWFk8fmVCop7mXXlNXU1dXl7styJxvHzrtMls8b6RTV7PSf7DzQTc7PZry8/JcZ/TevQ1u5AiiR8/zwUMHbemSpb4GukdbW10nSkb6yWF2e1+3/WDnQ/ZQ08gO7aLw/PpNl1tJdl5ECrrX3eihX6Q02xhAZCV67faLRnvoOGpraz1fTEg0WrBRN3pVVZVvI11Cs9E10khd8V6jdgPxhdrtj1ir3bEcpB9/5rx7iUfn3SfNQ09OcvPQ11VmWF5eLrUbEUOQjnF0Iq5Lpr0+GRcFe35cZqU5ryqohw8fdu/npWfZBzZealW5I7Oz1A3805pHbEfbyJ9Hy6JFi1yB0YnisMVYlYwR6iRraGhwc9EVYvtlaHjIbZQ2WTf67vYj9q3t99m+4yO7iqckJdtrq86yt1afZ5kpc99VXDOFdTLux3x0dX74OUoHiFfUbv+Ul5e7YLeurs63me3xTmOLdu/e7eaiK8T2i674UJDuRzc6tRuIP9Ru/8RS7U4ecwVWwA91nL7+ftun8+5FJTbfg/PuifPQ52Wl2atfUG3rqoqo3Yg4gnRMGmj7camTgj0FfH4UMwWr6pbt7h7ZYFQbj/7r+otsfUGZe39geMh+sfv/bHNLY9SOQZc6LVmyxIW9oVAfkaNO/70Ney03L88KC7zfIGysI0daLC09zW0yFDI0PGz3HKyxn9Q87K6EkMKMbPvwaZfZ88pWRuwydnX16Wt5vZCgjlV1fdCRDkQHtdsf+vd0+fLlLuzViDZEluqGuga1CKtxPn7S72ZqePCjjlG7gfhE7fZHLNXusXtpDcfQ5qIN7rw7N+obc082D72seJ69/sq1Vlo8n9qNqCBIx6SBtk5cOjpGNjf0ioI9FTWv71e0Iq0TtLGFND0l1a5d+9zRedTqEr91z2Z78HBdVAvl0qVLXKjf0ur9VQHxSh3g6vRPSU6x0tISX49lYHDQWlqOuCsQQnPiFJz/rPZR+/uBnaO/IK0rKLWPn/5Cq8wpiuj967UV2qjPS5plrIUDrzdnAxIFtds/+ndNI0c0w9vPue3xRh3g6hbU46tGAz9pDwIF6epi9GM+O7UbiE/Ubv/ESu2OtdEuofPuZHfeXer5PPTTqovt6surXUc6tZvz7mghSMekRUWBl9cFRScmRUVFrpj5QV3pCvHV9TM22H5L9Xl2Yemq0Y/9ufFp+/v+nVHrnNfM7IqKSnfC1nr0RFHA7GgBRMV8cHDAlmqDMp82Fw05cqTZsrKybf68kW70/cfb7Nvb77Oa9mb3vo7uJRUb7N3rLrT5aRkRDyVGRspENpyfjuPHjzPWBYgiaveJ2u0HzcxeuXKlW5DX+A/MjX7HUoiuk+AVK1b4trloyKFDh1zDhx/d6NRuIH5Ru6nd8RSkj553DwxaRcXSqJ53TzUP/ZJzKiwlZSTmpHYjWgjSMSldQqvgy2va+ENz0nXi5LW0tDTXJdzY2DguJNdcsmuqnmVXLN0w+rF7DtXYn/ZtdeM4oiE7K8sqKyrdP/6E6XNfEde4HC1OjL00zg86jpaWVvc602vssea9dtPOB+xY38hIofmpGXbd+ovsxUs3jJuHF8mONr3Ox46U8YJGReln2o+57EAioXb7e4apoFVhun6PIEyfeye6LrnX4+n3lUw6DjWXqBvdD9RuIL5Ru6nd8RCkjzvvrqxwV4J7PQ99w8oTI+Co3Zx3RxNBOialwEv/COofIK87unQi6sdmp6KAs7e3181qH0udUFdWbLBXL3/W6Mcebd5rt9Q/YQNDQ1HbyT0UpjPmZW7FvLJymaUG4NKmw01NlpuTYylpqW5M0G0NW2zwmd+IluUU2cfPeIGtLYjeJXC62kOLVX6MddH4JN0ARA+1e3zt9oMWKkNhepAvFY+FEH3VqlVuQ3i/HThwwM0x1u9lfqB2A/GN2k3tDidlbJBuAT/v7tN5d6WlpqT6Mg99LGo3593RRJCOSYVCL4W4XlPQp5MGPzYdVdeTZnnp0uzJ7v/i8mp7S/W5lvzMZUpbjx6wn+9+zPoGB6IXplcucyfjhw4fcpdL4dT6BwZsT/0ed1lZUEL0nt4et0CTkj/Pbtxxvz3ZemIe/8Vl1fbBjZdaYca8qHaF6yqTaG/4MtVGo+q2ARBd1O7Ja7cfYbpCYJ3ETbzKDVPTwveuXbvcFUxBCdG1Cb1GopWVjWw+7zVqNxD/qN3U7ljuSNd5d339HhvQefey6IXop5qHPu5zqd1ReQ5wAkE6pqTuGwVgXlPgppMpP0bLhIL80DzKyZy9cJldu+65lvbM5Uq17c3245pHrHugL2pjXrSreEdHp+3d22CDUeqAjxfdPT1Wt3u3paenu2Lu9ziXEC2GtGaa/aD2EWvqGZkHmJGcam9bfb69uupZlhrFy99Ei1P6mdZoFy/pZ0mdhbpvANFH7Q7G3iK6um716tVuAbW2ttZt4o6pdXV12fbt212gpBDd73EuIVoM0e+FumLSD9RuIDFQu6ndsRikd/d02+5nzruXufPuFN/moY9F7ea8O9qCkTAhkBRoKwBTEOal5ORktxmiX5dE6/41B1NdZFPNat9QWG7vXX+RZaaMhJL7jh+17+98yDr6e6K2AanCdNElz719vVG5n1jXduyY1dfXWWFRkZUvLrfkpGD8E9fWcczua91rfz1aZ31DI2FKaXaefez0y+3M4oqo378CHJ2MFxefmBvnFf0c62fKr0vigURD7Z66dntN4avCdNmxY4frLsbJ1Liwc+dOW7hwobskXDUjCLQIok3odaWiH6jdQOKgdlO7pzXaJUBBetuxNquvr7eiokJbHMXz7unMQx+L2s15txeC8ZsqAknBl05m/NgwSydT2nTU6xntY3+ZUTdZQ0PDlJ+zMm+hG8eRkzYyf6qpp8Nu2vGgtfZGp5NendXa/TonZ74L09s7vL9aIKg08ubw4cN24MB+W7x4sRVrDngUdwmfidbuTvtJ7WO2c+DE/L9nF1fYRzddbiXZeZ6FFOoU8HqT0dAmaeqy8XouO5CoqN3ha7fX1Fm9YsUKNwNXYbp+t8EIjbzRKL29e/fasmXLrKSkJDC1QosxOi79TuH1lVwh1G4gcVC7qd3T6ki3IJ13H3jmvLs4KufdM5mHHkLt5rzbKwTpmJJOZhSATTXiJJp0aW9ubq4vIX7oe6+oqHCjbRQETmXJ/AL70GmXWWHGSLft0b4uF6Yf7o5OyK0iVbKoxEpLy9zJZ+P+/TaQ4JeLa5SLLinr6OxwXfu5ObkWFLvbm+072++zI0MjXYgpScn22hVn2Vuqz7OMKM2PmyyoUFe4Fqe8Dih0NYs6MBnrAniH2n3q2u3Hc6KTzaVLl9qePXvcLShd836PclHnmLr2g1YntGlaVlaWu0LSD9RuILFQu6ndU0kec/72TJ7s+yiXaJ93z2Qe+ljUbs67vUKQjrB0YqMgzOvxLrJo0SIXpPtx36IOJJ30qrMt3Anvoqxc+/Bpz3ejOqRzoNe+v/NBa+iM3gJEfl6eraha4Y5rd22tK2aJRqvhTc3Nrjs/Z36OK+aZGf7MMJ1oaHjY7j5Y42bn9wyPLHRoseXDp11mzytd6WmgrcvS9Trxa5NRhQFaFAPgHWr3qWu3H/Tv8Nq1a90+ME8//bQLkRONasLBgwddd7669BWiK7AOEl01oOdGDRV+dchTu4HEQ+2mdgd1RvrIeXeTJ+fdM52HHkLt5rzbSwTpCEsBmE56/Ojs0hgKjaNoaWkxv2jEi47jVJeJF2Rk24c2XmqVOSOdSz2DA/ajXQ9bzbGmqAb9GvWiTmOtviZSd7rbULSuzp3o6nJwLboEZR5610Cf/az2UbvzwM7Rj60rKLWPn/7C0deHl9SNro3S/Jg5q8v+cnJyAjPvFkgU1O7p1W4/6PcajXopKytzdSyRutPVha4AXVc6VldXu/1oglYf9FzodaMrCPRc+YXaDSQeaje1+1Rhuh9BurrQ63Z7c94903noIdRuzru9FqzfXhE4OsFRB9WhQ4c8v291Aekfat23X13pOgZ1pU/nMvF5aRn2vg0X25r8Evf+wPCQ/az2MdvSuj96x2dJLuxfuWKlDQ4O2K5dO12X9qBPj1e0aWa+Fg0UPsyfN9+qqpZbdoA62fYfb7Nvb7/PatpPjCR6ydIN9u51F9r8Z2bpe+n48eOuq02LLV7Tz6xCEz82OAUSHbV7+rXbr98ttMC5bt06d/K3ZcsW16WtzSXjUW9vr6vbCtEVFK1Zs8btQxNE+h1Ds4r9Guki1G4gMVG7qd2n2nB02K/z7vk6766y7KyRcbZBmIc+FrWb826vEaTjlBSE6STIj40/FeL7teHpZCNedDl2OJkpafaudc+zMxYsce8P2bD9pv4Je7R5T9SPsWJphbt1dnRYza5d1tLaYkPD8RGo9w8M2IGDB62mttaSkpNt1cqVgepC11UbjzXvtZt2PmDH+rrdxzItxd61+jn24ooN42bbeXlMmqOvEN2PjdIUCulnV5fuA/AetXv6tdvv7nTd1Om1detW14nsV/NApOlx1+O/bds2Vw/Wr18fyC70iZeF63Xj10gXajeQ2Kjd1G6/O9JHzrsPWE1tjTvvXrlyVVTPu2c7Dz2E2s15tx+C+ZssAkWdOTrZ087MXtOJjE661JXuZ6eWur41oqK+vt6d5ISTlpxib1t9vj2nZMXox/7YsNXNzD7V350rdXgtW77MSsvKrLX1qNXU1Frr0daY7VDX4s2hw4espmaXDQz0uw70xeXlvgTDU+kbHLD/2bPZbmvYYoPPPL+LkrPsvSsvsI3FIwsqflAnpjrC9YuPHzSSSR2XfoURQKKjds+sdvtJx6hRJwpw1Tig4FlvY7VDXc0XjY2NbmFAYbo60CsrK30dlTKdY9aYnSVLlvh6nNRuILFRu6ndkwk1ZUXzV5nx590DrgNd593pUTzvnu089BBq9wjOu72X6sN9IsYoCFNXqx9BuqijNTMz081b1kxRvx4DbTq1c+dOd+mQTnbD0Yrt61acZfPS0u3P+552H9PM7O6BPrt88dqodihr3Etebq7l5ubYsbZjdqTliHvsFCjolpHu/YiRmW5mosuaNUO1o6PTcnLmW2VFpfvFMmiO9HTaL3b/nzX3dI5+bFPGAnthSbVVlpT7dlyhjraSkhJLTfX+n3k9fwpPFKQD8Ae1e+a12086VtVobTan+qe6rX/H9e+obvo9KMhUdzRKTAsA6urW724rV650l4MHnRYsamtr3TgXP0e6ULsBULup3V52pLvz7s7jrvFONVwL+xUVlTbPg/NuzUN/8MkDo6Nc1H3+kouqpjXKRajdIzjv9gdBOqY9YkXdRZo1qhM9P7rSa2pq3OVufnUjp6SkuJVZzfjMyso65exnHffLKzfZ/NQMu6X+Cfexh5rq3WaUL6s8zVKiPJZEgbpOyPPy86zreJc7Ma+t3e1miuvj83NyLM2HkHWqIt7T02sdmmfb1mbDQ0OWX5BvK1esCGwH29ajB+x3e560vqGRjsGM5FS7PLfSVmUWWMUSf8Ma/Zyqk8CP2eii8Ee/iGVkBHvRBoh31O6Z126/6XcHhbl67jo7O10w/fTTT7srzvRxBdRBuSpLwW93d7e7rFrdUBpJo2PU7PdY+fdf34OuWNDvGtpg1E/UbgBC7aZ2TxmkR+y8u8fa2zusre2oDQ8NP3PevdKT824F549sOThulIvmoV950YppjXIRavcJnHf7IxgpGgJPXa0K0DX32OsgXdTRpGBO9+9nR5lODJcvX+46l9QdpmM6lcsWr7Hs1HT7ac0jrvg92brfegb77VXLn+XGwESbAnWdgOummWfqFNPJ2v4DBywrS99Drvs+MjMz3Od6RfPbNXpERVwr4NosVc+zuqjVhR6U+ecTDQwN2f/u324PN9WPfqw0O89eXrjKUo73ut3M/RxnoiBDBVVXb/gxh1b3r5VxXcYPwF/U7tnXbr+pjug4ddMVPloMP3LkiO3du9ddoeUWyvPy3OKAlzVH/8Yr4A/NJNWirTYQVQit4wnq/POp6GpLBQqrV6+mdlO7gUCgdo+gdk+y2ejwHM67j3dZe0f7M+fdg2POu3M8O+/WPPS7HmsYHeUSmod+4VlLpjXKJYTaPYLzbv8QpGPa1N2qy6M1P8uPLmF1pW/fvt3NfPaz00nFRieM2sFaJ17TOZbzS6pcmP69HQ/Y4PCQ7TzWZD+pecSNf9EGpV5RB/qCoiJ3U6iujUk7OjvsyJFmS0lOsazsLMvMzHIBu95GqmNdK9963XR391hPT7d7293d5e4zJzfXyspKXdAf1PA8RBuJ/qrucWs83jb6sbOLK+1FC1bYocYDtmL1al9GqYyloEVBhl+Xp4c2GVXIA8B/1O7Z1+6gUAe6fvfRTaG6AmzdtH+MOu5VPxWuh26R6lhXx5fmj2rRO3RT2Kr71L/xamxwJ+AxFp6HaHFCHf96PVC7qd1AkFC7R1C7Zz7a5cR5d7dbKNZb3ZKTU9zoVzVb+XHerXnodz7SYF09A6Pf0yXnLLUNK2d2pSC1+wTOu/1DkI5p0z+46uTSnFFdJu01dV3pUjetQKrr10+6NFwFaffu3W6DMJ1UnsrpC5bYe9dfZN/cdo/1Dg3Y3s5W+8HOh+yNK8+2+Wnen9ArJA/NTQ91h7ug+5nLtFWA9TnpGRnubWpaqqWmprmTTb2vDrjQ5m0KxVWMB4cGbaB/wIX06lLTBqF6v6e3xxV+db0roM/Ly3Ur4F53wc/F7vZm+039P6xroN+9r9E8r656lj0rp9SNHVK3o98zbNVdoIKqmcB+dcUryNcv/2wyCgQDtXtutTtoFJKH5qaHusNDIbfGqyj41ueoHuntxNvY2q1QXCG4aocC+ok3PVb6XP3+pYBevy9oMcLrLvho0Peu7n5q9whqNxAs1O4TqN1aHB+p2/pvd1e3JSUn29DoeXf/M+fdA9bfP2C97rx72DIzMi0zK9PycvOeOe/O9O28e7J56FdeVGVl05yHHkLtHo/a7Z+k4dBv08A0VwB14nHaaaf50oGkcHfr1q2ue8jvzSf1o7Nr167R+avTPanc09Fi/731Ljs+0OfeL8zItjevPMfyM4K1mebA4KD19vS4x3xiMK73lYzrMdDnpaakuO9fRd2drE8I3tX5l5GRHviO88kMDQ/bvYdq7M4Du0Y/pufsX9Y8x0rT57urNBQc6xcUvylEV5eiAiI/Qg6NDNKs2Y0bN/re3QfgBGr33Gt3rFCtVgCuQH2ycHw4VLsHBty/0/r+9fucrjScGLrrpFu3WO04n4oeG2r3CdRuIJio3Sckeu1+eHufdXSPxHbnrk7V/DfX0a1arfPtNHfenTrmvDsjEOfdCs4f3XLQts9hHnoItXs8are/CNIxI+p+euqpp9zKsEat+EEd8bpMacWKFb4XURU9FXV1Z2km9HSP51DXMfvqljutra/bvZ+TlmlvWnm2LcwK/tzWsQaHhty4nTVr1lhKnJ1oizaG/Z/6J6ymvXn0Y+sKSu2t1edZ2nCSe+41G3bJkiW+vxb1S5YWmfRz4df8323btrkOGuajA8FC7Y5M7Y4X6kDfvHmzbdq0KSa78udCzQHU7vGo3UAwUbvHS+Ta/Yvbt9vB5uPu/99w5WpLTQl+w1Kk5qELtftk1G5/xV/yhahSV5K6b3UZiV9KS0vdJcxahfObVn1Xrlzpjked+tO9wKMkO88+ctrzbdEzwXlHf499f+eD1njc/+8JI/Yfb7Nvb793NETXr2ovqdho7153oaVbsvtFTpu0BCFEDy0wKdT3K0TX4pZumuELIFio3ZGp3YhtWnCmdo9H7QaCi9o9XiLX7tCMdAmNRwkyzUP/w921oyG6jv+y8yrsknMqZhyiU7tPRu32H0E6Zkzd6Opm8ivIVhHVBlcNDQ3uH1a/6ZIqFXXNKdUxTbeoF2bOsw9tvMyWzCtw73cP9tsPdz1su9v9W6TAyKWDjzbvsZt2PmDH+nrcQ6IZ9u9df7G9eOl6G3ymG0Kd137OIh9LP4vt7e3u58Iveu3rMVGXCIDgoXZHpnYjNoVOxKnd41G7gWCjdo+XqLU7ecz5ZtBzdM1Dv/2++tFNRTXC5VUvqJ7xpqJC7Z4ctdt/BOmYVQHTpp/79+/37dHThlfqvg1KAdVs0VWrVllHR8eMVshz0jPtAxsvtVV5C937/UODdnPtI/b00YNRPmJMpm9wwI1y+WPDVht85jlcnrPAPnH6C21NQcnoZWVBuqRQv2Do50Ahun42/aDHRb/QBmFOPIDJUbsjV7sRW6jdUz8u1G4g2KjdJ0vE2p0SAx3pOq6Hnzxg9z+xf/QYNQ/99VeunfGmokLtnvpxoXb7jyAdsx6vog0ftAmKXxQc6h+RIIx4GVvUtZv0nj17pl3Us1LT7Lr1F9lphSMz5xXg/qrucXv8SEOUjxhjHenptO/uuN+eOnpg9GOXlFXbBzdeagUZ2aPFXN1sy5YtC0SIHhrpohEzWlzyi17v2pAuLy/Pt2MAcGrU7sjVbsQGavfUqN1AbKB2nyzRave40S4B/F41D/3PD9SP21RU89Cvvrx6xpuKCrV7atTuYCBIx6xoJ2jNSm9sbPTtEQzaiJexRV27btfV1bkRONORlpxi/7L2OXbuouXufZXH3+99yu4/tDvKRwzZ2nrAvrP9Pmvu6XTvZySn2ttXX2CvqnqW20RVz+fOnTvd/PGgjHOZONLFr2PSjDYtaAVlVjyAqVG7I1u7EWzU7qlRu4HYQe2eXCLV7rFB+nDAOtIjOQ9dqN1To3YHB0E65rQ6rt2zDx8+7PuIlyBd1qVL8FTU9dgofFXn/nSkJCXbG1eebZeWrx792P/u327/27g9MN9bvBkYGrLb9221X9f/w/qGRn75Ks3Os4+d/gJ7VvHIvPG2tjbbsWOHG2fkZ2AdxJEuUl9f7zri/drkFMDMULsjW7sRTNTu8KjdQGyhdid27R432iVAuUAk56ELtTs8andwEKRjTh3hmol88OBBGxoa8u2RVJCoy7r8HDMz2WOjoq4xIAph1bE73Y1Erlp2ur204rTRj91/eLf9oeGpQBXNeHCsr9t+sOtBe7hpz+jHzi6utI9uutxKsnPd4sWhQ4dcwVIXenl5eWBC9KCMdNHruquryxYvXuzbMQCYGWp35Gs3goPafWrUbiD2ULsTu3aPG+3iX+wStXno1O5To3YHC0E65mTRokXurcJ0P4ungk4Fi0EZ8SIKXXVcZWVlVlNTY0eOHJn233vR0nX2uhVnWahkPn5kn/267nEbeKZrGnNT295s395+rzUebxu9GkCP9z9Vn2sZKaluYUjzx5qamqy6utp1oweJRrpogx2/O+R1JYiC/OzsbN+OAcDMUbsjX7vhP2r39FC7gdhE7U7c2h2kGemRnodO7Z4eanewEKRjTlJSUlzBUuDoZ1d6fn6+2+gwSCNeQoqLi23FihVunrxGcUz3+J5butL+efX5lvJMUPp02yG7ufYx6x0cuXQKM6dfPO4+uMt+UvOIdQ2MLLoUZmTbh0+7zD3e+iVMm5uELg1cs2ZN4ELi0EgXzST3c6SLLr3TnDZ16gOILdTu6NVu+IPaPT3UbiB2UbsTt3Zrz66QUAd4PMxDp3ZPD7U7eAjSMWcLFixwhV3Fyk8KFjXipbm52YJG86MVyqqLWKvkmuM2HWcWV9i71j3P0pNT3Pt1HUfsR7setq6BvigfcfzRY3Zz7aN254Fdox9bX1Bmnzj9hVaZUzR6yZQuCczKynKXCPoZVE9GvwyqU14jXfzuktfPu372tQESgNhD7Y5e7Ya3qN3TR+0GYhu1OzFrdxA60iM9D53aPX3U7uAhSMfcX0TJyW5GssZN+FmoNOKlqqrK9u/fb+3t7RY0ChxXr17tFh22bdvmHq/pWFdQZv+64WLLTk137+/varObdj7oZnxjevYfb3OjXDTSRfSryEsrNrpFinlpGe5qCr1udu3a5S6b1KWBel0HjbortHJfWVnp63FosUo/67oaBUBsonZHt3Yj+qjdM0PtBmIftTsxa/fYIH3Y4470SM9Dp3bPDLU7mIKXFCEmaU5yenq665b1kzp11ZleV1cXyF27VcyXL1/uFh40hkbHOZ3Fh6rcYvvgxkstLy3TvX+kp9OF6XqL8B3cjzbvsZt2PmDH+nrcx+anZdh7119sL1q63m3uqqsYtm/f7hZf1L2gID1Im4qGaNZfS0uLWyzS68gv+uXnwIED7nEKWsc+gJmhdke3diN6qN0zQ+0G4ge1O/Fq9/iO9Nidh07tnhlqd3ARpCMiFDyqSCmMVMes35e8FRUVWW1trQ0ODgbysdLxrVu3zv3jON1V8vJ5+fbhTc+34syRlV91pCtMP9h1zIOjjj19gwP2P/VP2B8bttrgM5fALc9Z4Ea5rCkoGV0N1zx0jUlR14JGugSRLn3TZrr6ZTAzc2QxxS+HDh1yj11JSYmvxwFg7qjd0a/diCxq9+xQu4H4Qe1OvNod2jPNyxnpkZyHTu2eHWp3cBGkI2Jyc3Pdxoz19fW+P6oK9dUhr2MJ6iYj6uZVd/FMVskXZM63D512mZVn54/O/f7BzodsT0eLR0cdG5p7Ou27O+63p44eGP3YJeXVrqu/ICN7dDX82LFjLkAvLS0NZBe6aGFq9+7dblNP/Yz5Sb8EaWNhjXTxsyseQORQu6NfuxEZ1O7ZoXYD8YfanVi1e1xHugdBeiTnoVO7Z4faHWwE6YgYBZGhDT918/tYli1bZj09PW4MRVBNtkqu8R3hwv+89Cz74GmXWlXuAvd+79CA/aTmEdvRdtjDIw+ura0H7Lvb73NhumSmpNrbV19gr1r+LBseGnJzxkNd6BrlosWfoNJrQiF6fn6+24Xeb+qK12s2CMcCIDKo3d7Ubsyewg5q9+xRu4H4Q+1OrNrt1WajkZyHTu2eG2p3sBGkI6LmzZvn5rYp/FOB8pM2H12xYoXboKG19cRcryCvkmshQsF/qFt6qsKujUf/df3Ftr5gZLPHgeEh+8Xu/7PNLY2WqAaGhuz2fVvt1/X/sL6hkZE+Zdl59rFNL7DTixa7S6O2bt1qXV1dge9CFz332nNAmwrpdeH3sepx0y+bS5cuDeRGrABmj9rtTe3GzOj3SGr33FC7gfhF7U6c2u1FR3qk5qFTu+eO2h18pCGIOBUl/QPa0NDg+6OredLqTNclXH53yZ+KglJ1SWuVXKvlGkuza9cuNx97MukpqXbt2ufaWcUV7v1hG7Zb92y2hw7XWaLRvPgf7HrQHm46sdnt2cWV9pHTnm8pXX0uQNdiimaMr1y5MtBd6CEKD/Tc65j9Dq7186w9B/Ly8txCGYD4Q+32pnbj1BRmaINtavfcULuB+EftTozanRLljvRIzEOndkcGtTs2pPp9AIg/6gRXeK2udI2A0Gq5nxT+qftYx6NOZM1ODzKFposWLXKbph4+fNhqamosJyfHzcieuBlmSnKyvaX6PJuXmmF3H9zlPnZH49PWNdhvF5eu8r2L2Qu17c12S/0/rGug372fkpRs11Q9y9ZnFNnunbtcUdc8PAXAsfJ4tLW1uSC9urradU0E4dIyFfWKipFFGwDxh9rtXe3G5FSvVf/UIUjtnjtqNxD/qN2JUbvHd6RHfh76g08eGO10V/f5lRdVTXuUC7U7sqjdsYEgHVER6lxVeL1+/XrfO2pVIDUvXcVx1apVgQgnT0WbOWpTRy1GHDx40F12psdU38vYjurkpCQXHM9PS7c/Nmx1H7vnYI11D/TZi5asd38ej7Qar+/zrmcWEKQoY569dskmSz3Wbft697kFFP1i5Pfrbyba29tdV0RlZWUgOudDl5ZpcUy/rAOIX9Ru72o3xp+E67J6LSD39vZSuyOA2g0kDmp3/NfuaMxIV3D+6JaD40a5aB76lRetmNYoF2p35FG7Y0fScJCHQSGmaYMJXZarjRIVCvpNL3UFlArUFabHWiiok0udZCrUnD9/vi1cuND94jS2y/rO/TvtV3WPj76/oaDMXl65yVKjFCQPDg25XzS0aae6471yfKDP/qf+CdeNHrIqu8iem7rQMpJS3GOjX4T0S1Es0eWEWuzRHHJdZug3daHrZ1hXlWiWIID4R+32vnZ7bXBw0DZv3mybNm3ytU7qODTCpampyf2ORu2ODGo3kHio3fFdu7fWHLH/fXBkhOk5G0tszfIFc56HftdjDaOjXELz0C88a8kpR7lQu6OD2h1bYitJRMxeaqauYBUhP6nwhY4n1JkeS0FrRkaGG62hS820gapm0Ot70mOr0FUjay4ur7Z5aen2o50P25AN25ajB6xnsN9eXXWmpSfHzvcaTuPxo26x4Fhfj3tfv86clV5s52Uvdl0DsTTCZSzN8NfrUmNoghCiC5eWAYmH2u197U4kCszVcaUAXXuX6NJ5PTbU7sihdgOJh9od37U7kh3pmod+5yMN1tUzMPq1LzlnqW1YWTzl36F2Rx+1O7bQkY6oUxd4R0dHIEa8hFb7FKZrNVUbT8ZSmD7ZPDKdjOrxzc3NdYVdb7e1HbIbd9xv/UOD7nOXzCuw1684y7JS02O2I13f72PNe+32xm2jv0BkWoq9fOFqO2vxCt9n8c+FQgVtcKNLCtXxEJRgf+fOnW6zU11VAiCxULu9r91e/T7iR0d6X1/f6PetTj9t8qZAgtodWdRuILFRu+Ozdu/c02p/uqfO/f+Z6xbahpULPZmHTu32BrU79hCkw5NLzbZt2+YKjTrCgyC0G7LexnKYHqKTUl16pu4uFTw91q1pQ/az/ZutZ3BktXlRVo69ceXZlpOWGVNB+rANW/vx4/aHvU9ZTfeJGW5Ls/LtHWufY0XZORbLQp3oJSUl7hYEoUvLdBWJgnQAiYfa7U/t1qXjukWz282LIF2hQ3d3twseNP9cC8aqKQoe1H0e6793UbsBBBG1Oz5rtwLw2+7e7f7/jDUL7bTqhVGZh07t9h7n3bGJIB2e0EmUusA1TsXvES8TO9P1C4fC9FibmT4ZFT8Vd5246ra3o8Xu6N1v3cMjYXpBepa9adU5VpgxL9BB+tDwkDtJ7ejotMa2I3Zv9wFrH+4f/fNLy1fbKyo3eTqXPVoz0bWgo01RNZYmKPbu3WtHjx51V5HEw88FgNmhdvtTu1X/tLmZrgbSibnGn0RyZFm0gnT9XqVOPb1u9H3ofhQwhL6PeKkn1G4AQUbtjr/aXbevzX53Z637/02ri+301YsiNg+d2u0vzrtjE0E6PL3UrL293TZs2BCIES+iwlFXV+dWkxWmp6WdeofqWNLf3291zQftpj2PWvtgn/tYVlKqvXThaluSX2SZmVmWNocT20gE6eo41+Pf3d1j3d1d1qO3Pd2Wkpxih9MG7J62vdY/POQ+NzMl1S0EnLFgqcU6hQ0K0TUTXRujBgWXlgEYi9rtT+3W70s6Mddbhd06OddNo1D0di6/r0QiSA8FCOo0V93QW9309UIhQk5OTmB+34sUajeAWEDtjq/avWf/Mbv1bzXu/zeuWmDPWlsy63noz31WqVWWZFK7A4Dz7thFkA7P6MRN4yKCNOIldDKoXzZ0CbLC9Hjc+Otob5d9bcuddqi73b2fnpRsF2UttryhFBekZ2ZlWlZmlnur7z81Nc2tUCe5rTwjE6QrMB/oH7D+gQHr6+11YXkoNNfI88zMDMvKyraszExLz8ywu5vr7JHmkd3JpTw7z/5lzXNsUXauxUOniBZwlixZ4mbEBgWXlgGYiNrt/7/LoaA69FYBtk7GQyfoumljNH1MJ+6n6oCbSZCu35EUDujW09MzGpjrpj9Tx10oINDbzMzMmNzwezqo3QBiBbU7vmp3w8F2u+V/d7n/37CyyM5cV3rK8+4ddS326NZDNjTSj2YZaUm2bmmS5WYbtTsAOO+ObQTp8OVSs6BtYKiTQV1Wo9XjqqqqmN78aiqd/b329W13256OFvd+WnKKvWrZGbY4bb519/RYT3e3e9vf3+fmqKmYp6akuOKempbqwnVdlu0C9iRF7EmuSB84cNBKS0ssOSnZva/HMhSYa2zOwEC/e39gcGTjU31NhfWZWVkuNNdbheih0P5YX7f9cvfjtr+rbfTYz1m4zF634ixLT4nty8L12Gjn9/3797ud4LXZWpAo3NfPACNdAIxF7Q5eQDI20NZNV3bppMzV7tRUV2dVv0O30Em6bqpFDQ0NbjFXHeN6f2xgPvamOi76mjrhHxsARHrkTFBRuwHEImp3/NTupqO99peHDrmvU7V4nm2oyh+p3WMa1dw5txrW+vqt/tCgNR07cd9Fual28VklVlSYS+0OCM67YxtBOjzX2NjowkR1MatzKShUjA4fPmwHDx4MZMgZCT2D/fadp++z7W0jhTg5KcleWXm6bSgsO6nTPBSATwzEB4cGXQe5Hi/9z/GuLpuXnW1JyQrYzRX7lJRU1+k+EsCPhPB6PyU1xQXuU6ltb7bf1P3DugdH5qGnJiXbNVVn2gUlVTF/sq5fkvbt2+cu99NiTVD2CgjRa18Bv67K0OX4ADAWtTs2TtInC8N105+FAnPdNOdbdUhBeihgV70eewIfuunj8TaiZbqo3QBiGbU7Pmp3a3u/PbB1ZMZ5+YJUW7Vk5OqvkfPulNFz7YHhJHt0a4s1H+2ZdB56oqB2I9oI0uE5FQPNhtYqbJDmpY9dvdeoF82tLisri/kAd6L+oUH7wc4H7R9H9o1+7Iql6+3ZxZW+bTY6NDxs9xyssbsOjlyyJkUZ89wol4qcwviYVV9X534ZWrFiReDGB2nma01NjetODNK8dgDBQe2OH9HabDTeULsBxDpqd3w43HLcfvbH7e7/qysL7LxN5Sd9zpGj3fb3R/aOm4d+yTlLbcPKxDq3o3bDC8FKMJEQFExrtItO3nbu3GlBow2yVq9ebUePHnVjaHTCGU800uVtq893Xd4hf2zY6oJs12XuseMDfXZz7aPjQvQNBWX28dNfEBchuhaMduzY4br69LoKWoiuSwr1Oi8qKiJEBzAlajcSCbUbQDygdscHXUU+tgFtopqGo/an++pGQ/R5WWn2qhdUJ1yITu2GVwjS4QuF6BohoY2r9uw5saFkUGjkjEJPXRakEFSbg8QTjVd5/Ypn2wsWrx392N8P7LQ/Nz49aXGOlsbjR+3bT9/rRrqIfkV4WeVpdu2659m8tAyLdVqM0WKRNhTVBrtBu/pCr28dn+bcLl261O/DARBw1G4kAmo3gHhC7Y596i4P0V5mY///4acO2P3/2D/68bLiefb6K9daWXGwxohGG7UbXgpWqoOEok2rNCu6tbXVzUwPGs0EVdifm5vrxpdoE8Z461B4+bJN9splp49+7KGmevvdnidtcPiZ7b2jRJ3vjzTtsZt2Pmjt/SMz3HLSMuxfN1xsL1yybtyqeyzS93fgwAG3SKQAvbS0NJAjgjTORceqn8MgHh+A4KF2I15RuwHEK2p3/AXp3b0D9ucH6m17Xeu4eehXX17tOtITBbUbfkj15V6BZyikLi8vd5swqis2aBswKlzU3Ggdm8Zf6Fg1QzqeQsfnL15j81LT7ac1j5jK8ubWRrfZ56uWn+HGwERa7+CA/WHvU7bl6IHRj1XlLrC3rb7ACjKyLdZpFJACdF1apqsa9NoJIv3MHT9+3M2316IRAEwXtRvxhtoNIN5Ru2NXytggfXiYeejPoHbDL3Skw3cLFy60wsJCtwHpwMDIXK+g0WgOdacfPHjQbRqpTSziyfklVW5jz5SkkX8Sdh47bD+pecR6BiP7fTZ3d9h3d9w/LkS/tHy1fWDDpXERond2drqrF/Q6VkAd1BA9dBWI9ioI6jECCDZqN+IFtRtAoqB2x35HevPRbuahU7vhM4J0+E7d3ZrPrEvOFEJqbnMQqVt+3bp17ni3bdvmwkg/NueMltMXLLHr1l9oGckj3cl7O1vthzsfss7+yMyH39K6376z43470tPp3s9MSXXh/dXLz7CUgM0Onym9ZtXhrVEpumJh1apVge3yVqe8OuY1biY/P9/vwwEQo6jdiHXUbgCJhtod+x3pXd0DCT0PndqNIIjt9ApxQ5swrlixwv3DqBEqQaVwVF28FRUVLjiNt+701fkl9v6Nl7hRL3Kwu92+v/NBa+vtmvXXHBgasj81bLXf1D9h/UOD7mPl2Xn2sdNfYGcsWGLx0Mn29NNPj45JWbRoUWBH/6hTfteuXZaXl2clJSV+Hw6AGEftRqyidgNIVNTu2O5IT+R56NRuBAVBOgIjLS3NjU/p6Oiw/fv3W5AVFBTEbXd6ZU6Rffi0yyw/fWTkR0vvcbcpqMayzFRbX7cL4h9p3jP6sXMXLrPrN11ui7JyLV5WwzX6p7q62jIzMy3Ix7tz5073c6YNUIMa9gOILdRuxBJqNwBQu2NNamqypaclj4bql51XYZecU2EpKYkR51G7ETRJw/GS/iFuHD161Orr690mnxqTEQvH29DQ4Ea/aESNQoV40Npz3L669U5reiZAz0pJszeuPNvK550YBzI4NOTG8agTe+J4lppjTXZL/RNu41JJTUq2a6rOtAtKqmI+xNVquMaj6AqFysrKQAfoIQr81TW/du1aS08fueIAACKF2h1bm3Nt3rzZNm3aZCkpkd9UPKio3QAwHrU7duza02KPPVlvF56zysoXxXZD2kxQuxFEwRzii4Smbm+NS1G3ry49KyoqsqAfr0J0Ha+60xWm62OxHhYXZs6zD2+8zP5r61227/hRF4j/cNdD9pqqs6wqd8GUf087id99cJfdfbBm9GNFGfPsHWufY0vnF1qsr4YfOHDAbdSpGeNBHuMyljby1S8h6ponRAcQDdRuBBW1GwAmR+2OHVVL8q2jJclKFsyzREDtRpARpCOwO4rrH8+9e/e6MF1FPsjUha7Z6aHu9JaWFlu8eLFlZY2MR4lVOemZ9oGNl9q3nr7Hdh1rsr6hQbu59hG7etkZtrag9KTPPz7QZ7fU/cN2dxwZ/diGgjL7p+rzbF5a7HZB68KdtrY2N3JIXejqwI+FLnTRngMal6QNULOzs/0+HABxjNqNIKF2A8CpUbsRJNRuxAKCdASWNkPUP6Qa86Ku3/z8EyNFgkqBf05Ojh08eNCNPNH7ZWVllpGRYbEqKzXNrlt/kX1v+/32ZOt+Gxwetl/VPW4vrdhopxUuHv08da3/avfj1t7f495Xn/ZLK0+zyxevteQY6NqeSnt7uwvQdZWEutA1Dz0WutBF42eOHTvmQvR58xKjewGAv6jdCAJqNwBMH7UbQUDtRqxgRjoCTyHm4cOHraqqyvLy8ixW9Pb2ujEg6lLXrHf9ghLL89MHh4fspzWP2kOH60Y/dlnZastv6bHO4mz7y/7tbqyL5KRl2NtWX2DV+YssVnV1dVljY6N7q+dO3Rq6OiJW6GoOXRmhDXy1uAMAXqJ2B1c8z0indgPA7FG7g4vaHVycdycegnQEnrrSFWgeOXLEjU+JpTBduru73S8lGq+hmdq6xeqJq4LyW+r/YX/fv3P0Y/lJ6dY23Df6flVusb199fmWnxGbY0R6enrcAohGuSg8V4iucS6xROOF9POyYsUKy81NnM1oAAQHtTu44vFknNoNAHNH7Q4uancwcd6dmAjSEVNFXZs8KkyPhTEvEylIV6CuTvXQiJBY6nAe+1zcse9p+/3eJ0/6s8vKV9vLKzdZSgx+XxrdogBdXdza4FbPUSxuzKlxLq2trTF3BQeA+EPtDqZ4OhmndgNAZFG7g4naHTycdycugnTEVFFX0KkxL5WVlVZYWGix+D1oZrUCdW2mqrBW30csBur3Hqyxn9c+ZhrmkpmSam9ada6dsWCJxZq+vj63QNPU1OS6t8vLy2NmI9GJ6urqXCc941wABAW1O3ji4WSc2g0A0UPtDh5qd7Bw3p3YYmteARKaNnhUyKm3Wv1TgVfncCwJbZqqTmF1DR86dMiF6upO1xz1WOqAfm7pSivOmG/37HzSXrbxXCuZF1vdz8ePH3eLMgqeFaDH+oactbW1boMWfR/z58/3+3AAwKF2I5Ko3QAQfdRuRBK1G/GGIB0xp6yszHVwa1MHdXUrgI7FX060CKBudI18UTf01q1bXciuudwKdPU5Qbcqb6F1pRdbcWZsBLd6vSg41+Ot2fVawFi7dm3MdqCH1NTUWGdnp1VXV8f0YgCA+EXtxmxRuwHAH9RuzBa1G/GMIB0xSRtAKkzft2+fu7xXneqxSGG5uqF100ZZGjGiUDQjI8OFvAraY22jyyDSY6vNNzX/XJexa/FF409i9ZL2sb+g7Ny5031/CtGzs2Nzg1cAiYHajZmgdgOA/6jdmAlqNxIBCR1iljq309LSrL6+3rq6utzmirE4azxEXdFLlixxK/9Hjx51wa82WC0oKHChusZ1xEKXepDmyKn7XI+jLidTt782qo2Xx1Gb1ipE1/eyZs2amO+qB5AYqN0Ih9oNAMFD7UY41G4kGjYbRcxTiK4uboXoChTjqYNb40dCndQKTDVbXTd1sAehmzpom57o6gRt5qoAXSNzQp39GqMTT68LfY/a4ERjXLSAFITHHgBmgtrtH2q3P6jdAGIdtds/1G5/ULsxGYJ0xIX+/n632aK6dFesWBF3my1qY1XNwA6FxAqMc3JyRjcu9WuTUr8Luh4X/UIXely08KDnPvS4xGOX9oEDB9wmteoMCW2+CwCxiNpN7aZ2A0BsoXZTu6ndSHQE6Ygbmhfd0NBgra2tbkRKLG5COpPZYypgCpAVsGs2toJjBchZWVmehat+BOl6ntVtHvr+dQyhTn3d4qnzfOL3rS709vZ2q6iocF32ABDrqN3Ubmo3AMQWaje1m9qNREaQjriiDuWmpibbv3+/26izsrLS4t3AwIALlEM3jbjRyA+F66FbtDrWox2k6/nUooG6zsfeFJaHFg7UgR7Ls/Gn+xzv2LHDvdUmqXp+ASBeULup3fGI2g0gnlG7qd3xiNqN6SBIR1xS1+7u3bvdaI/q6uq4D1rHdgdoY82xobOCaAXPE8N1bdQ61871SAbpE0NzfR8a1aKPjz1ufR96XhNlpIkei127drnFEI0t8muMDwBEG7Wb2h0vqN0AEgW1m9odL6jdmC6CdMQthbLahFThssL0eJyXPd2wW4H02IA9FK6HAvWxNwW1eqs/P9UCxEyCdH2uZupNdtNsex2jaDRNKDDX20QKzSfSRrMaV6TOe11dkSgLQgASF7V7BLU7dlG7ASQaavcIanfsonZjJgjSEffFTJ3pCpGXL1/uxoHgRJHXbWygrU1M9VaXNInC8YnBukLt0C10SZ82vgy9H7pNDM61oKHPmRjch8L7RA/NJ1KAroJeVlZmixYt4nEBkDCo3VM/LtTuYKN2A0hU1O6pHxdqd7BRuzFTBOmIewp1NTNdgW9BQYHbqJHO3lM/ZgrTQ8F6KFxXGD42LNf7LS0ttmDBgtGQXfRWIfzEwFwfIygPT4+5rqTQWxZ/ACQqavfsHjNqtz+o3QBA7Z4Nard/qN2YLYJ0JAxtxFlfX+8C36qqKjZsjIHNRhPNoUOH7ODBg268zbJlyywjI8PvQwIAX1G7I4/aHVnUbgAYj9odedTuyKJ2Yy5S5/S3gRiisS7r16+3ffv22c6dO62wsNCWLl1KdzoCsRpeW1vr5gsuXrzYiouL6dwHAGo3AozaDQCT47wbQUXtRiQQpCOhaM63On0Voqs7XbuM052OoKyGr1u3ji50AJiA2o2goXYDQHjUbgQNtRuRQpCOhMQqOYK0Gl5eXj66YSsAYHLUbviN2g0AM0Ptht+o3Yg0gnRYoq+SawPSPXv20J0Ozxw+fNgOHDhAFzoAzBC1G36hdgPA7FC74RdqN6KBIB0JLz8/381Ob2hocLPTi4qKbMmSJcxOR8SxGg4AkUHthleo3QAQGdRueIXajWgiSAeeWSVfvny5tbW1ue507TTO7HREYzU8MzOTWegAEAHUbkQbtRsAIovajWijdiPaCNKBMKvk8+bNc+Nf0tPTeZwwK1qU0eupv7+fWegAEAXUbkQatRsAoovajUijdsMrBOnAFN3pnZ2dtm/fPtu6davl5uZaZWWl+zNgOo4fP+6ubtBmogsWLLCysjJLS0vjwQOAKKB2IxKo3QDgHWo3IoHaDa+RCgJTmD9/vq1evdptQqpAfcuWLVZYWMj8dISl4FwBugq6Oi00IkjjXAAA0UftxmxQuwHAP9RuzAa1G34hSAfCSEpKsry8PNeR3traavv373dvFy5caKWlpWxIilEDAwNWX19vHR0dbiSQFmH0FgDgLWo3povaDQDBQO3GdFG74TeCdGCahb2oqMgKCgrsyJEjLlBvbm524zoUqiNxDQ0N2d69e+3o0aOWkZFhK1ascAsvAAB/UbsxFWo3AAQTtRtToXYjKAjSgRlITk52wblCde0G3djYaIcOHXLjXhSyI7EKuRZUtLCSkpLiNqXVKBf98gcACA5qN0Ko3QAQG6jdCKF2I2gI0oFZUHCqbvTi4mI7ePCg1dXVuW7kxYsXuzAV8V3ItXjS1NTk3tdzrs1ECdABINio3YmL2g0AsYnanbio3QgqgnRgDtLS0mzp0qW2aNEiO3DggO3evdt9TMFqSUkJM9TjSF9fn9t0VpvPKjTXc66buiUAALGD2p04qN0AEB+o3YmD2o2gI0gHIkDd6Brtoe5kzU5Xt7JGv2hWtsa+pKen8zjHKG0eqhE+3d3d7nnWwonG+BCgA0Bso3bHL2o3AMQnanf8onYjVhCkAxFeKdfIF3Wja/NJjQDZunWrZWVlWWlpKWNfYuwyMs0/7+/vd8+bFkTmzZvHCBcAiDPU7vhA7QaAxEHtjg/UbsQignQgCtStrA1JCwsL7fjx465DXXPUNeNNoWx5ebmlpvLjFzR6rrSBqN5qfItG9GhzWa4oAID4R+2OTdRuAEhc1O7YRO1GLCPJA6JIYez8+fPdbWBgwFpbW12o/tRTT1lmZqbrXFfYDn9XwbVhbEtLi+s+z8nJcWN68vLy6D4HgARE7Q4+ajcAYCxqd/BRuxEvCNIBr37YUlNdd3NxcbFbgdUs9T179lhDQ4Ob9aYOdnVAM3vbmw1MNMP+2LFj7v91pYCeFz3+dJ8DAKjdwUPtBgBMB+fdwUHtRjwiSAd8XC3XxpXt7e3W1tbmRopoU0sFueqGXrRoEaFuBHV2drrwXIsY6jzX46xNQzVqh9nnAABqd/BQuwEAs8V5tz+o3Yh3BOmAj9QJrTBXt+HhYRfyKlTXRqUaAaNNVBTyKlRX8I6ZXTqmUToa2dLd3W2Dg4Ojj6UWKjRaBwAAandwULsBANHAeXf0ULuRaAjSgQCumC9evNh6enrc6BGF6jt37nTFPysra3QTU0bAnExz6NV1rsWI3t5e9zGF5ur8z83NZYNXAAC1O2Co3QAAL3HePXfUbiQygnQgoNQxrZs6qFWoFKorINZMdd00+02z1RW8azyJQvZECte18q3HRKNxQuNa9Dipi1+Px5IlS9xjk0iPCQDAX9Tu8KjdAICgoXaHR+0GxiNIB2KAQnN1ouumQtbV1eVuCpA1vuTQoUNuZT0UrmuEicLk7OzsuAiSQ8VbN33fodBc37MWEBSY63vW96tfhPRxAAD8RO2mdgMAYgu1m9oNnApBOhBjFIyHRsCEaP635oCHwnV1rmvESShc18aa+vycnBwXPOv9oAbm2tlb34c6zQnNAQDxgNrNgjcAILZQu6ndwGQI0oE4oPnpE8P1iZ3roXBdFLDrpl8OdNPf10gUBezqaFdXtwJ3fSwSHe06Fs18D900v1xd5brpz8beRPepY1Dwry5zOs0BAPGG2g0AQGyhdgNIGh4eHuZhABKDftzVvR4KsUM3dYHrFnpfY1NC/zQo1A4F7zJxbIo+X4H7xPsJvdVtbECuDvlQaK+b/n/iTb+gAAAAajcAALGG824gfhGkAzhJKPyeGKyPvYU+T7dQ0D4xcB8bnEequx0AAFC7AQCIdZx3A7GHIB0AAAAAAAAAgDBoDwUAAAAAAAAAIAyCdAAAAAAAAAAAwiBIBwAAAAAAAAAgDIJ0AAAAAAAAAADCIEgHAAAAAAAAACAMgnQAAAAAAAAAAMIgSAcAAAAAAAAAIAyCdAAAAAAAAAAAwiBIBwAAAAAAAAAgDIJ0AAAAAAAAAADCIEgHEsAb3vAG++tf/+r3YQAAgGmidgMAEFuo3UD8S/X7AIBEKqrNzc1T/vnGjRvtS1/6Utiv8drXvtb++Z//2S6++OIZ3ffevXuto6NjWp/7jne8w/bs2eP+Pzk52YqKiuzZz362/dM//ZPNnz/fgkLH+axnPcve9ra3+X0oAIA4Re2OLGo3ACDaqN2RRe0GxiNIBzzy+c9/3vr7+93/b9682T72sYNKleIAALnZSURBVI/Zj370I1u4cKH7WFZWVkQD8dlqbGy0008/3QX2w8PD1tDQYF/4whespqbG/vu//9uCQse5bNkyvw8DABDHqN2RRe0GAEQbtTuyqN3AeATpgEeWLl06+v+HDx92b5csWWKLFy92/9/X12ff+MY37N5773WB+1lnnWXXXnut5efnj64EHz161P7jP/7Dvv3tb1t2drbdeuutdt1119muXbssKSnJhfLPec5z7E1vepOlpaXN+lh1n1VVVe7/V6xYYXV1dfad73xn3OcoZP/lL39pt99+ux0/ftxWrlzpjreiomL0c6666ip785vf7BYOnnrqKdfRrvef+9znjn7O/fffbzfffLN7TBSMq8N8zZo1Nlf6et/85jftySefdI/V85//fPe4qMs+pL6+3r761a/avn37rLKy0l71qlfZZz7zGfve977nnhsAQGKjdlO7AQCxhdpN7QaiiSAdCIiPfvSjLmz++Mc/7rrTv/KVr7iu8N/85jcuJNfHFUgriL7oootGA+GPfOQj1tPTM9qx/p//+Z9uhIy+XiQo4H/sscds1apV4z7+2c9+1h5//HF773vf6wJ8zWB/5StfaX/6059s0aJF7nM0IubTn/60ve9977OXvexldtddd7mw/Y477nBB9e7du+2d73ynXX/99XbGGWe449fn//rXv57zMb/+9a934fgnP/lJO3LkiDvepqYm93hJV1eXvfGNb7RNmza5z9FK+/vf/35rbW11fx8AgFOhdlO7AQCxhdpN7QbmgiAdCAAFyn/84x9dh7fGqojGqFxyySX297//3S699FIXPKekpFhxcfFot7iUl5eP/r8+ru5rhdNzCdLV6a7QW13nCp913zfeeOPonyvw/vnPf25/+9vfRjvq169fb0888YQL/t/97nePm+uuUDv0OfraDz30kPuaO3bscDPYX/e617k/Vye6vte5+p//+R87duyY/dd//Zd7PETfy4c+9CHX8V5YWGi//e1vbXBw0L785S9benq6C/I7OztdRzoAAKdC7aZ2AwBiC7Wb2g3MFUE6EADbt2+3zMzM0RBd1NWtYFx/Fi5crq2ttR/+8IfubXt7u+umVre1OqsVGM+GNjNVN7woSFeor05u3Y864dWJri55jZsJhdSh0F1B/1irV68e977+vKWlxf2/NgvVWBh1qb/4xS+2s88+2xYsWGBzpcdMm7eGQnQ5//zz3cgczXrX/SjE1+coRA/ROB0AAKZba6jd1G4AQOygdnPeDcwVQToQABrNkpGRcdLHdYLe3d095d9TWK5u7he+8IX2wQ9+0M02V7f4u971rjmNJxk7I11vFX4r6H7wwQftggsucMerY1PH90Sagz6WuugnUuguJSUlrhP/97//vetU1wasCvG/9KUvzWnGe+j4xgq9HxqDM9ljPvHvAAAQrtZQu6ndAIDYQe3mvBuYK4J0IAC0QadGkWiDzNB8cQXhmjGuueMh6gYPhdCimenqsr7hhhtGP6aNRyMtJyfHvW1ra3NvtSmout4HBgasurp6Tl9b3+/b3/52dzt48KBdfvnlduedd7q3c9lg5rbbbhv3MXWgS2gzVH3OX/7yl3Gfo65+AACmg9pN7QYAxBZqN7UbmKuR3QoB+EojTrSZ57//+7+7YFxhucapiLrNQ9QZrk0xQzQGRR3rW7dude8fOHBg9O9FytDQkP3kJz9xI1C0MadoNMq6devsU5/6lAv/RcetzvL77rtv2l9bM9b//Oc/u0A+1CGg+wsF97OlxQeF8jpuUeivWejnnnuu24BUtPlpfX293XLLLe59jcX51re+Naf7BQAkDmo3tRsAEFuo3dRuYK7oSAcCQJ3mX/va1+wDH/iAPfvZz3ZjTTQiRaNTxobKb3nLW+yTn/yk/e53v7Pc3Fw3DuWNb3yjXXPNNS5U7+josCuuuMJ1ss9FaLNROXLkiOXl5dlXv/rV0Y1Fdbzf/e537dOf/rTbEFUbhiqIfv7zn+9GzEzX2rVr3RgXbYxaUFDgOt71PZ533nkzPs6Q17zmNfamN73JBefaOFThuIJ0bXSqj4Vos9N/+7d/s8997nP2la98xS0EKFx/6qmn5jRWBgCQGKjd1G4AQGyhdlO7gblKGh47JwKAJ9RFru5xjReZGNpqw051aJeWlroNPSfSyBd1getzNGJFtGGn5qWHxsLs27fPXbaWmjqyVtbQ0OCC6ul0euvvhuar6/7193Sbiu776NGjbt556P5CFOgr4B87N33//v1uE9CxX1P3p8BeHffTDbHHHudY+rqhTVbV3a7HWfc31carvb29bvNTHf8jjzzignxtpjp2o1IAAKjd1G4AQGyhdlO7gUgjSAeQsH75y1/aC17wAre5qhYirr32Wtfpf+ONN/p9aAAAYBLUbgAAYgu1G/GE0S5AArnnnnvsi1/84qR/pq7x0LzwRDlOheYahZOSkuK60jVSRqNeAAAICmr3eNRuAEDQUbvHo3YjntCRDiSQzs7O0c1BJ1KYHNqIM5GOU9OtNE5HXekZGRkR+7oAAEQCtftk1G4AQJBRu09G7Ua8IEgHAAAAAAAAACCM5HB/CAAAAAAAAABAoiN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AAAAAAAAAAAwiBIBwAAAAAAAAAgDIJ0AAAAAAAAAADCIEgHAAAAAAAAACAMgnQAAAAAAAAAAMIgSAcAAAAAAAAAIAyCdGAGPv3pT9tzn/tcHrNT+PKXv2xnnnkmjxMAIBCo39ND/QYAAACmlhrmzwBMMDAwYL29vVF7XP7617/a+9///kn/7Hvf+56dc845vj4ntbW19pOf/MQee+wxa25utuzsbCsrK7MLLrjArr76alu0aJEnj5N84QtfsN///vf2yCOPmFduvPFG+/rXv+7+PykpydLT0y03N9eqqqrs/PPPt5e97GWWn5/v2fEAAKaH+k39DtXvyXzpS1+yF77whfw4AQAAICyCdCBABgcHra+vz26++WbbuHHjuD9LS0szP/3yl7+0z372s3bRRRe5tytXrnRhuUJ1nZzedddd9j//8z+ehiJ6rLwUus/f/OY3Vl1dbf39/dbS0uIeg5tuusm+853v2Fe+8hU777zzPD0uAIC/qN+xVb8n8vt3LAAAAMQGgnQggHRCl5GRYUHx8MMP22c+8xl71ate5d6O9eIXv9guvfRS++53v2uJ9vzoNn/+fKuoqLAXvehF9vrXv97e9a532R133GElJSV+HyYAwGPU72AL2vMDAACA2MKMdGCOduzYYZdccom97nWvs9bW1rh8PL/xjW9YZmamfehDH5r0z3VSet1114X9Gu94xzvc+JeJfvSjH9mGDRvs6NGjox9rbGy066+/3j2uz372s+2Vr3yl/fCHPxztYHv3u9/tOuS7urrc3w3dDh8+PPo1du/ebR/4wAfcTPtnPetZbuyKOtEmm5nb2dlpn/zkJ92Imle84hU2Gxpz88EPftAdk8bfAACCjfpN/QYAAABmgo50YA7uvvtue9/73mfPec5z3HxNhc3yxz/+0T760Y9O62toHIjma4+lULqjo8PmzZtnmzZtsre97W122mmn+fJcKWT+xz/+4caVqPt6tjQGZbJLuUOXww8PD7v39fatb32rFRcX2ze/+U03g13B+m233eZmyKsD/qtf/ap97nOfsz/84Q+uWz4k1GW2ZcsWe+Mb32hnnXWW65TX7PZ7773XddMrbFcQP3Zm7ic+8QnXUf6e97zH7rzzzll/j7o/HYOXc9sBADNH/Z6+RKjfAAAAwHQQpAOzpK7jf//3f7d/+qd/cp3I2nxy4snldOhzQ7R55T//8z+7k83S0lKrq6tzJ52vec1r3Emp5pN77dChQ+4YdULshQMHDtiePXvsne98p61evdp9bO3ate429tLslJQU9/+TXaJ9ww032MKFC10nvR5TUUe6vhc9jq997WutsLDQfbytrc0uvPBCe/7zn+/ev+aaa2Z97DquoqIia2pqmvXXAABEF/U7ceu3rowb+/taiPZ5WbBgway/dwAAACQGgnRghtRxpc4ojQn5t3/7N7vqqqtO+pwrr7zSXvCCF0zr643d4Oriiy92txCNJLnxxhvtiiuuGN3o02uhTrPJTjyjQZ1s+fn5rhNNHf4atzKTTnh1rG3dutUtSIROwkPUVa+FiSeeeMKNjQnRjPdI0eMUeswAAMFB/Y6uWKjfP//5zyfdbJS56QAAAJgOgnRghjQD+3e/+52tWrXKXvjCF076OcnJyRE7KdPsbY2O0Uzw/fv3W3l5+aSfp8um3//+98/6fjZv3jzaJTaWLqtWODx2/ngkTQyddfJ800032X/+53+6GedDQ0O2Zs0atzihOfQTT64nam5udm9//OMfuxPmsZec62vJ2HnsGp8zl5E1Y+lS85aWFquqqorI1wMARA71O7JisX6z2SgAAADmgiAdmCGduGmu+b/8y7+4sS7qGFcH1lhznZE+USjgDp1ITkYdWv/3f/83rfsMdx8T5ebmuvns+trd3d2WlZU1q6+fk5NjDQ0NU544j6WNQ3UirfnsTz31lP3lL39xY3T27dtnn/rUp8LeT+i50Oammi0/mdTU1EmvCJgrzZLv6elxG6QCAIKF+k39BgAAAOYieU5/G0hQp59+uv30pz9180Df8IY3nDQTOzQjfTq3sTPSJ6PPeeCBB9wl01N1o4/tgp/tLRzNO9Xmp9/61rem7MT+wQ9+EPZrLF682M04VTgeooWB+++/f8q/o04zXc6tUTp6zMdu4qnLxrUB2mT3o45wbSQX6jybeJtq0WAu9DzpsnN9/de//vUR//oAgLmjfo9H/QYAAACmjyAdmCXN2NSlx7pUXJtfqVs6RJcxq5N6OjfNEA3RpqV//vOfXTCvgH337t123XXX2d69e+366693YbkftJmXju173/uefeITn7Bdu3a5EFzd1/fee6+9+tWvdl344bz85S93J+xf+tKXXJiuTnRtKlZRUTHu8/SYfPjDH7bHH3/cfZ4eh4cffthqa2vtjDPOGP28lStXuiBdfzaRgncdoy4t12Oo+21tbbV77rnHzV7VcxYpusxcY3W0ydnOnTvta1/7mgvzAQDBRP2mfgMAAACzwWgXYA6WLl3qwvS3vvWt9prXvMZ++MMfuoB3tjPSFfLqa3zxi190Ybq6rhUe62Pnnnuur8+VxqSceeaZbuSKRtooQNb3WFZW5hYDFKaHoy5xjWf5r//6L7dR65IlS1xgrkWCv//976Ofp3mq+nrq7t6+fbvr9C4tLbU3v/nN40a1aANWdbOrW16fo8f8b3/7m5vpftZZZ7n7+OY3v+kWOdrb262wsNCNjHnTm97k5s7PxdVXXz26qaieI31vWmzQY6D7BwAEG/U7sev3RDqWa6+9dk5fGwAAAPEvaXjiTkEApqTOZnViT9wwS13T+jONDBk7f3sudD9+daDP9fimepwm+7uhx26qhQf9EzXZSe9YOhHX5031NaY61lMd50ShYw3R6JggP0cAgBHU7xOo3yeL5O9vAAAAiF8E6QAAAAAAAAAAhEErJQAAAAAAAAAAYRCkAwAAAAAAAAAQBkE6AAAAAAAAAABhEKQDAAAAAAAAABAGQToAAAAAAAAAAGEQpAMAAAAAAAAAEAZBOgAAAAAAAAAAYRCkAwAAAAAAAAAQBkE6AAAAAAAAAABhEKQDAAAAAAAAABAGQToAAAAAAAAAAGEQpAMAAAAAAAAAEAZBOgAAAAAAAAAAYRCkAwAAAAAAAAAQBkE6AAAAAAAAAABhpIb7QwDx5fOf/7x1dnbaF7/4xdH37777bvf/qamplpeXZ6tWrbIXvehFds4550z6NW655Rb77ne/a29729vsVa961Ul//upXv9paW1stKSnJMjIyrLCw0DZu3Ggvf/nLbfny5ZN+7kRXX321vf3tb4/Qdw0AQOyidgMAAADBQJAOJJAjR45Ye3v7uPcXLlxoX/jCF2xwcNCF2g888IC94x3vsBe/+MX2uc99zgXiY918883u7U9/+tNJg/TGxkZ7yUteYtdcc4319/fbgQMH7E9/+pP72Kc//WkXkk/2uWPl5uZG4bsHACD2ULsBAACAYCBIBxJcZmamVVRUuP9Xx/iZZ55p559/vr3+9a+3s846y172speNfu7WrVuttrbWbr31VnvFK15hTz31lOs2n6igoGD0a65YscKe+9znWmVlpd1www2u033JkiWTfi4AAKB2AwAAAEHEjHQAJ1GYrtttt9027uO/+c1v7OKLL3bjXy655BL3/nT90z/9k6WkpNjtt9/OIw4AQIRRuwEAAIDoIkgHMKnq6mqrr68ffb+np8eNaAmNc9F8c73f1dU1o873PXv2jPv497//fbvsssvG3e69916eFQAAZojaDQAAAEQPo10ATP6PQ2qqDQwMjL7/5z//2c0u19gXOffcc62oqMjuuOMOe+UrXzm9f3BSU93c9LE0ImbijPTi4mKeFQAAZojaDQAAAEQPQTqASe3fv99KS0tH39cYl6NHj9rzn//80Y+1tLS4j08nSB8eHnYbj15wwQXjPs6MdAAAIoPaDQAAAEQPQTqAkxw5csTuv/9+++d//mf3vsaxPP744/arX/3K8vPzRz+vs7PTrrrqKtu9e7dVVVWFfSTvvvtua2trcxuPAgCAyKJ2AwAAANHFjHQA47rGN2/ebG9729tcN/qb3vQm93F1na9bt85OO+00N+c8dNPHNm3aZLfccsuUj2JfX5/bYPT666+3K664ws466ywecQAAIoTaDQAAAHiDjnQgwanTXBt8Dg0NudEteXl59oIXvMDe+c53Wk5OjpuT/vvf/95e97rXTfr3L730Urvpppvs/e9/v6WlpY1uIKrwXX+3tbXVhe7vec977LWvfe1Jfz/0uWOpa/2Tn/xklL5jAABiG7UbAAAA8F7SsNpYACTMZd8KzBcuXDj6/vHjx0c3KFOIPn/+/HF/R5uDara5/k5WVtZJX7Onp8cOHz5sZWVlLkhvbGy0wcFB92fp6eluBnpmZuakxzP2c8fKzs5mw1EAAKjdAAAAQGAQpAMAAAAAAAAAEAYz0gEAAAAAAAAACIMgHQAAAAAAAACAMAjSAQAAAAAAAAAIgyAdAAAAAAAAAIAwCNIBAAAAAAAAAAiDIB0AAAAAAAAAgDAI0gEAAAAAAAAACIMgHQAAAAAAAACAMAjSAQAAAAAAAAAIgyAdAAAAAAAAAIAwCNIBAAAAAAAAAAgjNdwfAgBGdHd321133WVDQ0N2xRVXTOthaWlpsUceecSSkpLs7LPPtsLCQh5OAAA8Qu0GAABAJCUNDw8PR/QrAkCc+X//7//ZbbfdZvPmzXMn5ffee+8p/87dd99t73vf+2zjxo0ufN+2bZt9/etft/PPP9+TYwYAIJFRuwEAABBpdKQDGEdra/39/eNuAwMD7uOhPw/denp6rL293YqLi13X9WS3tLS0cbeUlBT38ViyfPlyu/322+2Xv/yl3Xzzzaf8fIXt119/vb3xjW90Ybp8/vOft4985CN25513Wnp6ugdHDQBIFNTuk1G7AQAAEGkE6UCCnWT39fWNC8n1fuhjCswHBwfd5yvsTk5OHr2FPjb2behzOzs7x91P6K1u6sbWLfS+pKamjgbrCpV1Gxu26319TlBcffXVM/r8Bx54wNra2ux1r3vd6McUqv/kJz+xRx991C644IIoHCUAIN5Qu2eP2g0AAIBIC05SBSBiQt3iXV1ddvz4cXdTl7Q+PjYgV3d4KNSeP3++ZWRkWGZmprtNJ8hWkL5582arrq52X+tUFNjrOHRsvb297n0dY0dHh/taoeBdb/X1srOz3XHprW46zljoZq+pqbG8vDxbuHDh6MeWLFniHlf9GUE6AGAiare/qN0AAAA4FYJ0II5PvEMhuULokpISF+6Gusv9EOo+13GEo4D96NGjLmBvbW21pqYmF7THSriuDv3c3NyTPq6Pje3eBwAkJmo3tRsAAACxhyAdiDEKmRUwKzBXKKsQfWxorg0xgxCaz4XC9kWLFrnb2O9b41ImC9ezsrJcuK7vPScnZ1rd8dGkznM9PxPpY+r6BwAkFmo3tRsAAACxjyAdCDiF5OowV4e2gmQF52ND87KyMtfpHKuh+UzCdY1KGTsuRcHEsWPH3IanenwUrms0jML0goICt5jgx8aeS5cudc+VFjoU8IuOT0F6RUWF58cDAPAWtXsEtRsAAADxhCAdCCCFweq8VhirAFbvKzhXYF5VVeU6njFygl5cXOxuIQrWFagfOHDAGhoa3GOlUD0/P991rkdrDMytt95qa9eutdWrV7sZ6FrY+POf/2xXXXWV+/M//vGP7v7PPfdcnjoAiEPU7umhdgMAACBWEaQDAdHf3+9CYIXn6rBW4KsxIBpvoqB4Opt/wlwXemgGu7r3Dx8+bC0tLXbo0CE38kWBum7qWp9uF/8999zjwvktW7a4r/mb3/zGffyFL3zhaMf5pz/9aXvPe97jgvSioiK77rrr7HOf+5zt27fPjaD5yU9+Yh/4wAcmnZ0OAIhN1O7IoHYDAAAgFpDMAT5SKKvgXDO/Nb4ltJlmZWWlC3vjfVxLtKkbPTRKZWBgwJqbm12Hvx5vXXavUDsUrIdbqKirq7Pa2lr3+Zdddplt3rzZffySSy4Z/ZxXvOIVVl1dPfr+29/+dlu/fr3dfffdblHke9/7np199tlR/X4BANFH7Y4uajcAAACCKmlYaRIATy/9Ds3z7urqciNb1B2tznOF6LFEndYKlTdt2uT7Bp8zfQ60gHHkyBH3HOh9henq/FeHebTGvwAAYhO123/UbgAAAPiNjnTAIwps1RGtbmgFtQps161bx7xzH6jTv7Cw0N1ECxsa/VJTU+MWNhSoazyL/h8AkLio3cFB7QYAAIDfCNKBKHdPKThX97lGt2jm+eLFi11Iy9iW4NBmpLpp/Is2KdVc9f3797su9YULF9KlDgAJhNodG6jdAAAA8BpBOhClzccUnusmmq29YsUKS09P5/EOMM1JX7p0qbtp41eF6upSD236qg52FkAAID5Ru2MTtRsAAABeIUgHIuj48eOum1mjQjQWpKSkxAWwhK+xJy8vz936+vqssbHR9u3b527qUNeNsS8AEB+o3fGD2g0AAIBoIkgHIqCjo8OFrRrfkpmZ6brPdTKH2KerCJYvX+4u9dccdW1QqrfqTi8vL+cqAwCIUdTu+EXtBgAAQDQkDQ8PD0flKwMJsgmZAvTOzk43R7uiosKNAUkUg4ODtnnzZtu0aZOlpKRYotDYF3Wnq1tdG5OWlpa6S8sBAMFH7aZ2U7sBAAAwGyQ/wCz09va6zSg1wiU7O9vWrl3rOtGRWJeOayNZLaQ0NzePjvFJpAUFAIgl1O7ERu0GAADAXBGkAzPciEwbUGq8hzrPq6urXSc6EpPGu+imufgHDx50m8tq3MuCBQssKSnJ78MDAFC7MQG1GwAAALNFkA5Mc4SJ5mIrMNUID83MLigo4LGDo050XSauRRZ1qCtUX7x4sXuNEKgDgD+o3QiH2g0AAICZIkgHwtAGkxrboYA0OTnZhaMLFy7kMcNJQq+PsrIy27t3r+3Zs8cF6kuWLLHc3FweMQDwCLUb00XtBgAAwEwQpAOT0B68ofnX+n91LWkGtk64gHD0Glm2bJkL0Ovr6622ttbmzZvnQna9BQBEB7Ubs0XtBgAAwHQQpAMT9PT0uABUbzVHU4EoATpmSiOAVq5c6V5H6k7fuXOnFRUVuUCdDUkBILKo3YgEajcAAADCIUgHxnSyaQa6xrhkZWXZhg0b3AkVMBeZmZm2evVqO3bsmAvU9VYd6zk5OTywADBH1G5EA7UbAAAAkyElBCZ0spWXl7tRLkAk5eXlucWZuro6q6mpsQULFrjXGt3pADA71G5EG7UbAAAAYxGkI6HRyQYvaUTQihUrRrvT29ra6E4HgBmidsNL1G4AAACEEKQjYdHJltiGhobs17/+td13332uK/zSSy+1l7zkJWH/TktLi/3iF7+wHTt2uBPr9evX2zXXXGO5ubkzum863ABgdqjdiY3aDQAAAD8RpCMhO9mampps//79bgbmunXrLD093e/DgsduuOEGu/POO+29732v9fX1ufcbGhrs3e9+96Sff/z4cXv1q19tJSUl9oY3vMH6+/vte9/7nt1xxx12yy23zHhEy9gON40VojsdAKZG7Qa1GwAAAH4jSEdCoZMNorEq6kb/7ne/a8973vPcx9LS0uzf/u3fXEiujvGJtmzZYvv27bMf/vCHtmTJEvcxzThXR7q+XlVV1aweXN3Xxo0b3ez0Xbt2WXFxsS1evNgF7QAAajdGULsBAADgN5IaJNQ81aefftr9v7rQ2VA0cT3wwAPuaoTzzz9/9GMa7aIu80cffXTSv1NZWemuXNBYlxC9nvLz8+f8Wgp1p+vW2tpqW7dutc7Ozjl9TQCIddRujEXtBgAAgN/oSEfcGxwcdKMzOjo6XAcxAfqpHy8FypPdFGqMveljsnv3bktKShp3Uzis4Fmd3mNvqampvndba6xPUVGRO5aQwsJCy8jIcH82GY10+dGPfmQf+tCH7Dvf+c7o4/TTn/7U5s+fH5Hjmtidrs50dajr8QSARELtnvnjRe0+GbUbAAAAkUSQjrjW29trtbW1NjAwYGvWrHFdyIlOAbhG3HR1dVl3d7ebDz725FsbeSm4nRiA67FTAB4KdfVWn9vY2Oi6svX+2JBdJ/X62potHvraeh5EAfbYr63APTs72930frSDYx3LZK8FfUzHPBk9Vl/+8pettLTUXv/617vv5fvf/7597Wtfs2984xsRWxwIdadrjr8eWz1PS5cu9X3xAQC8Qu0+GbWb2g0AAAD/EaQjbmk0hkJ0hbQbNmxIyCBSJ94KgBXGjr0pqFZonZWVNRpej71p48zphNkKyxX2qrt7OptthrrYJ94Umhw9etQF/ArZQ6G6bvPmzYt4uK7Ob23yOZYWBXTVwmTz0eV3v/udbdu2zV1aHupAP/PMM+3CCy+0u+66yy655BKLpIULF7rvX69hPYcK1/U4AEA8o3ZTu6dC7QYAAIDfCNIRl5qbm93GkOqUXr58uSUKdVO3t7dPGprrpjEheqvOaz/Gheg+tbCh22QUZo899oMHD7oQeWy4rmA9JydnWsH9VFavXm1Hjhxxc/NDo34071z3rysXJtPS0uJO4seOcdHfVbitP4sG3df69ett+/bt7vhWrlzpHgMAiEfUbmp3ONRuAAAA+I0gHXFFHc8K0BWSJsI8dH2/CpzVXd3W1uZCZ4WvodBcobPmfsfKjG1dNaDjHxtWK9zW96URMfpe1QGvBQOF6Qq2tVgyVTA/lQsuuMAWLFhgN954o33yk590j6P+X13funoh5M1vfrO99rWvtec///l2xhln2Ne//nW755577HnPe57781tvvdV15WuuebRoEUGb46ozXRudLlu2zAoKCqJ2fwDgNWo3tXs6qN0AAADwG0E64oZmVmvTS4Wt6txV0BqPQiNIFJwrQFeQq0BZG2rl5uaO20AzHihc14KAbiEaAaPvXeNgtHCiETUK1PU4aBHhVAsH6sjXbPP3vve9dt9997nxMvo73/72t8f93YceesiNbpHzzjvP3vWud9l73vMeF7jr7yjU/9jHPua65KL9GKxatcpthKqNc7WwoFntsbJAAgBToXZTu6ndAAAAiBVJw2oDAmKcgsWamhr3/wo1Z9qhHHQKbUNd5wrRFZaHgmN1b/s1/10h/ubNm23Tpk1zGrUy1xBGj03opuMIdaprMSXcY6POdo1M0d/RSJeJixAPPvig6wBXaB2i0Tl79uxxf6eysnJcwO8FLR7o/vW96dj8etwBYK6o3dRuajcAAABiCUE6Yp7C5bq6OhdoqhM9XjYV1RqXTjA1M1bhrb6/UEDs14zzIAbpE7v1tVFdqFtfIbs2QtUYl3iaLa6O/J07d7rgX93xGt8DALGE2u0farc/qN0AAACxjyAdMR00Hzp0yG1IqaB06dKlFg96e3vdjHdtYKmwPBQEB7HLPmgn4xNfH5qrrsdSXdxafNDjWFhYGLhjne2igWamq6u+qqoqbkcZAYgv1G7/Ubv9Q+0GAACIbQTpiPmNyTReQ+ForH8/6jpvampyo1vUea7QVzPPg9B5Hosn4xOPs7W11b1e1BGmxYmFCxe6cD3W6WoMdXYqTNfrBgCCitodDNRu/1G7AQAAYhNBOmLyRLyhocEFoxprEcuduKGAVwG6xpAUFxe7W1pamsWCWDkZH0td6nq81aWu144C9aAvWJyKfh60SLB8+XI3+gcAgobaHRzU7mCgdgMAAMSe8TvrATFwIq6NFtWBq3no2mgzFukkVmNpNP9cI1tKSkqsoKAgbua7B5lmzWuTzsWLF7vHX68nzRrXc6ArG2IxUNdYIy1kqMMtHq7QABBfqN2YK2o3AAAAgoAgHTF1Il5fX+82kVy1apU7qYrF2ZgKbzXXPSsry43j0GJALIa3sU5d/2VlZS5A11UB+/fvt8OHD1t5eXlMdqjruHXMWhjQz4rG1wCA36jdiCRqNwAAAPxEkI6YORHfvXu3dXZ22urVq10IHUt0/No89MCBA677WR3RsRjWxiNdBRDahFSLHFqs0etLwXSsXfGghQF9P3v37nWLNhoTBAB+oXYjWqjdAAAA8ANBOmLuRDyWNojUsauDXt3OCjY1TkQjXAjQg3lSvmjRIheqa+xOTU2NW+xQoB5Lrzl12Ov1pc149VbfDwB4jdoNL1C7AQAA4CWCdMTEJeEdHR22Zs2amAo0dcwK0Ht7e620tNQFmsxADz7NGld4rk1INYLn6aefdt3q6vbWPPtYoAWB0EZmes0xMx2Al6jd8Bq1GwAAAF4gSEfgNydTR3d1dXXMhOjd3d0uQFeQru5gBbI6wUPszWHVJp56/jSSZ+vWre7/tSgSC8+nwnRdBaGfIXWm60oIAIg2ajf8RO0GAABANBGkI7An4uqmbWtrcxuLZmdnWywcs0aC6Kbu88rKSjcPHbFNCzjLly+3rq4ua2xstG3btrnnVmNfgk6hv8J0XdWhMD0/P9/vQwIQx6jdCApqNwAAAKKBlA+BPBFXYNna2morVqywefPmWSx0oavzV6Glgv9YOGbMjBZzVq5caUeOHHEz+zUuRTPvg96drjE1el3W1dVZVVWV5eXl+X1IAOIQtRtBRO0GAABAJCVH9KsBEdDU1GTNzc0u9MvJyYmJLvQdO3a4Y9Ucd0L0+KWu7uLiYlu7dq2bfa/56e3t7RZ0S5YscVdJaAFAnfUAEGnUbgQVtRsAAACRQpCOQFEoqfnimk0d9NEZ6kJXgN7S0uK60NWdzGaiiSEjI8N1p2sGvsLpvXv32uDgoAWZfqbmz59vNTU11t/f7/fhAIgj1G7EAmo3AAAA5oogHYHR09PjQsmioiLXPRtUdKEjVjvcNCpJiz36OdO4FwCYK2o3Ygm1GwAAAHNBkI5AUDevOmWzsrKsoqLCgt6FrjnZ6kimCz2YOjs7Xbg90wUS/b3ZdrgtWrQo8N3pCtGrq6td8LVv3z6/DwdAjKN2I5Ko3ZOjdgMAAAQHQTp8pwBTAaTeakRKUGnz09AsdHUha0wGgkWvo1e96lV2zjnn2BlnnGHXXnuttbW1hf076sz+xje+Yeeee65deOGFdtlll9ldd9014w63hQsXuteFQurt27e7t0GUnp7uOtM1kkgzjQFgNqjdiBRq96lRuwEAAIKBIB2+a2xstOPHj9vq1asDOWNcYYHmtjc0NNjy5cvpQg+ovr4+e8c73mHl5eX22GOP2b333msHDhyw66+/Puzf+8IXvmC//OUv7bvf/a793//9n/3sZz+zLVu2zOoY1J2uxaCCggK36HLs2DELIi0C6WoK/ex1dHT4fTgAYhC1G5FA7Z4+ajcAAID/gpdaIqGoK7a5udkF1Oq2CeJl6+qUOnr0qAv68/Ly/D4kTEHBucaVfOQjH3EjgjRr/93vfrfrLtdCyGT0+TfffLN99KMftdNOO819TJ3l11133awfZ3WnK8zX5p51dXV2+PBhtxgTNPo+FfjX1tbOeAwOgMRG7UakULtnhtoNAADgL4J0+EZd6JonXVJSEsiAWuGiuoo1+kMhemZmpt+HhDDURV5WVuZeTyFnnXXW6J9NdQKfkpJil1xyieuK6+rqithjXFhY6LrTFaTv2bMnkJt7Llu2zHXRa3+CoM51BxAs1G5EErV75qjdAAAA/iFIhy8UWiq8y83NdeFn0LS3t7s51zo+bSSZmprq9yFhGjPs1WE9lp4/PXfqnpyMRr9ok9BvfetbdvbZZ7s56ZdffrndfffdEXm8582bZ2vWrHGLMrt27bL+/v7APY9aJFKIru75IHbOAwgOajcijdo9O9RuAAAAfxCkw3PqzNU4CQWcGukSJAoStQGjxrlohvSSJUvcqA4En56niV3Vej71elPX+VR/R2Nf1DX+8MMP2xNPPGFXXnmlG+2iLvJISEtLc53p6vzW4oy6OYNE+xJUV1dbZ2enW1gAgMlQuxEN1O7ZoXYDAAD4gzZbeErBpgJKdbWtX78+UJuLKiTQzOy2tjbXha5NnRLx+RkYGHCd01PdFFbr83QLdVhv27bNnQyHblokUYA88aY5+Hqr5z3SCxSaG3rkyJGTOt30vOrPJqNudNEsdQXdcu2119qNN95oDz30kFVWVkbk2PT96mtpkUad6RUVFW70S1BobJGOr76+3s2XD9KxAfAftTvYqN3Ubmo3AACANwjS4SmN2FBQrUtSgzQuJbSpqN5qFEcQNz6Nxol3d3e3mwuumzql9b4+rg7uiSG4Fhb0Vn8WCsz1uRrRo2BYYXEoYA+F8Vow0dcdG8SHvn52drYbfaK3uukxn0u4rnnoX//6193xaCFE7r//fvc627Rp0+j3rLA9JyfHhcca5yL6vkM0hkWvA52URpK+NwX3ul8F1rqf0tJSCwqNxdHrQAtdel5CCwsAQO0ODmo3tXssajcAAIC3koYZiguPKFRV57K6g8vLywPzuCs0VfiqILiqqmrKMSCxTsFtR0eHC7YVmCo8VrgbCrJDobYC7eleKaDHbvPmzS6ons7jpn9u9Hd0LKHjCB1LKFwPHYvmm8/kudDXft3rXufC+k996lNuVMmHPvQhN/P8k5/8pPsc3ecZZ5xhn/vc5+zqq692H9MYF4VEH/3oR13I/c1vftMee+wxu+22206auR4p+n7Vmb5gwQK3R0CQxgfpZ1SLDxpHE6TjAuAPare/qN3U7umgdgMAAHiDIB2eCHUuh0a6BIU6p3VcCg4Vogdp1EwkHnOF1LoC4NixYy68VVf52C5wdR3PJSydaZA+FY1fGdsdrxBc4YGONz8/3/Ly8qbVIa3v9Stf+Yo9+OCDbkHgBS94gb3zne90nfSi+7j00kvt+uuvd7PQQx9TJ/udd97p3tfrU+H60qVLLZp6enpcmK4xKlpYCkpoHQrNtEdAcXGx34cDwEfUbn8ec2o3tXumqN0AAADeIEiHJzROo6GhwdauXeu6foNAncsK0RW4atPTeAjRFUi3t7e74Fyhsk7I1dmtMFpvIz1OJ1JB+mQUpIcWAdRJr1ErCtT1vWgRICjB81zDdL0G9X0FaWNbbTp66NAhW7duHSNegARG7fYGtTu2ULsBAAASF0E6EvKycHWi79y504Wzy5YtC0yAORsKy9XB3dzc7IJndV8rbNZNHd3R/N6iGaRPfL60QKDvT2+16FFUVORGo8T6LG8tGKgzXQsd6oIPymuRy8SBxEbtji5qN7U7GqjdAAAA0UWQjoS7LFyhrIJLdcbHcoiujnrN9lbHoL6nULCs78ur78mrIH3ia0phur5vdatrsUDftxYOYvWqAv18aGFH34NGqgThNalj2rp1q+uUZ8QLkFio3dFD7aZ2RxO1GwAAILoiO+cBmEBBr7qlNdIlSBuLapxLrIbomp3a1NRkra2tLkTWZpWxHCLPlJ4zjULRLRRIaBRJY2OjC3wVqodmoscKvR61uafCdH1/QZiZrmMqLS21ffv2uW75WO/8BzB91O7Io3ZTu71A7QYAAIgugnREtStGc9FLSkoCMRc9FKJrTrhmovsdVM6UurAPHjxox48fd93na9ascaNpEpkCc72+Fi1a5LrTtcCgx0gbeCoEjqXwV8caCtO1KKIFEr/pMdSCzZ49e9yxxdrPDICZo3ZHFrX7ZNTu6KJ2AwAARA9BOqJ2WXh9fb3rjAlCIKjj2b17twsoq6qqYqp7W11s+/fvdwG6AmMdf6Q3DY11CnhDc+G7u7vdRpmaE6oOdZ1QxsrjpQUnBdYaPaRROXq+/bZy5Ur3WGoGv/Y5ABC/qN2RQ+0+NWp39FC7AQAAoiN20kTE3GXhCn71i3wQaOyHxoDEUoje09NjdXV1tmPHDtd5rhnzsRQK+yW0gezq1avdRp5btmxxXeq6IiFWjn/FihVuXI06Gf0WukxcP0N6PAHEL2r33FG7Z4faHVnUbgAAgOiIjUQRMXtZeBBGa2hTSoUDCie92hBzLhT46/F7+umnXeivAF0bUBKgz0x2drZ7znXT2BdtnKnRL0NDQxZ08+bNs6VLl7qFFIUyfgv9LOsqE3WsAog/1O65oXZHBrU7cqjdAAAAkUeQjqhcFq7QLQgjXbTRqTZLVCd6EEL9cBTwqgtZga9OyDUDvbKy0nUVYfZycnKsurraKioq3HgSjSlpa2sL/EOqOfjaOLW2tjYQ3fS6ukRjc/QYAogv1O7Zo3ZHB7U7MqjdAAAAkcWMCESURlFopMu6det8f2Q1hkJz0dXNrROyoM9S1YaOoZOe+fPn+31IcTmHNS8vz12doMda/79kyZJAd/qXl5e78Fqd6eqs93OzTy3oaGa75vUr5I+FqzsATA+1e3ao3dFF7Z47ajcAAEBk0ZGOiHa0qfs7NzfX9+5vdfAqRFd4qg0ng97JpjnoOlbN9SZEj+5Jubq8165dawMDA258TpC703W8y5cvd4tCCrCDcJm4xg1pM1cA8YHaPXPUbm9Ru+eG2g0AABA5BOmImNbWVjeSRONI/A4F1HGsjll1HAe5k00BuoJcBegahRMrG6HGOnVoqcNbj7leKxpHpGA9iPQ61rGGZv37Sa9PPWaHDx92P+sAYh+1e2ao3f6hds8OtRsAACBySO0Qse4sdcwWFhb6Pirj4MGD7kRXc9GDGExP1smmzbXgf4ebNiUNoszMTNeZrk1oNfffT7rCIy0tzb2GAcQ2avfMHitqt/+o3bND7QYAAIiM4KWMiEnqltU4Fb87wI8ePeq6ZdXB63egP5m+vj7buXMnXegB7XDTLHKF1bqqIWg0MknHqJFFeh35ST/n+pnv6enx9TgAzA21e3qo3cFD7Z45ajcAAMDcEaRjzhSgqxt94cKFvnaAa460xnRotExWVpYFjTqJt2/f7o6NLvTgdrjpeaqpqQnkqBf9jGmTVI2i8TPs15UU6pIPwtx2ALND7Z4eandwUbtnhtoNAAAwdwTpmDN1gOtkprS01LdHU6Hi3r173WiZgoICCxrNtlY4q8eooqIikCNnYG6T3OrqajeXXIse3d3dgXpY9HOmjjJ1RzY1Nfl6LHoda76/xigBiD3U7lOjdscGavf0UbsBAADmhjQPc6INBw8dOuT7Rpm6PF0d6YsXL7YgUcC/b98+d9PMdnUUKwzFzNTW1trPf/5zu/XWW91zPRO/+93v7Pvf//60Q3GF6JpHXlRUNLoZbJDo+HTVhWb1+jlaZf78+W62v17bAGILtTuxa7e+v2EbjPr9ULtPoHYDAADEB4J0zHljT80i10mmXxSgNzY2ui4bnagEhUaD6CSyvb3djXLRjGvM3I9//GO76qqr7PHHH7fbbrvNLr/8cvf/03H77bfbZz7zGfvSl740o006FZhocUiBtcao6HUepLnpOTk5LujXVRh+HteyZcvs+PHj7jUOIHZQuxO7dv9m92usZv5/2K9rr7HWnt1RuQ9q98mo3QAAALGPIB1zCrCbm5t93WB07EiXIJ3sqlNY3cwKZHUirnnSmDnN4P6P//gPu+GGG+zLX/6y/fCHP7RLL73UPv7xj5/y76qT8Itf/KK9//3vn/VDrzFBGvWiLngF6kNDQxYU5eXlrqvUzxEvel0rGNBCVpAWGgBMjdqd2LV7YKh33Pt/2Xu93d34BTvSvSti90Htnhq1GwAAILYRpGNOJ0qaS+nnTHIF+UEb6aIRIrt27XKbQuqS8CB1yceav/3tb+419uIXv3j0Y9dcc40LtRV2TEUBswL06667zl2pMBcaX6JARa+z3bt3ByZM1+tK35vfI17Ula77D9oIHACTo3Yndu0eHO476WMHjz9hf234uN2173PW3LV9zvdB7Z4atRsAACC2EaRjVrTB4NGjR+ccUs6Fgk0FAkEa6aLHRSfiCxYscOF+PM1U9YOCaz2OaWlpox/T/HKpq6ub8u999atftUWLFtnVV18dkePQ/a9atcoGBwfdJf96GwTqBtdrbc+ePb51hGu0U35+Pl3pQAygdk/9uCRK7R4aHhj3fmZK/uj/H+p60v6271P294Yb7HDXtlnXFWp3eNRuAACA2EWQjllRF2xWVpY7GfCDTu4UHgZppEvoRFzz4jVfO55PxL2i+dsTn9/Q+/qzydx33332xz/+0T772c9G9Fi0WLNy5Ur3/0EK0/Va00xfP0e8aJa8jqG1tdW3YwBwatTukyVa7R4bpJdkb7KLlnzSNhS92rJSC0c/3tS9ze7cd4ML1Q8ef3LGgTq1+9So3QAAALGJIB2z6gQ/duyYr7PRNdKlr68vMCNdQpeEl5SUWGlpqd+HEze0WDNxk9COjo7RP5vM5z73OduwYYPdeuut9v3vf9/+93//1338F7/4hT366KNzDtNXrFjhghaF6UEY8xKEy8STk5PdAsehQ4eYlQ4EFLX7ZIlYu8cG6cmWYslJqbY09zy7cPEnbOOC11p26oLRPz/SvcPubvyc/W/Dx+xA5z+m/e87tfvUqN0AAACxiSAdM6bO1/T0dN+60RWgB2mki8JLnYhrlIhOxhHZ+dsKiMd2fzc0NLi3U40VeulLX2pLly51G4Tq1t7e7j6ubumputhnGhprfq4EJUwPXSaujXf9GvGihTUFdZF4jAFEHrV7vESt3eOC9KSUcf+/JOdse97ij9mm4jfYvLSFo3/W2lNr9+z/otuYtLHjsVPWGWr39FC7AQAAYg9BOmZEgabCSV0C7ReF6JrJHISRLgoOQ3NVE6WbTXQSrQA5FHDrrd6PdIh70UUXuSD8rrvuGv3Yb3/7W3dJ9Lp160bDEHWeayarXHvttfaRj3xk9HbVVVe5j7/rXe9yXy8SQp3p+p41q92v8HosPSZ+bvqpxTV1IaorHUCwULvHS+TaPTDUP+YjKTY8oXYrUC+ff6Y9r/yjdnrxm2x+2olFhqO9dXbfgS/Zn/d+yBo6HrLh4ckXkqnd00ftBgAAiC2pfh8AYou6ejXWori42LfLsLXJaShE9VNo40mF+joRiicKiPVYa3asrgDo7+8fd9M87LG2bNkybmPOibfMzEybN2+eC1tnMn9WG4u+/e1vHw3E9dzffvvt9s1vftN1houO8Utf+pILREKd4l4IhekKY/bt2+e64P2k49HrMLTQ5MecX41a0uOh14yeawDBQO0+IdFrd0/yQbPskc8/1tZhTzdtd/+fmpbqNo9OS9XbNPf+vPQqO6f4fdbav8Nqj/2vtfftd5/b1rvXHjjwFctNX2zril5pS3POHdfdTu2ePmo3AABAbCFIx7SpY0ndpgUFBaMhptcUEirEz8jIML8fi/r6ehcSa6RFrG9Opu48dX7r5Fs3nYjrOc7OznaPtUJRBeFjw3F9zzpp37p1q61fv959vt6feOIemss79mvqpq+ny5p14h7O+973Pjv33HPtkUcecZvL/uEPf3An6SHqgn7LW97iQu2pwl39+VQz1edCx67wfvv27e7r+7XAFKLFhMOHD1tLS4v7f6/p+dRrRSMkgrJ/AZDoqN3jH4tEr90tvRnWcGDk7xcWFFl1frUNDQ/ZQP+AC9oHBvqtf2DABfHak6S3p8eSkjNscebV1pveaIcHH7LOwZFAvb2v0R46+F+29chvbF3RK6wi94LRQJ3aPX3UbgAAgNiRNByEmQSICTpZUxfXxo0bTxl+RoM2naypqXGhrU4G/aRAX93Rq1ev9uWxmCv92GuWtQJujQLRSJD58+e7E+5QyD2d7nF19m3evNk2bdp0ynn1YzvldNPzqftV+KrOwLy8PN8XSGZLYYN+NhTm+7V3wNjO08bGxtHFDa8pyNdc+9NOO823BTcAJ1C7T6B2mx3u2mp37vuMezyqci+11UVXhv1x0eiXnp5e6+7ptp7uHjve1WltA3XWkbnZuu3guM+dn7bI1ha9wpblPtdtYhp01O4TqN0AAADTE/zfchEY+iVbAasfwbGCX4WD2hTM7xBdQWVzc7NVV1fHXIiu8Fwz7hWe6zFVeK35sHob7Y1bFarq9aNbSKhbXcej51dBurrO1Z3l9/M8EwrP1YGteelaXPFzQUBXjOhnVV3hfmygp678gwcPup8TP7riAYxH7R5B7T55s9GkaWyVlJScbFnZWe4W0tdXaR3tZ9rBjqft0OCD1psyEqh39h+2Rw99e7RDfVnuhZaSHNxaTu0+gdoNAAAwPbGVAsI3GtGhrrZVq1b5cv8KWxW6Kkj3O4jeu3evGy0SjVEh0aBO8FCAoA5wBdU6fnWg+31ZuwJnbVyrm7rb9TxrLImCWIX7+ngQjnO6J6HquNemp1pkifbCxFT0WJWXl7tQX0G214s9WjBROKHXG0E64C9q9whq9+RB+my7xnXFWtGCBVa04Lm2dvB8a2zdYnWdf7Pjts/9edfAEXvs8I22teUWW1v4MqvKu8RSkoO5bwa1ewS1GwAAYHoI0jEt6mJWIOfH2Ap1TutybHVO+xVOhgIJhaShDu6g06xTdSIq0FR3t0Jpheh+Pobh6Lh0fLpp0UTHrcdbJ+xaQNHHgx6oa+auNtvcs2ePW6zw63hzc3PdiB49/wrVvab73LZtm1tYiJUFJyAeUbup3WE70sdsEDpbySkptrR4k7s1deyyna13WPtQnfuz7oFWe7zpB7at5VZbU/hSW5F/maUmB2+EG7V7BLUbAADg1Bhgi2kF2Qo1FWT6Qd3U6qr2s7tVj4E6fLWQ4HdX/KnosdKmsNoEVF14CnTXrl3ruq6CGqJP1qmuUSmax6/j1sxtbeipjvUgb+ug4Fybj2oGvEJsP+mEWONdtGGc1zIzM91zqBAPgD+o3dTuyQyO60iP7O8EC3NW2XMq3mvnlfyrFaSeuIKxZ7DNnmj+sf2h7lrb3vp76x/qtiChdo+gdgMAAJwaQTqmtRmTupvVie1HKKwQtayszNeNCxVIqiN96dKlge2KVmii4FIBujZCVYCuUTzqTg7qMZ+KnnMF6evWrbOioiLX6a2Ob21UGlS6cmPZsmVuPI06sv2iWfR67nUcftDzptejfoYBeI/aTe0+5WiXKF2YWpC1zM5b8i47v/QDVpCyevTjvYPttrn5ZvvD7mtdl3r/YJcFBbV7BLUbAAAgPIJ0nJK60TUmwo+NNXXfoZEfftFccYX5FRUVge3oVuf5008/7TrR1cmtDS8VosYLBeq6EmD9+vXuqoCamhp3hYAWN4JIc911Mqrg388OenWla+a8XsNe0/cv2kgWgPeo3dRuL0a7hJOfudTOW/pOu6Dkg1aQssbsmXLYN9RpTx35hf2+7p225chvrG8wGIvj1G5qNwAAwKkQpCMsdaIrCPOjG10BpDrBS0pKfOuo1jEoDNVYGT/mw5+Kun0bGxtt586dbrFBnduxMEt8trSQoasTFKjrudHigbrvg0jHqefHzxEvuky7oKDA/Rz5sfihUEJhHgBvUbup3dPbbNSb5oC8rCV23tJ32PklH7Y8W202PPI7Sv9Ql21t+bX9vu5ae6r5F9Y72GF+o3ZTuwEAAMIhSEdY7e3tLrz0Y3NNBfgKSxUE+kUBpAIJPzZsnE4XuuaG6/L9NWvWuMWOeA3QJ9LmqRpdow3C9u7d67rT9TwFiYLkyspKdzWDnyNetMmsutIHBwc9v28tgmkMT9CeGyDeUbup3X6OdplKfna5nV/5DntW3nU2f6BaPfHu4wND3bat9VY38kWjX3oGjplfqN3UbgAAgHAI0hGWun2zsrJ8C7EVAvoVDodGuigM9XM++0RaXNBxhbrQNcbFr+fIT3pdhLrw9Zhs27bNhUdBojnleg37OeJFx6DXhx8bf+oqDi3EBe15AeIdtZvaPZWh4UHPO9In1u6SouV2fuXbrTr5LZYzuMaSnjkdGRjucZuRalPSfzT92LoH/LnijNpN7QYAAJhKcNJBBI6CPwVg2uTRa11dXa7jWiNV/B7povEUQaGuYnVfq8NYAXoidaGfqjtdVw3s3r3bLcD4OZd8qsvENb/eLwrz/XpcFOIHdfwOEI+o3dTucIbMuxnp4aSmpVrV0g22oejVtqTnGluUdqYl2cjxDA732c6jf7Q/1L3LHj/8A+vqb/H8+Kjd1G4AAIDJEKRjShoZohNyPzb6VOinAN+PDU5Fc52DNtKlt7fXdaErTNcoF20AixFaTNCix8qVK+3gwYNu3IvC6yAIXSau4/Jj00/ReCT9LB875v3l8vo51oJckBY3gHhG7aZ2hzM0fGKT7uQkf37HGlu7VZ8UqM/vPMvWpL7dKnOeO3pcOtZdbXfYbfXvtscO3WjH+73bc4PaTe0GAACYDEE6ws4oz8jI8HysiQLs1tZWKy4uNj8oqFboqfnbQRnpomBkx44drjteYbFfCwxBp8dHiwyaSb5r1y7r7z8RGPhJl4krUNZIHr/CCv08+bHxpxbiFKJrVjqA6KN2U7unOyM9NFLFb9nzsq2qqsqG+tIsq/10e27Jx2153sWWkpQ2esy1x/5qt9W9xx459G3r6PPmCi9qN7UbAABgomD8Bo3AUfClk/H8/HzP71shurqt/eq4Pnz4sGVmZlpubq4FgZ6H2tpad5nx0qVLE36Uy6mkp6dbdXW1e6vFB3XyB4HG8Oi51MgiPyjI14KM14+HFqO0IKfvHUB0Ubup3TPabNTnjvSTxrQtW+be7t97xKrmv9AuWnKDVeVdailJGe5zhm3Q6o7daX+qf689dPAb1t4X/cVpaje1GwAAYCyCdExKIyjUzbto0SLPQwBtiujXbHR9zwrSNdIlCLPHtahQX19vy5Yt861DPxYpvNVjlpeX5zrTgxCmK9jXrPL9+/f7dv9aHNJ8fa9pQU5z0hnvAkQXtZvaPbMg3b8Z6ZNJSk62xYsXu42q99TvsaTBdFtdeKVdvOTTtiL/cktNynSfN2xDtqf9HvtT/b/aAwe+Zsd690XtmKjd1G4AAICxCNIxKXWPqivI6xEi2mRUoadmZvpBI110AheEDUYVPGrWtzbS9OPKgFinhRCN59Fjp9nyQQjTS0pK3GtcM8P9oAUqLVR5HWhrQU6LVH7NiAcSBbWb2j2jIP2ZzT2DVrtLSkssNzfHNRL09fVZeso8qy54kQvUV+W/yNKSs5757GFr6HjAbt/zAbt//5ftaM/eqBwTtZvaDQAAEBKcazoRKApxFSh7TSGfZiqnpHh/cqegVfevGdtBCEP27NnjQnR1VccbjTf53ve+Z4899phlZWXZlVdeaS996UvD/p177rnH/vSnP7k547pi4JprrrHTTz/9lCfk6m4TdaaHRr74RQtTOiFXV7p+vry+6iH0WlKQ7+XrSt+3Fua02amebwDRQe32VyzU7nEz0mc42qW7q9t+/etf25YtWywjM8Muvuhiu+TSS8L+nccefdTuvvsea2o67BZVX/ziF9uatWvD/h3VxkUlJe7/1Zm+bPnIyJe0lGxbWXC5VeY9z/a232d1x+6y/iGNSxu2fZ0Pu1v5vLNs/YKrrDBzuUUKtZvaDQAAEEJHOk6izlFt1uj1WJehoSE3ysSvsS4KaBXi+x30aVPG0DiXoJ6Iz4W6od/5znfaXXfdZW9961vtsssus0996lP24x//eMq/c+ONN9rPfvYzO++88+y6665zM0tf+9rX2p133nnK+wuF6RprUlNT4zaT9ZPGu+hnTIGX1/RYaFa6H+NdtHCgn28A0UHtpnZHc7SLavenb/i0PfLIw3bV1VfZ+eefb//13/9lv/3tb6f8O7/61a/sD7fdZqefcbq94Y1vtOLihfb+D3zAHn744VPeXyhM1xWCe/fssaExtTstOdNW5F/mOtTXFL7U0pNPNH7sP/6Y/WXvR+yexi/ake4aixRqNwAAAISOdJxEXaPqCPd6s08FyH7cr2jchoLN9evXm590CfPu3btdx3W8jnN54IEH7JFHHrE77rjDde2JHvtvfvOb9prXvGbSjvE3vOEN9va3v330/Wc/+9nucfrpT39qF1988bROyLVRqzZt1SJFVVWVbzPwNb9dCwFauNEII6+PQ68rLSho4UrH4hUtzG3fvt2FfeosBBBZ1G7/xFLtnu1ol3/84x/21JNP2vduusmNTZP2Y+1ukfuKK66Y9N/1l730pfbqV7969P2NGzdaw74G+/3vfm/nnHPOKe9T9bG0rNQa9jZYY2OjLZmw4XpqcoYtz7vYKnIusIaOB233sb9b7+DI6LQDx//hbiXZp9n6oqusOHu1zQW1m9oNAADgfi/kYcBECjX9CLN1SbQ6sP0IOA8dOuQ64f0c+6FgUyfiOgmPlY1FW3+02crv7LZjv9thQ9390/o7Dz30kFVUVIyG6HLRRRe5EOjpp5+e9O9MdpVAZmamDQycCARORa8rdflrTrdCbD/ptabuPj+60vWzrUBAC1de368uj9fzDCDyqN3+iLXaPdvRLpufeMLKyspHQ3Q5+5yzrbOjwy1STyYjM/Pkj6Vn2ODgzGq3rirr7e2zpqamST8nJTndluVdaBct/pStK7rKMlNOLGYc6nrS/rbvk/b3hhvscNe2Oe0RQu0GAAAAQTpOOiHs6Ojw/GRQJzYK2Pzo5FInmUJ8r0fZTPz+NVdVAadOUv3qlp6J4YEhG2ztdv/fV3fUmr7zmLX/dbcNHB35WLgNXXWJ9Fih96cbcCu0+Mtf/uLGwsyEgtwVK1ZYc3Ozr2NG9Pzqe54qFIj2fWvByo9AWwsi+lkDEFnUbn/EYu0enOVol6bmZisqKhz3saLCopE/m2Yta2hosPvvv8/OO/98m4mU1BRbWrHU1e1jbVPXrpTkNKvMfY5dtOSTtqHo1ZaVeuJ4m7q32Z37brC/7/uUHTr+1KwCdWo3AAAACNJx0iaQ4vVsbnUJq7vYjw1OFapqfnZGRob55fDhw65DWF3aXo7bmIvhwaHxHxgYsq7NB+3ITY/b0d8+bX2NxyY9UdXzPLHzX93loT87Fc33vvbaa914l9e//vUzPm7dlzrT9+7d60b6+EWdbdqLIPQz5yUtWCnQnktn3mxoDwIt1Hl9v0C8o3b7IxZr99Dw4KxGuwwODFpa2vjanZGRPvpnp6Ka85kbPmMbNm60l77kJTM65pH7ynCd6QcO7Lee7p6wn5uclGpLc8+zCxd/wjYueK1lp57Ye6e5e4fd1fhZ+2vDx+1A5xMzrkfUbgAAgMQWG7/1wzMKFtW16/UJoU6wFGZ7fb/q4lOQPrFD2ksKU9WJrbndMTU7emjCyWfqieeut7bVWn+xxVpuftK6dzTb8JjPDYW4Y4VGnJzqigR1o735zW+2kpIS+8Y3vjHr14sWinQFgjoJ9Rrwg/YD0MafCmK8pgUrzSrXApaX9Pzq8dZVIAAih9rtvVit3UN2Ygxb0gw60nNzc6y9Y2T+eMix9pH3c3LDN0Goi/z6j1xvC4oXuM3Fk2ZZu1W7ihYssP37G214GrVbHfdLcs625y3+mG0qfoPNSzvxu15LT43ds/8L9pe911tj52PTDtSp3QAAAImNIB0ndbX50ZmtMRNed8GHAlydAPvRCT/2snAF+fPmzbNYMjYcT1uSa4XXbLDsM8stKftEoDBwqNOO3bbTmm98zI4/tt+Gegds7dq1bjTL2G7wJ5980l0yvWbNmrAh+pve9CYXxn7nO98Z7WKfLYXxofn4ftHzrkUFhdpe0gKEFq68HrOiRTqFEH5eCQDEI2q3t2K5do/OSB82S5rBaUDVihVuNMvYbvAdO3YojXeLCeFC9I985CMuiP+3z3xmzr9jFi8Y6S5vPnJk2n9HgXr5/DPteeUftdOL32Tz00bqvxztrbP79n/J/rz3Q7av42EbHj51QE/tBgAASFwE6TjpZHz+/PmePioKEXW/fgTpR44ccZfp+jXXVCGuOnTLysos5oztSE9OsuSMVMs+rcQKX7Xe5j+v0lIKT2wQOtTRZx1311vzdx6zS/JPs7K8Yvvud7/r/kyh6k033WQXXnjh6Gx+jW95xSte4TYmFQW+6kQvKCiwG2+8cdLNR2cTJldWVrrnwK9gV4sBCmH8mNeuBQk/5qRr4cqPcTZAPKN2eyuWa/eJ0S4pM/rd5zkXPMfSUlPtl7/6pXtfgfpvfv0bO/vZZ7uxXaFa/e53v9s2P7HZvd/R3m7XX3+95ebl2mc/+9lJNx+dKXWzl5cvtiPNzacc8XLS301KtrL5Z9hzyz9iZyx8i+Wml4/+WVvvXrv/wJft9j0fsL3tD4wbgTMRtRsAACBxpfp9AAiOwcFBN3LB6w0/FeYpTPT60miNtVD4EK6TKtqXhWvjzerq6piZrTplkD7mZDwpJdkyVxRZRlWh9R/ssO4th62/ceTy7+G+QRvc0mI/uPIGe2DPZnvzla+xJxt32OrVq+3zn//8uMWVbdu2jQa93/72t23nzp1uo9DXve51o5+nRRAF67OVnZ3tOtPVWahj8ON50PcQ2oDVywUdLVxpTrweay9/9rQIQpAORA6121uxXruHhkeugJpJN7ooDP/EJz5pX/rS/7O//vWv7t9xzYZ/3/vfN/o5A/0DVltT4/bCkJ//4hdWX19nSysq7AMf/ODo52lRXMH6bGVmZdqC4mI34kXHMNNRMQrUS+edZiXZG90mpDVH/2LH+hrcn7X3NdqDB79mOUfKbF3RK60i9/xJN2WldgMAACQmgnSMOzlUkOf1ZcrqYPI6vA91o+t+NW7Cj8vCFWLG4mXhOnaFr31jOsGGhoest7fXUlNTLCVl5PHUaym9LNfdBtq6rXtrk/XWtLgAXnHxBYs3udtwcYYVXLDcMp7paBPNDr/lllts6dKl7n2NdLniiitOOpZIBMAK0vUabGpqGh334iUFCvv27XMb1nk5YkiPnV57WqxQIOAVjZTR96vXkV9XggDxhNrtnXio3YNDJ4L0np5eS0lNsdSUVPf2VE4/43S7+eafuQA7PSPjpJqp36n++7+/bqVlpe79l7/85XbRhRed9HVS0+b+e5dGvKjjvaWl1c1enw3VoEXZ621h1jq3CWlN25+trXeP+7OO/gP28KGv29aWX7tAvTL3OW4T0xBqNwAAQGIiSMcodRd5HSrr0uj29nYrLz9xea1XJ5Qap1FRUWF+UHip4HnlypUWZHqcdJwafTL2pg7ItG6z0LZdx7uO24HdtfoLLqDNzMyyrKzM0bep+VmWc0GFzXtWmXVvb7aep5ttuHdkTmtSc6+1/Xa7pRRk2rxnlVvW+oXua2zYsGH0OHT5fLQuoVdH4eLFi62urs4Fyl7/DOj+dUKuef1ez+pXV7oWEbwM0hW0KIjS1S9+7McAxBtqt3fioXb3Zve4wY5Jw8m2t2Gv27RT+2y62p2VaVmZWaNvJwu8Fbirw3wy+vxV1atG39eCQ7Q2c1cX+qKSErcwqxo6nYWAKb9WUpItzF5jxVmrraVnl+tQb+3d7f6ss/+wPXLoW7b1yG9sbdHLbVnuhZaSnEbtBgAASFAE6fB1s7JQADDXjSNn08GnE0o/NhnVCe7+/futtLTUbbwYRDoBV8e+FhvUwaZxHBqDopNVLXro/cHWbmt56An3+bn5ebZ47TIbHByw7u4e6+npdm+PaiPNvj7Lysp2AWpefp7NO6PMsjeWWG9ti3VvPWyDx3rd1xg82mPtf9ttHffvtezTSy17U6mlzE/3rEta35/m3ipU95oeG23i5nWXtr7vw4cPe3q/YzccJUgH5o7a7Y14qd0Ndck24MZ/p1j1qlWWnJJigwOD1t3T7WaO660WWLXYmZWd5epTfl6e+7yg0Z4+CvybjzRH5Ioy1cEFWdXu1tJd6zrUW3pq3J8dH2i2xw7faFtbbrG1hS+3qryLqd0AAAAJiCAd407GQxtGeUVhmk7yvB7xoK4yhYh+zDfVRprqxPeyC3i6IYHmmipY1Vt1Ky9ZsmTKx2lwaMw7zzx/GuuiE9uxG9YqXG9rO+Y6rhVU5xfk24KiBZa5utgyqhdY/75269p6yAYOdo4cR8+AHX9onx1/tNGy1hRb9pnlllYc/UvoFaDv2LHDdc+lp3sT4IdoQWdgQIsQ3e7nwSsKVfRaVPji5WJWaMNRhTsA5oba7Y14qd1DwwMnzUhXN/dJtXtg0I4da3O1+7Bqd36BFS0o8rw+nooC9Lq63W4kXCT3+yjKWmFFWe+21p56q237sxv9It0DrfZ40/dtW8v/2OqCl1jfwCJqNwAAQAIhSIevm5UpSPdjzqi6raJ1uXE4Ogk/cOCAC22DtEmZAlyN29AGrHpcKisrT31CqmvBn5EU5ltRuK4TXN26u7vsyJEWq6mtsYL8fHdZdvrSPHcbONLlOtR761rN9KUHh91cdd3SK/Nt3pnl7m20Fl0UYOv1r03kvB75o9eCQg8t8HgZpOt+Fabr59DLIF33xYajwNxRu70RT7X7RJAevsNc4XphUZG7dXd125GWI24jUQXqJSWLAtOhrjE0Obm51tzUbGXlkR8BV5i5zJ5d8k5r693rRr5oc1LpGWyzzUd+YqnZ82yg6VI7Y+krLS05y7xA7QYAAPBPcM4GEIjNyhSqeUlhmpfBoWjBQMGhgkuv6ZJrjbYISieuOtkUHG/fvt11RWsuuWaRT6era3ho+KSO9FPRiBd1yq1csdI9DzopVwedpC7ItpwLl1nBqzdY1oZFlpR24iS9b0+bHb1lm7X86Anr2nrYhgfGtsNHjr53dR2qQ9troXnlXtPPn34evP5edZ96/QGYPWq3N+Kpdg/ZM0H68PRPATTiRbV7xcqR2l1TWztau4NAiwhtbUfdsUVLfkaFnVXydrug7EO2KHvj6McH7LjV9f7e/rD7WtvW8lvrH/SmnlK7AQAA/EGQDkehlk4Svey0cpte9fZ6HqSr61dd8JG8BHi6J75NTU22aNEiz0fZTBXAaJSJZqlWV1e7+akzmvs6NkhPntn3o0vDKyoqrbh4odso7MCB/TY45Ia2Wsq8dJv37MVW+JoNNu+cJZY8Zk66utbb76ix5hsfs86H9tlQd79FulNaXel6nrwWCpc119ZLfpyM6zFWh2c0Qw8gEVC7oy+eare+l1BH+mxOAVztrqyw4uJia1Tt3n/AhgZHareftN+GutJbW1qifl95GYvtzEVvteeUf8RKs093vf3SN9RpTx35uf2h7lq3MWnf4PGoHge1GwAAwB8E6fBtszIFAAqzvQ60FaR7PcJG2tvb3eJBEDraFAqok01d+WvWrJndeJ1ZdKSPpUBCM/lXrlwx2p2u0S+jf56WYlnrFlrB1est5+LlljpmTvrQ8X7rvH+vNX3nMWv/624bONptkexsU1e6nisv6edAz4PXXemhk3Evu8PHbjgKYPao3dEXT7V72E5czTV2RvpsavfY7nSNfvFbUWGR2+Dcq2A/N73Mzlj0Zntu+fWWO1w9JlA/bltafm2/r3unPXXkl9Y7GJ3OfWo3AACAPwjS4XR2do7bZMrLjUa9pJNhnRSr+9drzc3NrovLz/mqCks151W3VatWuU622R7P2NEu4Wakn0pa2kh3umao19fvOWl2dlJykmUsK7D8l6y2vCuq3Zz0Z85XzQaGrGvzQTty0+N29LdPW1/jsTkHwgom1HWnbj+vaYFHCz1eCm046nV3uMJ05qQDc0Ptjr54qt0nutFPPSN9Oou/6k5XgL1nT73v/55r/Ex6Wpq1eVxDc9JLbE3Oq2xV0ptt8fxnjy5QDAx1uw1JNfJlc/PN1jMQ2eOidgMAAPiDIB3uBE0hWiIE6TrRU4Dn5caKosdXAf6CBQvMz+d5//79LhTQ5eBzfr7n2JE+scNtwYJiKy0tdRunKRyaTNqi+ZZ7SZUVXLXeMtcuNEs98U9Yb22rtf5ii7X89Enr3t48fob7DI9FoYlm4npNXYaaO+tld/jYTcu8pCtgtEEegNmhdkdfvNXusUG6zWBGetjaXbzASkpLrSFM7faCjqWgsNCOHj3q+X3rORnoSreNC15rFy7+uC3JOXd0oWJguMe2t/7e/lD3Lnui6SfWPRCZ46N2AwAA+IMgHaMjLLzeaFTB3axGikTgPr2ec6pRIdoQTJ3Ofjl06JA7Dp2IR+S5Hp79jPSp6NL5srJSa2hosK6uqbvbUnIzbP65S6zwmg2WfWa5JWWfGA80cLjTjv1xp5ujfvyx/TbUOyY4mCZdtq6QV7NovaTnRaGJ15udakHL625C/Sx4PQ8eiCfU7uiLt9odyY70ibW7tKzM9ql2H/dvZFd+Xp719fZar8eLtBmZGaMLW9lpC2zjgmvsoiWfsIqcC0Yf58HhXttx9DYXqD9++AfW1T/3ee7UbgAAAO8RpGM0zFKntpcBgIJKrzvS/eiCF829VjjrF3VXHz582F0SHqlu/HEd3xFcmMjPL3Cbuu3d23DKQDk5I9WyTyuxwlett/nPq7SUwhMhw1BHn3XcXW/NmqN+V50Ntk//xFrzu9Ud7vW8ci3w+NEd7semZepIJ0gHZo/aHX3xVrvHB+nJER9N5mp3w17PF4NDklNSbN78+dbeHp255OFqd0ZmpvV0n/g9Iyu10NYvuNouXvIpq8x9niUnjfyOPTTcb7va7rDb6t9tjx3+nh3vb571/VK7AQAAvEeQDncyrktEvZz/6ddGo34E6epQ0v36MZdddEK7b98+W758eWSvOojQjPTJaF66Tsp1Oft0xpwkpSRb5ooiy3/ZGst94UpLW5w7+mfDfYPW9X8HrPnG/7Ojt+2w/kPTO8HW/XsdpPt1YuzHpmUK0gcGZn61AIAR1O7oisfaHa2O9JDCoiIrmEHtjgYtgrd3tHt+v1mZWdbdc/JVbJmp+bau6BV20eJP2/K8iy0lKW30uaht+1+7re499uih71hn3+EZ3ye1GwAAwHsE6Rg9GfeSutG9HiWjLnidmHodpGvzSM3P9LLjP0Qnsnv27HHBtE4uI/vFx/x/FEblqLNtYHDAWlpbZtQVll6Wa3mXr7T8V661jOoFJ8bODJv17jjiZqi3/OIp66lpCXuir8dLIYrXm3Bq9JDXY1b0s6ifDy+D7dAYm9B4CgAzQ+2Ornis3eOC9AjMSJ+qdg8ODFpry9xHl8zG/HnzXWe411c8abPTcOPgMlNzbU3hS+2iJTdYVd6llpKU4T4+bIO2+9jf7Y/119nDB79h7X0Hpn+f1G4AAADPEaTDl5Nx3acf3eh+dMGrq9mvjjZtTqYguLy8POJfe9xolwjNSB9Lr8nF5eXWdLhpVpeJp+ZnWc4FFW6OetbppZaUcSIM6W9st7bfbbcj33/cup44aMP9J4e5ep0oRFGY4iU/Osz0WGucjZfBQ2jmMONdgNmhdkdXPNbuwbGbjUbpFCApOdkdd1PT7Gr3XKWmpVr2vGy3cbfXHek93d2nrN0ZKfNtdeGVdvGST9uK/MstNWlkZM+wDVl9+z32p/p/tQcP/Jcd6913yvukdgMAAHiPIB3uZFwhmpf8CNLV5et1N7q6bXUypzEhXtMJrC6vrqysjM7zG6UZ6WNlZ89zm5jN5TLx5Kw0m3dGmQvU55+/1FLyRrrAZPBoj7X/bbc1fecx67hvrw12ju8+V4jidZCuObh+bDj6/9u7D/i67vL+44+25CFr2JZsyfKStxMSkrAJCRBGaKGMhpJ0AGG0hf6B0gQSQpiFhJZNm0LLaAmblFUIYWaRQBKIk3hv2ZIsyZKsZWvYkv6v788c+UqW5Kure3/n3Hs/79dLL9uSrHPuuVd6dL7nOc+voKDAa6gdjJMiSAcSQ+1OnUyt3SOW2tEuAQXZs63dszF/3nzr8xykFxUVji04Go/CvLm2rvxKF6ivLbvSCnKDuzRHraH3fvvJwXfa/U2fsK7Bhmm/DrUbAADAL4J0uF/6fYfaYXWka2yG7/BejzNZC3zOhGar6rbw+fPnp+Trx3akpyhHHzfi5dixY7P6Ojn5uVa8fpGVvXKTlV5Rb/lL5o19bHTglB3/7WE7+oWHrfvO3Xby6OnRKrqlXmGK7+7wMBYc9X0yLgTpQOKo3amTqbU7lYuNTjXiZba1OxG6m0zPoc/arU78iQuOxqMgb46tKX+hG/myrvxPrCA3+D111A73PWh3Hvwnu6/pX6xz4MDk/5/aDQAA4BVBOtzJeDBmIZODdM2u9D2XPYzFTYPH2tPTY0uWLEndRlI82mXsS+fm2uJFi6y9oz0pJ8VujnrdAiu7cp2VvWyDFa2uUKJw2vCo9W9ts46vPGqd39lqua0DNjoy4r07XK+Z6WatpgIn40B6oXanTqbW7tgg3VI0Iz02WF60eJF1tE+/HkkqFBUXzag7PKnjXQZnFqQHCnKLrb7sCtehrlnqhblnLqQ09j1kdzVcb/c0ftQ6+veM/38E6QAAAF4RpMOF2kVFZ8ZdZGqQrm36vmAQ1sl4a2ur62hL6TGOPTFOZUu66wxf4ALtnt6epH7d/IVzbP5lK6381edZyflVllN45lb3oYNd1vXd7Vb18JD1Ptpko6dGzBc9b74DgDBOxjW2wPfjBDIFtTt1MrV2j+9IT/1IvwWlpTYyOmK9PX7HrOiCeXHJ9It/pmo++2zraH5uka1a8Fx77rKbbWPFy60o78xis83H/2A/O3Sj/frwh+1o/y73Pmo3AACAXwTpsFOnTnkN0tUl5DtIHxkZcTNPw5jL7nucjJ7Pzs5OW7x4cUq3M36x0ZRuynWlV1RUpOwW8by5hTb3klo3R33u05ZZ7rwzF1zyeodt+P4jdvTzD1vfg4dtpD/1YXMYJ8ZhbDM/f/ahA5CtqN2pk6m12+doF7cN1e7y1NXueBb/9F3TTp2MXdA1cXm5hbZywWV2ee3NtqnyVVacd2Zef8uJx+wXh26yXx76gPXlHKR2AwAAeJTvc2OIHoXLCrZ9jjzRyaL4DLWDsE4nOT4fp7ptfXe16YRV20z5czpuRnpqO9JFi761HT1qJ09qpn9q7izIKcizkk2LrXjDIhtq6LL+ra12qu30vPSREyet7/4G6/vtYSvZvNjmXlxj+eUlGRWk++4O1x0iAwOJ3QYPZDNqd+pkcu32HaRLWXmZHT3a5r2Borik2Lq6usynAgXpp5Jbu/NyC2xF6bOtbv7TrbH3Idvb/XPrP9XpPtbWv9XabKvNHV1uc4//tVXNOc/L72PUbgAAkM3oSM9yQVjnc+SJtqmRDuoy9rlNncD5OMEI6JZiHVef4b10dHS4W8NTztOM9IDCc3UIdnd3p3xbObk5VrSy3Mr+dL0Vv2CFDVTknpmjfmrE+re0WPt//d6O/e92GzrcnfT5r3rd+A7Ss2WbQCagdqdOJtfu8TPSUz/aRfS719y586y7K/W1e7KOdJ/z2fV7ysk/NoskW25OvtWVPsMuq73Jzl94tc3JXzj2seM5Dfbrxg/Zzw/dZM19j6b8MVO7AQBANiNIz3I6GVegHUao7VMY2wxjITiNsNEt6aWlZ2Zqpsq4EzVPFyjmzZtnx4+fMJ9Kasqse22Blb5ivRVvXKwBpmMfG9zXaZ3ffMI6vvqY9e84aqPDyZmjrteqOk71fPqibaoT02foUFxcPHaHCoD4UbtTJ5Nrdxgd6TJv3lw7ceL03V2+FBYW2MjIqI0kqS7HQxdftD2t6ZIquTl5tmz+U+05tTfaBYv+yubkLxr7WMfAbrun6SN2V8O7ranvkZTVc2o3AADIZpEf7aIFny6++GL7xje+YU960pPC3p2Mo7DOZ5d2bKjd3t5ul156qf3gBz+wNWvWeNmm75Nx39tUJ526/b2EALGjXXL9dZh1tLebT7k5uZaTk2sjxXk27+nLbM6Tl9jAznbr395moydOd1Ofau2z7v/bZb3zC23uRUut5Pxqyy1K/Mdr0AnpczFBvW500n3o0CFbvnz5WR/X+zW/d9WqVePCnr6+Ptu7d69t2rTprNd7S0vLWJdldXX1WV9Tr1MFSEePHnWfV1tb6y6WxCvYp8lO8tevXz/uffp5o7fYbWjbjz/++LTb0L4vW7bM9uzZ476u/h5L29d+qD7pZ2nsPul5XLBggdXU1JzzYuW5jlW6oXanFrU7dTK5dvtebDSghT/bOzrMJ81nz83NcaNW8vL9PNZgO+pKT/VzqUC9Zt7FVlX0JPvD3jutt/gxG7DTvx8dG9xv9zbdamVFK6x69Dlm3TW2etVqancMajcAAEhU/kxOiKfz6le/2t73vvdN+fHe3l576lOfat/+9rdt8+bNce+ggp1gFmi8FIx86Utfsj/84Q/W09NjVVVVLlT5q7/6q3M+jngl+nji8dhjj9l//dd/2aOPPuo6lBT8POtZz7LXv/71tmjRmc6TZNBxDStIT+S5TcR5551nn/rUp6y+vt58P07fXW36XtWMVR/P6fjFRnO8zTxVB7NOjPPz/QQdOpb5BZp7ejqAUEA+50nVbk764IFj1v9Eqw13nl7QbKR3yHrvPmh9Dxy2kvOrXKieV1qc2Db/uBCnryD9gQcecGHvTTfdZF/96lfP+vi///u/2/e+9z17xSteYR/96EfH3r9z50675ppr7P777x/7+fTwww/bhz/8YTty5IgLkZubm90CejfffLNdcsklY/9X75crr7zSlixZ4sLkCy64wK677rq4Lq5pn372s5+d9b2tsPvjH/+4+/v+/fvtxhtvdEG49iV2G/q8j3zkI2P/T0G79un8888fe98VV1xhb3zjG+0973mP26d//ud/Hret++67z66//npXd/Rcxe6TgnqdrGv28Qtf+EJ7xzve4epRrHiPVSKo3WejdieO2p3+tTusjvQS3X108pR7Uz314XQdLXChtp8qenqbCtP1OH39/vfoli2Wl1tjd33pXnvH+19ve7vusp6hJvexrsGD1mUHrbWt3+763Qq7/k2fdgG8ULujW7sBAEC0xfXbrH65j+3a+/rXv27/8i//4oLewLm67XyFpj/60Y/shhtusL/+67+2t73tba6zT92O+oXx05/+tH3mM5+x8vLyWW8nVY/n//7v/+zd7363ve51r3NBz8KFC62pqcl+85vfuHBdjy2ZfI5xCCu81/OkTq8wxsnMpLs2mSfjXsTeuezp+czLVcdekZ040W+lpQWhLiCWk5drxfWVVrS6wk4e6XWB+snGHvex0aFhO/FIs534fbMVrV1o8y6psYIl8yM9g/S73/2uuyCqE0edIE52Iqhu6e9///vu59PatWsn/Tq6gKmP68LfP/zDP4yNjLntttvc+//nf/7HnvzkJ7vPvfXWW+3v//7v7Z577hl73SqY3rdvX9x3qagTfrLgP/CP//iPLqTXz1B1lE/chi6GBm6//Xa3T7HvS8TEfWpoaHAXKK666iq744473M/1mR6rRFC7z0btThy1O/1r94jFzkj3F6Tn5uVZUVGh9fefsPkFqR89F4i9CO5L8HPcl7t+epe7GN3d3Wvt+3PtWZuvs7b+bbbn2F3WPXTIfU7V8hKz5a32/d1vtQurX2PLS5951tehdkendgMAgGiL+7dodUcGb0FoHvu+w4cP25vf/Gb3i4M6tXWVX4FM4JnPPP1Lm4KajRs3ul9KRB3i+re6ul/wghfYJz/5SXdbbSLUPaBOgNe85jVu+ytXrrSSkhKrq6tzX1u/HMWG6Ofatk4aFbw/97nPdZ+rjvYtW7ZM+3j0S9d0x2E6+rz3vve9dvXVV9s73/lOt986sVLY89rXvnZciH6ufVdnpT6uznztoz7/JS95iesaVWj1spe9zC688EL3+BQ0T/x/ulii/3fRRRfZn/7pn7oQKla821cgpcejUE7bv/vuu886GdcFmYmfM5NtxUOvWYXpk9ExeeUrX+m6VC+//HL77Gc/e9Zs6p/85Cdu29pHdd9+5StfcfsUtXEyuoNBC3J6Meq/I11KSoptYOB0B7gv6mqb6sRYr+XCpaW24IVrrOyVG61o3cIzx2PUbHBXu3Xc/ph1fONxG9jTMb6T/xyvWV8z0vWz81e/+pULmp/xjGfYd77znUk/b8OGDfac5zxnrNt7Mrfccou7A0gBdvD6V43QyaY6vYMO8MHBQduxY4f7e2zX/bOf/Wx70YtelJTHFWzjxS9+8ViInuxtxEOjcnSCPTAwYP/5n/8542M1G9Ruancsand21+6wRrsE4136Bwa8blM//9Qd7pOr3aN+arcWcP3tb3/rauiFT77QfnrnT93vJFVzNtszl/6jXVL1t3ai40xn/KC1229bPms/PvB2685/3HJjXgLU7mjVbgAAEF1JaUdRqPmGN7zB/SKnwFHzzA8cOOB+wQjce++97k99TN3t+lN+97vfuX///ve/t3/913+1u+66y774xS8mtB+//OUvXVfPtddeG9fnn2vbmt39rW99y3WyK9x9+9vfPtapONnjiec4TOcXv/iF2391M8x234OuOwViCud1bPTL3f/7f//PPR79EvjrX//aKioq3Pibif/vc5/7nLuV8ec//7kLkP/u7/7OjUSY6fb1PnXYa/sKs3Qs9AtpbJCusH/i53R1dcW9rXhN1gWvrlRd+NCtmwoS9cuvLiJ8/vOfH/scBXG6sKELKbrt801vepML22MvQExGwWsw69oXBYexgWEqxQbCPqcD6ftrcDCxi22Jcrdqn5r++Zb8shKb/6zlVvEX51nJhUssJ2ZOurrVu76/w9q/+Hs78egRGxkaPufr1dcdI+oy1+3MOiHUKBN9j2kExmT0vaCffw899NCkgbxGU/3Zn/3ZpP/35S9/uT3xxBPuLiE9j8EoGI1fSZRmtOsCZ+ybLuyKtqHRWPo5rjnuYdLdKboIEVyUnMmxShVqN7Wb2p1dtTus0S5SVKjaPeh1m/l5+XZq2G+QnmP+arfOG+qW17nOezX43Hf/fe6ijNuPnBxbPGeDNdy92Lb9uNjmWO3Y/+s72WJtJXfaP/zHemsauN/aO9qo3WlUuwEAQLiS8lv0T3/6U9eBrNmxGqWixeg+9KEPuZm7W7dudZ8TdAOrU0MnKMG/9af+rcBDQa9m0d55550J7YdCa3Vwx7tQ27m23djY6LraNWNbv0ipOzvoMpjs8cRzHOLZf40hmO2+BxSGq5NbC95p3I1+wdbIG3WWlpWVue5ThSkTT24ULj/taU9zQbs6LFasWGFf+9rXZrx9heL6uBYn1NdUiK4F9WJD7ck+J+hUncm2pqPtTRakf/nLX3aLBCoc12N9+tOf7i4aaIxOcCKkWzR1LBSk644G/UKtv0ftNnhtTx3MU3XeJ11sZ7XHx5mbm+etUzvRE+PckgKb++SlLlCf98w6y11wpuN6uGvAen6xz45+/mHrve+gDfcNhR6ka6yL7qrRNtVlpXmfGpM1Gd0hoxNIjfeaSLNCZeKCnAGF2rGfp5+PoruIFAK89a1vddudyePWXUD6uRz7pguZAV041M893e2S6DaSRT/bg5PrmR6rVKB2U7up3dlVu2OD9KHcDusabPD2dsKO2PHhJr/bHG32vs1+a7Gek41etvXbx39mV77iGTaY02YLlxXYuguW2K8f/N64zykuH7Lhk2YXLr3K2p4os8HTObtTXlVoO0583e4+eoNd8uJKq122dNLXDbU7WrUbAACEKyktN+r0U2g8f/6ZGcAKYxQK62PTLcb5wx/+0I3JOHTokOvG1glFonOlJwtGNLZDIWlAHc2aJRjPttUdrXEwCk013kWh87p161JyHKba/9keN92WGAj2K/Z96oDS/1UHuGb/BV3WmhMY23GtiwlarC94n4IoBcwTtx98PPhT42mCv+uig46FQvugY32qz9H+xLuteMVuM6DHpBE3se9XsK4uV82mV/ClrvWnPOUp4z4nuDV8un0ITo5nup+JCsLlyR5nSrY3fCbM1m3MwyN+HqeMJrA910E/PGKjwzF/njr956gey9ifEz5neMRyu/vcn70HT579Oaem+v9n3j/uokOwPwOn7PhvG+3E461W8TdPcuH7RHoeU/1carSSLuIpPNdFtd27d7uLhrqbReOdJv580v685S1vcT9Hf/zjH491lev9QRen7nKZbL+Du1/U+a6P64Ke7jZRkK8OL80uf9e73uVmtH/wgx9Myox0/dxVx7261DXXNJFtyLmCtXiCN/3sCxagC8bZ6GfNZIL3p3KxWWr37I+DULup3elSu08pUf2jrsJH7MHWR8y3fafXmPbL9zYVVscE1qly2et0F8PDdlhvx878+zfND499zsrnnv7zN82fsMXnTf51Tub02Ev+rsba+n5kw8PPOevj1O5o1W4AABCupN27OlmIcK5g4ZFHHnGLuKiDW52COolVp/H73ve+hPZBXdMKWtva2tzK6aKvq6BGAZEC0+CEN55tr1692o3y0AgUjRfRiu7qTFaHYzKPw8T9b21tPWt1+ESPW7z7o455dagHI1UUMMd+nrrI9TGNTdDCrR/96EfdBQoF7AobNKNR41aCGfLB19m1a5d7TAGdJOoXcnV2TPc5Cvbi3da56DlXl7uCtGDkQ0CdqtqX2K8VjJnYtm2bey70OXpNxX7OwYMH3Z/n2ocwxknEc/dDMpR2nrQgdmrc12BDnefoptP33qhZjr4FR8xy3Nuo+9O9P+Z97uOjE/4d877ckVFrfqzrzP8dHh372OnPnfDvYLsJCh7ZYArOjEdPnLRtjz5hw3POvkFI3yu6oJNKmvupOy0+9rGPudFPWvBY3wPq9FYArZ9Lwe3M2p/gNa8RMPo/GmcVfL/oApdOHrUOw9KlZ3e26WepTka7u7vHfe/oc7Udrd0QzCR9z3vek9QTUXWP6S3RbcT+fJy4toVmGwcn2dPRMdIIHQnWwNi+fbvrlp9I79eFTt0VlUrU7sSPQ4DafRq1O/q1uyt/0MzP9DekoePDLZP+Xkvtjl7tBgAAaR6kq5Pr9ttvH7dYkrp49W99zG3oj52KsZ1b6g5U15cWs4z9BSRRz3ve89xt/f/93/9t11133diJsLY9scsn3m1rJIrGGOhNgZG6MBX8Bl3dsY8nnuMwnec///lu/9Vpro7JqST7uOkYqatTnaXBrYu68KDFNwO6RVEd+Xqfgnx1kqorNaD55uomD/5P8HW0nxoFEdCtywr+tS11wE71OQom4t1WPI8vmJWsrvtYCuc1wif2aym81y/JugtB21E3okb2xH6O7nSQ6fZBz4l+4U70DouZ0mtRXb3qlo8n1JutgZJ26z20x/29siXPcnsKzurkPtO1PXK6K9v/NA2/8nIsJz/XvVme/sz5459/fJ/+jP13Xo4V1i2wRWsqz/pSCrM17mjiazaZ9LNJs851cVAX5fSa/fCHP+xesxrppGAnmAOq0UfqnAxe8zpJ1NoC6miX4GfIq171Kre+xD/90z+NdasHgbPWIdDHtWivXq/avi42xQaW+pmr77tkjFbQNvr7+933c6xEtqGfU//7v//rfjbGfn/p5/F0dyoFdAFQXfC6+CD6Glrk+Jvf/KZbTDr2WOmihdZq0LFK5fcytTv+4zAdavdp1O7o1+7hkY22v2eJ9Qw1W0d7u1UuXGi5nsbY9PcP2NDQoPv560tfny5+J36nayJ0obiwsMgtjJ4qWhD3u3fc4UYNLl2yxNUM/W6tu73uvvseV/Oe8pRL3OdqvKSO/fOed7o1fXBoyF0kr1m61A4cOGivetUrraSkxH7320fsR/+9xV58Ww21O+K1GwAAZECQrhEon/nMZ+wDH/iAWzRS3b8333yzG4ehmdaiX+rU0afucIWXCjAUxKjzWd0PCksVsmiBTgUciVDgpE5t7YeC8z//8z93QaZup9cvQrHi2bY60PU1L7vsMrfv6krXL6nqFp/s8cRzHKZTWVnpFgZ9//vf707mtf/afnNzs1vkRt3UukCQzOMWzA7XCXDwFnSpasSJAm7NRleo8G//9m/u4woWFH5pMZ1g+1rMT9uPnX0vse+L3ea5Pid4Xzzbmsljnfh/Xv/617sOVf3iq1+MdZFEnap6v55r0WgfPRcK0f7kT/7EPef6/NjHcK5j64vPbRbVLLBgOcqR7kH3Fgl/DKmDwNry/xhuBwF2QRByT/y8qf6dY+3HOl0ovmhJ1dkf/+P/cSF6EgMJhSux35OpmpGtr6+1AWK/d/WmjnNd2NPPMl2Imvh9q2Bdd4p8/OMfH/f/FKBrjYNrrrnG/vZv/9b9vNJYJi3gq7t89DNMn6dAWrPRNSdd39cKV3QRSz9nZnISGiw2Gks/H/QzV2GDLn7qTf/Wz+xEtiFaBPqOO+5wF/U08kYdZ1p0VZ16Wmthsn3ShQedWKv+aKFqHZOXvvSl49aHUJf6X/zFX5x1rPSzTwu7phK1m9pN7c6u2p2XV2LrK690vyNvad5iFyy+wNvj1B1+fSN9trp6tfmi35t1XGurzyy0mWq7e3ZbxfyKlF4EVz255/Zjdstb3uV+V33i6BO2snylu2BwuKjCPvKhj9i193/a1e7vPrTHNbe865prx/7/9pJ8+/hNH3e/Z9z02le7MHjjC15j93/rWmp3GtRuAACQAUG6flFT8KpA5NJLL3W/1OlPhcKxbrjhBvvkJz/pRnWoe1G/nOiXEIUxGu2hoFShZeyiljOlwFPdzBr9oZBGgYYCar3v1ltvdeGQ6M9zbVvBqgIXheMaaaDb+vRvBUhTPZ54jsN0FO5o/IAWu1RnusJ4jT141rOe5RYFi3ffZ2Ky8E/d9xoVowBdC6fqGAQL6CRj+/HOlE3WY1WwpyBco3oCej2oq/9zn/ucfeITn3ChoYI2Pe9acDSgjnR9TM+1ntu1a9e6X6q/8IUvTLtNhXm+5qMH9JpTQKmQL9XySoussL7ChvZ2jv9Ajp3dfZ03IXiO6cjOyc9zIfVYF3fBhDA7NvTOz7XW9jb3eUtql57d8Z2b3DA7cOpgnwtdC5eWWiZRqKzvr+CiUewie5dffrnruFKnpC4G6ueSOuRjaQHjBx980P2cDb6GLjJqTQOt43D33Xfb9773PfczUz9T1N0efJ6Op2aba0ySvi91oq+TeV1IfNGLXhTX/muf1LkfLAId0Otf+6BtaD8UgGsBUo1mmW4bCj50AXEy+tmgmfD6uayvpwu0qivq7NMFgsn2SQGVLhDogqQuvk2ctR3vsUoVaje1m9qdfbU7LLFrRPii5zETO4Op3dlduwEAQLhyRmeyStaERRQT7WLR/w26LeP52qdOnRobDZNKiT6u6R6PL/Eet4nvU8eFOnaCX0AVZim01wKfCoyTvX2d1LS0tLiPaTzOVJ8z3diFmT5P+noK63TrajA7X/T/Ew1ddaFDizHeddddU36OOukVPMZuM9V04UN3M+jihw86to8/9KhtPm+z5RUWnA60c3NSfgKpMFQXyHzRHSA6GYu9hTfV9Dj12gku3Pmg0FwnjhNHoaSKLhSqq0vrVyR6JxLiR+0ej9pN7c7m2q3OW43q8vW7K7U7dajdAAAA/iSUTs/29tPpApPJvraPEH2qbccjCgFQvMdt4vuS1b0b7/b1OTpewfWbqT5nptuajj5XHUk6cUz0taS50VdffbWb665ZiQrSNRtxOupI0WgJnxSAxi7c6sNIYY7llhRYroeT8almXqeankffHUbapq+ffYEErqvOioLMqX4OqTtzurUffK0FkEmo3eNRu6nd2Vy7faJ2p/74+kTtBgAA2cxvSjNLGsGhueWTUUe15oRHWRT3PxVjMOIJttWJ7vOY6sR4NiepF198sb3tbW9zne3qGNMM9WuvPTNvcrpbtX2fjHd0dFimUgez+L79Xc+jzyBdJ8W+w3ttczYXmxLd5lR0t8zEkS2xNG7KV/cmMq/2pfv+U7vjQ+2OBmp36lC7AQAA0mC0S1jUARF0QUzke2GoTNn/7u5uO3DggLu919conWPHjrnxLpp37uuYKlxub2+3devWmS8ak6OZzBqV4YueO93iq3DHRyDq+/ZwPY86ruvXrzdf9Pp69NFH3WKVvoLt4Hn0edu9LhZoUV+fY1b080djFC666CIv20M4olj70n3/qd2pQ+1OPmp36lC7AQAA/EqrjnSFO1G4FTuT9l/B4MSAINUBbDJvm473mIZxq3YY29Rzp3EXx48fdwslZRotaqk5sj4Fz6HPTm1tUwGdz58XwSgZn9tUl6Lv8TXwL4q1L933n9qd2mNL7U4uanfqULsBAAD8itaZIbzTCaNuSkjWqJV4t6lf/H3eDBHGibEWN1VQOFUnY6qUl5dn5HgXHUfdzaDH55NmsmuUjM9RCsFYlzC26dPg4KD3bQKZgNqdOtTu5KJ2pxa1GwAAwC+C9CwXdIMqLPQlCM58h/c6mdMoEl/UGa4uRp/HViorK91IGZ/H19coA71efXeka7Z+GF3wYSxu6nubvmfPA5mC2p061O7konanFrUbAADAL4L0LKeOV52Q+wx7FS5rpqzPDnFtT4/V5za1PS3+OZtFThPtpsvERUfb2tps4cKF3hfZ05gcHU+f9DpVmJMN4X1RUZHXbQKZgNqd2mNL7U4eandqUbsBAAD8IkiHC9I1YsEn36NWdGIcxniXME7Gpaqqyp28ptFawucMs3UcFaT7pOOn7YYRpGdDR7ruEKEjHUgMtTt1qN3JQe1OPWo3AACAXwTpcJ2vGrHgUxihtuZc+x6zEtbJeFlZmfuzs7PTMkFLS4sL0X0vTKnXqEbkqMvfJ83W992pzck4kF6o3alD7U4OanfqUbsBAAD8IkiHOxn3HWpnS3f4vHnz3DZ9zytXB35tba0dPnzY+3FONi0w2tvba9XV1d633dfX50J0jQby2QWvLr5smMuux0pHOpAYanfqULtnj9rtB7UbAADAL4J0uCDLd9CbLUG6gg4FsT09PeZbeXm5lZaW2qFDh9J2xItel9r/ZcuWhRK4atHWoLvfF90dopEnvrvgwzgZ1wLABOlAYqjdqUPtnh1qtz/UbgAAAL8I0uFOxhVoZUOQrtEuvh/rggULXCAbBgXQ6qpWZ1g6UoiuzuyKigrv29brRBdA9Pz5pIs9CtG1KK8vutDi+2RcQQsd6UDiqN2pRe1OHLXbD2o3AACAfwTpCOVkXPOfNQfad4eZRnT4npOujmYFsmF0heu5raurcye16TbiReG/jtvy5cvdqBrfdAFCYbbvhUbDWNxUXfDBgry+BN+HvufeA5mC2p1a1O7EULv9oXYDAAD4R5COUE7GFRQqSPe5XQWFYYx30Ta1bQWzYQhGvOzfv9/78zybkLWhocFdBAhr9Ed3d7frSPQd4ocRpIfRBa/nWBe2wrhIAmQCandqUbtnjtpN7QYAAMh0BOlwJ+PqlvY5J13bVCeq71BbY0K0kKNPCgrV2RbmeBV1des5Vpge9Xnpg4ODtmfPHlu8eHEoI11Ex0jjeHyPddF2wwjS9T3he5t6npmPDiSO2p1a1O6ZoXZTuwEAALIBQTrGwiyfo1bC7A73vU1RINzZ2RlaR7g6f+vr691twFHuTNeJ+O7du92FhyVLloS2H729ve4YqZPfJ43f0QWtbBknQ5AOJI7anXrU7vhQu6ndAAAA2YIgHS7UVne4707tMEJtdaTr1mOf3fcyb948F3qE2ZWu53jt2rUuwNy3b1/kwnQ9L7t27XIhuhZJDXPkR3t7u1VWVnoddRIE+Pq+8L3QaFhButZKAJAYanfqUbvPjdpN7QYAAMgmBOlwNB9ZIV6mB+lacFSPVfOvfQceCxcutKNHj1qYgjBdIfrOnTtD6c6fLMhVcK0QXceotrY21BBdXeEa66J9CWsuu+9Ae3h42H1f+N6uLmwBSBy1O7Wo3VOjdp9B7QYAAMgeBOkY67ryOdoltjvcd2e0Op59B+miDmc9Xt+d/5ONeVmzZo07DgrTm5ubQ+tOV5i6d+9etw8rVqywpUuXhr74pC52aKRLcXGx1+3qOQjjZDyMhUb1WBXe++6CBzINtTv1qN1no3afQe0GAADILgTpcBRo+R53EtaCowoqFVj6Do/1WHVC3tbWZmFTaKrQev369a772nd3ujrZOjo6bPv27e64bNy40QX7YdNrQkG6Fjr1ra+vz13kyIb56Lr7Ra8B3xcrgExD7U49avcZ1O6zUbsBAACyC0E6xk7G1SGqLqNsWHBUgaVOfnyrqqpyc9LVmR4FOhYK04Pu9IaGhpTum07CdRFDC4o2Nja6LvSVK1e6oCIKdJFD43/mz5/vfdu6oKGLPL478nWHhO8RK3oNKET3PYMeyDTUbj+o3dTuqVC7AQAAsgspBhyFhwqXdULgUxhBuoLKoCvdNy2uqNnbTU1NFhVBd/qGDRtc0L1jxw7bs2ePC/yT1bWvueOtra2uA/3gwYNudMqmTZsi0YUe0B0ZLS0tVlNT4z3MDi4w+D4eYS00GkZ4D2Qiarcf1G5q92So3QAAANknGm2giASFaT09PV7HWmibR44cMd8UWB46dCiUhS2XLFliW7dudR3xmm8bFZqTrQ5xBckab6KOcXWo66KDnqfgTRdczkV3Niig1ZtCU43yUHBaXV1t5eXlkexEVoiux6eQ3zfdBaAg33cnfJgLjYaxmCuQiajdflC7qd0TUbsBAACyD0E6xijU7ezsDGXBUYWIPsd7KLBUl7QWWPUdImo2vG4TV1f62rVrQ19cc7L9U4e6QgOF/QrB9aaOch0zdeZNDNQVuos+ruBcz6dGdwTBdF1dnft/UaVgV2Nd1q1bF8r21Y2u4+T7AoOeXz1HYSw0Skc6kBzUbj+o3dFD7aZ2AwAA+EaQjjEK1HwvhKnb0rVdBYlaiNMXBYfqtNaFA3Vg+6YgXV3fYYzziJcCfl1wiO2SVlCuLnNd/FAYqrfgeCpY10UJdZ3rz3g616OiubnZPQ9hhLu6NVxjdPSaCGu2q08sNAokF7XbH2p3tFC7/aF2AwAAnEaQjkkXLVPA7Uswr9xnkC7ansa7qPvad1e4QmYF+Nq+ugmjsthmPB15er6C8FWvF10Q0DFMp+A8lsYZKcjeuHFjKNvXhYnBwUHvF1TUGa7HrjsPfGKhUSC5qN3+ULujg9pN7QYAAAhD9AYVI9SQVCeJvhfhVICobSZrYct4BWFwGIuOBkG+OreDsSjwTxcCtPipZuWHNXpGFyIqKiq8X4hQd1lwF4FPLDQKJBe12y9qd/io3dRuAACAsBCkY4y6soNFy3wKxoBoXrPvx6sFD9vb271uN3b7y5cvd+M1wgrzs50uYmiWe1gLXyoMUDf8okWLvG87GCvk+24MjQdiPjqQPNRuv6jd4aN2U7sBAADCQpCOSRf/9H1Squ5wBcq+KUDVhQON1giDRuioG7qhocEt0Al/9LxrRr4uZoS14GtHR8fYoqy+57KHMR9dd53ode778QKZjtrtF7U7PNRuajcAAECYCNJx1sl4GIFuMN5FAZ/vk2GFiRqvEZbgNnGF6b4ff7ZSV3TYI130XGtx38WLF3vfdrBYbOxCsr7Guuhx+x4nA2Q6ard/1G7/qN3UbgAAgLARpOOsk3EFbAMDA16PjAI9Bfi+u+FFQabGu+hxh0Hd0CtXrnSLTra0tISyD9lEXdH79u1zr7mwRroEXXV6zZWXl3vfti5alZaWWm5urvcOfIXovrcLZDpqt3/Ubr+o3dRuAACAKCDNwFmLlmnURGtrq98XYm6uC/bCmBU+b94815muMR9hyc/Pt/r6eheka2Y2UkPd0IcOHXJ/hjnSRdSNrtnoYYTKGuuiu0B80wKnYWwXyHTU7nBQu/2gdp9G7QYAAAgfQTrOog5Z3wuOSlhz0hWmVlVVuRBbHU9hUaeuOtM1ckTd6UhNeK3X9urVq0PtitaIEy2uG8Yio0NDQ+71pQtXPumOE22bIB1IDWp3OKjdqUftpnYDAABEBUE6zqKgS3Mofc9KV5CugE9hm28VFRUuWNWIl7CPfXV1tRs9oucAyaO7HZqbm12IrjsQwuysa2pqciOF1EUaxnHQXRi+t60gRN2bzEcHUoPaHR5qd+pQu88cB2o3AABA+AjScRYFXXl5eS748knBnuZWhzFiRV3pNTU1duTIkdBmpQcUpOs47N69mzA9SdSFvn//fluxYoWbJRwmjTfRBSPdBREGfX+F0RWuu03UMRvmOB0gk1G7qd2Zhtp9BrUbAAAgGgjScRYFXQrawhizosUf1RWurl3f1BFfVFTkfT78ZMdf87sViuzZs8f7nQGZRsG1Ovzr6upCWdgzll7XjY2N7mKJurN902K+GitTWVnpdbsamTQ4OMhYFyCFqN3U7kxC7T6D2g0AABAdBOmYlIJ0BV++Z4ZruwqONT86jBCitrbWBelhj1XRvmheuoJ9OtNn1822d+9eW7ZsmffweDJaSFavb411CYMuUuligu8QX49bFxF0WzqA1KF2U7szAbV7PGo3AABAdBCkY1IaLaLgy3dXuuaUK/AMa1a5gj49di08GjaF6atWrXKd6QrTdWED8dNrN+hE150OYdP3k2a0L126NJSFTnVRrKOjI5Rjoe9nLW4a5gKvQDagdlO70x21ezxqNwAAQLSQamDyF0Zurgu+jh496v0IKegLOnfDoFnpetxRCK4Vpmuut8KRnTt3uludce7AWhdCDhw44I5dFDrRgzBZz2dY+6NwQp3oYXSF67b0sMfqANmA2k3tTlfU7slRuwEAAKKFIB1TUvClAMw3dWDPmTPHdc+GQduvqKiwpqYmiwKFr+qqViezxpSEcXEjXahzSwG6jtG6desiE97qolDQjR7WYps6JrpI5Xv7msmuBXy1BgGA1KN2U7vTDbV7atRuAACAaCFIx5QUfCkAUxDmm2ZIt7W1hbLoaNCVrhmd6oyPikWLFll9fb0LZA8dOhTasYmqoaEh27Vrl/tz/fr17mJMVGiBUe2P5heH4cSJE+4tjLEuWnNAjz2MxVWBbETtpnanE2r31KjdAAAA0UOQjikp+FIApiAsjI46BcXd3d0WhoKCArdApQLrsEbMTEYjXhQSazFWhcYDAwNh71Ik6ILHjh073N0Ea9eudc9fVOi2bL0tX748tG50XZTSXRZhhNl6rUblzgAgG1C7qd3pgto9PWo3AABA9BCkY1oKwBSE+abAUR3YYYT4AQWPc+fOdWF6lBQVFbkwXfum8FjzwLO1O10XOfbv328NDQ3uwofC6igtaKn90+untrbWCgsLQ9mHkydPWmdnp7vLI4xOQ20/rE58IFtRu6ndUUbtPjdqNwAAQDRFJ3FCJCkA0y/zCsR8U5CusTK6tTUMCvMVzEZtxIsoLFZwvGbNGreIZTZ2p+s52bZtm7uIsGnTJnfhI6yO76kcPnzYdcmHueCpXh9aYFT74ZsuhOnugOLiYu/bBrIZtZvaHVXU7vhQuwEAAKKJIB3TUgCmtzAW3tTt6Qogw+xKVwiohT7VVawLClGjgHTjxo1j3el6njTXPpNpAVwtuhp0oa9atSpSo1wCGuei0URhjnTRa0G3hldVVYUWmIQxlx3IdtRuanfUULvjR+0GAACILoJ0nJNGQoQ1q7y6utqFcWF1pQe3yCuwVndxFAXd6ZoNrjE8TzzxhLv4MDIyYplEd0UcPHjQXTDQmJSodqEHt60r6A9zpIsoRNf2S0tLvW9br0VdfCJIB8JB7aZ2RwG1e+ao3QAAANFFkI5zUlipUFZzlsOYB64RL83NzRYWBbXqSteIl46ODosqdaUrTF+5cqXbz61bt7pbg9N9frpC6cbGRvd49DpUgK7nI4pd6KLjrTsY9HyEOdJFx00XVBTmh3GxQXdHaHHcMC8kANmM2k3tDhO1O/HjRu0GAACIrvywdwDRl5eX57qytailTszD6EpXiKoOV3WGh0GhrQJqLWypW+YVkkaRAtMFCxa4DmR18usChN50MUJvGpeTTreBqytLFwUUyGqB1Tlz5ljU6QRYr9UNGzaE2i2v71e9TnXsfNMFD91Fou8ZAOGgdlO7w0Dtnh1qNwAAQLTRkY64KITVYpbqlAkjxNaMZ3Ulh9ldrYB6yZIltm/fvkjOS4+lAFcXPYLu7d7eXnv88cftwIED7u9R7VJXAKvgfOfOnW6Ei/ZTAboWVU2HEF1z0Y8cOWL19fWhdszrVnpdhKipqQktCAgu6gAID7Wb2u0DtTs5qN0AAADRlz7tqQiVOls1okHjGrR4om8K0o8ePepmtZeVlXnffux+qNtKYbrGqGg+eZQpzNTx0pv2W6NetO/ab4Wcer86lsN8HLoooedVbxqfo9eZwh+F0enWQa8LFStWrAg99NddCHpuw9oPXQzRcxjF+fVANqF2n0btTj5qd/JRuwEAAKIvfVIqhEqBmBYu0y/5YQTpukVd3eAK8hUAhxXQabt6/Lt27XJzsPX3dAkLS0pK3KKk6lLW6BF1T+sx6C4DjYLRcVXwqs9L5WMaHh52Yz+OHz/u9kF/arsKfvUcp3r7qaBjuHfvXhfWaAxS2IG+1jPQ3Qhh0POprjoWGQXCR+0+cxyo3bND7U4tajcAAEB6IEhH3LRwosarqKs5jJBM29T8aXW7hhnSqXt79erVbvyIxmcoPE0n2n8F53rT6BSdvKkbXMf18OHD7n0KtoM3LfiqMSV60wWNeOhr6KRbHWt60zaC8HxwcNB9LXVK6nnUsYzqwqHxPlbNztex0oWAsOlil46rnrcw6DWk11ZY2wcwHrX7NGr3uVG7w0PtBgAASA8E6YibQlQFdJp/HEaQrZNgdVMrzNf87zDHkWj8iALg3bt3u8VH03UWtLr0gsBcIbBOohV0K/BW8K1wXd3FCsP1MR3zIFTX/w06xzUuJpiTGoTnsZ+vY6Rt6HnTn+kcnE8WHKsjXa+HsDvpdaeBxuNs3rw5lO3rOOh1o7E8AKKB2n0GtZvaHaB2n0HtBgAAiB9BOmZE4100q1xBqzqKfdPYDAX52oewO8H1+HWruLqRtRjmvHnzLN0pCFborTd1MU7VpRYE5XqfgltdSFBYExu0z6SDPV1pYdFjx465BVHDfqx6PjT6SN8XYV2oUDChoEpz9wFEB7X7DGo3tZvaPR61GwAAIH7RXikRkaOAVWMb1BUeVtCrrnSdBCnMDZs6rLU/mo+tiwuZSsddC39qfrmef4XsuishuDMh+LuOh0JUvU7CDpZTTWOG9KaLKFEYY6J58wMDA6FdYNLdCBoRVF1dHXpnPoDxqN3jUbup3dTu06jdAAAAM0OQjhlTUKfQWLeChkHdzwpztVCmunCj0OmnsSh79uxxYy2Q+TQbXxdzdCKuUTVh00UlfT9oMdmwLmDomOj7UQEVgOihdo9H7c4+1O7Jjwm1GwAAIH4E6ZgxdRxrfINuBQ1LXV2dmwetsRpRCSj0ppnphOmZTSedGqGiOeBhjDeajL4XNVpIo4/CPC6LFi0Kde0CAFOjdp+N2p09qN1THxdqNwAAQPxIPDBjGtugDmyNkgirK11jRhSmqws3CiNeRMdEYy0UpmfymJdspvn8zc3Ntnbt2sjMxNfFJM2p1/dDWCNVtGaBfhaEvW4BgKlRuydH7c581O7JUbsBAABmjiAdCdH4Bi1oePDgwdCOoLpvNeKloaEhEiNeREH60qVLXZiujnlkBr2+NMpFJ+MK0aPSiR6MdFGIHtYCo5qvqosLGpMQ1j4AiA+1e3LU7sxE7Z4atRsAACAxBOlIuLNN85jVCTs0NBTaUVSAqO7vzs5OiwoFirW1tW5mekdHR9i7gyScbCqs1u3P69ati8RM9CiNdNHFBR0jdXUCiDZq99So3ZmF2j09ajcAAEBiCNKRMHWDl5SU2IEDB0I7isGIFwWKURnxIpo3uWrVKrdfjY2NkemYx8zoNRUsIrthwwb3eo+KKIx0UVChCwwK0cNa5BTAzFC7p0btzgzU7ulRuwEAABJHkI5Zd7apIzzMBTajOOJFFixYYOvXr3ez5Pft22fDw8Nh7xJmQK/pnTt3unEl6kTXArtREYWRLqKLRPo5oE5OAOmB2j09and6o3afG7UbAAAgcQTpmBWNlZg/f36os9KjOuJFiouLXZiugF+h7MDAQNi7hDi7vXft2mULFy60lStXWm5utH5UKkQPe6SLFhfV6KKamprIHR8A06N2T4/anZ6o3edG7QYAAJgd0g/MmuaB9/f3uzETYY54Wb58uRulEubM9qn2rb6+3nW5KUwP8zhherrgoYUzdWFIAbpGloQ1NmUqulikhWzDHOkiugNE3fCVlZWh7QOAxFG7p0ftTh/U7vhRuwEAAGaHIB2zprnRFRUVrks2TGVlZa5DV2NUNP8xShR4KrTQKBzt35EjRyI1hganx6XouVGXte4i0Ospires6yRYF43CHOmii1Xd3d3uNR21Cw0A4kPtPjdqd/RRu+NH7QYAAJg9gnQkhcY76Bf0sEerKKjWia86iqMYVKt7d+3ate44qTtdnfwIl14nCs+3bdvmRpREbVHRiWFBdXV16CG/vr90jHSXBYD0Re2OD7U7eqjdM0ftBgAAmD2CdCSFFmJctGiRW8AoTApCV69e7UZftLS0WBTNnTvXhbVaIHXHjh10p0cgnNbrVl3eq1atcrfzR43usNi/f7977ShID5Mu/uj7i250IP1Ru+NH7Y4OavfMUbsBAACSgyAdSaN50lrEqLW1NdSjqpEXmkmuIL2rq8uiSIG/OgHXrVtHd3oEOtk2bdoU6sKd59pXzf5XmL5ixYrQR6mooy1YqBBA+qN2x4/aHS5qd+Ko3QAAAMlBkI6kUSevTsg1/zvsGeVz5sxxoeOBAwciPT6FDjf/0qWTLXD06FF3QUh3WijECVNvb6+b064RSgAyA7V75qjd/lG7E0ftBgAASB6CdCTV4sWLXcds2AuPijqMq6qqbO/eva5TPqomdripS/rYsWORnPGezoaHh625udm2bt0a+S70QE9PjzU1NbkQXSMYwqSLY7owpWMWxRnyABJH7Z45arcf1O7ZoXYDAAAkF0E6kiovL891gisQPn78eOhHVx3y6k7XfOmoB9PqcNu4caML/zXKQ4uRKkjF7E8i29raXICu46mxP1HvQpfBwUH3ulX3t0aphC0YL1NXVxf2rgBIMmp34qjdqUHtTg5qNwAAQHIRpCPpFixY4LpWNT4j7BEv6o5XsK+OdJ1MRJ32V4u2qlu6rKzMBal79uxx4zQwM7pwEnT4azyKxrio6z8dZnurA093UlRWVtrChQvD3h33+tNMeR3DqF+AAJAYanfiqN3JQ+1OHmo3AABA8hGkIyXURasQPQojXtRpp9EYGpcS9kKoM9lnddNv3rzZjdFQd7pC9YGBgbB3LS1Owru7u23Hjh1uDrqOozr9dWEi7IU646HvGz3XGuVSW1sbif1RqB+EbAAyF7V7dqjdiaN2Jxe1GwAAIDVoLURqXlj5+bZy5UrXla6O2rBHUxQVFbmRHrt373ZzTdX1nS7HUWGq5tdqvvf27dtdoKl/65imQzDs86RRHega4zI0NOQCdD3PYS/QOdMgQSG67qBYu3ZtJJ7f4LZwdaMDyGzU7uQdR2p3fKjdqUHtBgAASA2CdKRM0MGqYFCd1WEHmppjumbNGjcqRfuisRnpQt3JGlGjcFhjSnSBQu9ToK5jrC64bKXQvL293R0XhRc6JhUVFWl3TBSiazFPPR6F6FHY/+C28HSYKQ8gOajdyUPtnhq1O3Wo3QAAAKmTMxr1FRiR1tRZqxnVpaWlrkM9CrTgpIJoddgqcE1HmqEd230dzNLWwqq+92PLli12wQUXeA1+9WOrq6vLBei9vb3u9aUAXfPPo9DFncjjOXjwoDv5VYheUFAQiS5BLdCqOx8UpAPIHtTu1KB2U7tTjdoNAACQWrQYIrUvsPx810mt4FpjNsIe8SIKXRUMqlNeoWs6zn1WaK3jqfBc4au6sXft2uVG2GgWuDoKFaqnY6g83cmhLoJo/rlCdN1VoMevCyLq+ktXCtEbGhrs+PHjbjHUKITosbeF19XVhb0rADyjdqcGtZvanWrUbgAAgNQiSEfW3SYe7FMQpissTKcxL7EUlGtkjd60SJwCZgXNWlRVJ+x6nArW1akdheM+UydPnhwLzhWiK2TW49HdDenafT5ZJ7pC9Kh0oov2h5EuQHajdqcOtZvanQrUbgAAgNQjSIcXCnk14kWdt1EZ8aKQYPXq1a5bXoGmupvTmYJzXRDQmy4O9PX1uQD60KFD7jZ9Bc96zArdi4uLIxms67Z3ddhr3xWg66RQ+6v9rqmpcfud7uH5xJno/f39kepE12tH3xO6YKE3ANmL2p161O70Qu0GAADIbgTpyNoRL8GYl/r6etu7d68LEDVnOxMoJNdj05tO+gYGBlyorrnqjY2N7n0lJSVu/IvewgjXFe4rNI99GxwcdIGy9kcXNnShIyoBczLptaa7ITTfXiF6lBby5LZwAAFqt1/U7mijdgMAACA66Q2y5jZxhennnXdeZDqi1am9Zs0aF6arI7q6ujpjup5Fj0Whud6WLFniQnQF1kF4fezYMWtqanIniPoczRtXeD3Zm0KVeI6NvpaCco1miX1TcKw/tf3Y0Fxhvjrp9WcmBuexdFwUouu1pnEuUQrRuS0cwETU7nBQu6OF2g0AAADJGVWqBnii8FAjXrQopjpxo0ShskJ+Bbvqno9K0O9DEK5rzEgQdk9803MnQfCrk3y96fOD8FtfR2+xnztZIK/nPxtC84l0Z4Au2Kj7XyOOdEt/lEKCrVu3utAsKuOXAEQDtTuaqN1+ULsBAAAQIEiHdwprd+zY4Ua8aP5qlCgwDrqFNfJF3dk402UeBOqxgbmCYR0rhcJBuB4E6JnU2T9bmvmumeh63S9dujRSx0bP7fbt293Fo/Xr12fVRSQA8aF2pydq9+xQuwEAABArOjMFkDU0PmTVqlUusFb3d0VFhUWFwl+NedGcaIX9mtEdlXnuYVO4qk7yWEHnuY5RlLqro0QXHFpbW+3IkSO2fPnySL3eA8HFI90lQogOYDLU7vRE7U4MtRsAAACToe0QoSgrK3Pzug8ePOhGqkTtpLOurs7t3549e6y9vT3sXUIadwLqNd7W1ubmoUcxRG9ubraenh53V0G2jdoBMDPUbmQDajcAAACmQpCO0GhRT81j3r17t5vPHCUau7F48WLXkd7Y2Og61FlOADOh2fG7du1ys+c3bNjg7r6I4i3rLS0tbk2AKO4fgOihdiOTUbsBAAAwHYJ0hBpWa1FDdcEqcFQHUNSUlpa6EFQdu+pOj1rgj2g6fvy47dy5041CUCd6FDu9tXiaRrroglEUO+UBRBO1G5mK2g0AAIBzIUhH6GNUNJNci1hqIcYo0lzwYAFGhaM60QImo7sWjh496u6yqKqqcjPRozhzXBetdPFKs+1ramrC3h0AaYbajUxC7QYAAEC8opfwIOsUFha6+czBmIko0kKaGvNSWVnpAsimpqZIdtAj3NvB9+7d6xYV1WtFQbo6N6NIr2G9prXob1T3EUC0UbuRCajdAAAAmIn8GX02kCLqjFX3bkNDgxuHodnpUaPAUQuQat+0gGRXVxezpeE62To6Otwc/fLycjeuKD8/uj9a9drVWJeNGze6MB0AEkXtRrqidgMAACARdKQjMtTtvWjRIje3WR1CUTVnzhw3N11zpelOz25BJ1tzc7Pr7tainVEO0TV2prOz03XMa2QRAMwWtRvphtoNAACARBGkI1Jqa2tt7ty5bhZ5lEenBN3pmp2ukTTa3xMnToS9W/DYydbe3m7bt293C4mquzuKd1HE6u3tdV3z+h7TIroAkCzUbqQDajcAAABmiyAdkQuo1dmrhcwUUkY5TI/tTi8rK3NhujqTo77PSF4nm8a4RL0LXbRArvY56BwFgGSidiPqqN0AAABIBoJ0RI5CyXXr1rnOoR07dkQ+mFaAsHTpUtedrrnpCtQVXCKzpGMnm/T399vu3bvdxZ66ujoWFwWQEtRuRBG1GwAAAMmUM6rfMIGIdg8plNbJuUJqdalHnb6djhw5Yq2trS5kVcBeXFxsmWp4eNi2bNliF1xwQcYuXKnnVON71IGux6swOh0CdNGiovoe0igXdc/rog8ApBK1O/qo3dFG7QYAAIgugnRE2uDgoAsCCwsLXZd6OoTpQZCgQL2jo8ON09A8dT2GTJPpJ+N9fX3W1NTkTmr1HC5cuDBtXoP63tEdHfPmzXOLixKiA/D584faHV3U7uiidgMAAEQbQTrS5qRCnd1r165NmyBTFMCqk1kdzYsXL7aqqqrIz9OeiUw9Gdc4FAXoWqBTz5ne0unx6UKORtBo4V6F6On0PQMgM1C7o4vaHU3UbgAAgOgjSEda3eaajmG6aGa6gtkTJ05YdXW1C9XT7TFkw8m4gh/dSdDZ2em6z9WFrnno6fi9ooVw6+vrM+J1BiA9UbujidodPdRuAACA9ECQjrQ6ydi1a5cLNtNlZvpEPT09LlA/efKkm5+usS/pPHIjU07GT5065QL0o0ePWnl5uXtuioqKLN0EJ+J0ogOICmp39FC7o4XaDQAAkD4I0pF2HcMK0xXabtiwIS3DdC1eeezYMTfyRX9Xd7oC9XQc+ZLuJ+M6eW1ra3Oz7DVLvKamxnVypyPd7aDvjfnz59uqVavS8nsDQGaidkcLtTs6qN0AAADphSAdaUczJBUYqpN748aNaRsYKkTv6uqy1tZWN5NbYbpCdY2vSRfpeDKu4647AxSgawa6OtB13NXFna40Omj37t22YMECW7lyZVrf5QAgM1G7o4PaHQ3UbgAAgPRDkI60pNEoGmEh6kxPx27uiSdTCnbVqa6OYs3nLisri3wgmk4n4xrfos5zjW/Rfi9atMi9pdsM9Il0MWDv3r3u9bJixYrIv2YAZC9qdzRQu8NH7QYAAEhPBOlI6xPyPXv2uC43LUCariM5Jj6m9vZ29zYyMuK61BWqR7VLPeon4+o+18mqjqe6/9V1ruOpLvR0vZMhlu5m0Mx9PaZly5YRogOIPGp3+Kjd4aJ2AwAApC+CdKQ1hc0HDx50Ieny5ctd8JwJggBY3dPd3d0uAFb4q9EdUVoEM4on4zp2mjmq14Q6/LWPUb8gkYj9+/e7x6gAXZ31AJAuqN3honaHh9oNAACQ3tJ7HgaynrqKNRO6paXFGhoa3IiUurq6tD8uGs9RWlrq3tS919nZ6ULTw4cPW0lJiQvUNcpDXfiM8jgdymjuuY6RLjwoTNcx0uKh+jMTus9jH6vGGulOjDVr1rhRQACQTqjd1G6hdgMAACDd0JGOjKEQVZ0+6t5WwJhJ4WnsnO8gMNafCtEVqCssVuju+zGH2dWmCwxBcK5jUVhYOHaBYd68eRl5gWFgYMAttKs1Aerr6yN1dwIAJILaTe2mdgMAACBdEKQjo/T397u56bJ+/XoXrmYqdV339fW5EEJvCpYVpuuEVJ3q6lxPdbDuM0jXRQSNbNFdB3q8+rsumgQXEjS2JRPD84DuStBdF+pA110YURmlAwCzRe2mdmcqajcAAEBmIUhHxlHgum/fPhe0qms3G0ZfKFRXt3LQna3HrlumFaYrVA/ekh2upypID0Lz4E3huUaZ6MKIHoeCc70VFBRYNtCColqcrLq62pYsWZLRFwwAZCdqN7U701C7AQAAMg9BOjI2WNY88fb2djcnu6qqyrLt8St4VgAdG0grXFfntjq5g2Bd4bQC6UTC2dkG6fr/6qTXvgaBuf6MDc31FuyvRppkEz1fe/fudXceqAtdC84CQKaidlO7MwG1GwAAIHNlVyqFrKFQWIuOKnw9dOiQCyJXr15t2fT4NT9bbxUVFePC9SCwPnbsmDU3N7suQFFIrUB9ujd1s+trB6G7ThZj/9Q2gj+DkDx407Zj/603/T99LYXmCvUVmC9atCgrQ/OJdLw0D13HSGOKdEwAIJNRu6nd6Y7aDQAAkNnoSEfGU4iurl4FwevWrcv6gHYihd4TA+6p3mYaiEwM4oPu99g3dbIzqmQ8jefRwrm6e0AXgLJlhA0ABKjd06N2Rw+1GwAAIPMRpCNrOoQUpg8ODrpRL4sXLw57l9JObLd58KZu9m3bttnmzZvHAvHYjnUC8plR9/mBAwfcrPuFCxdabW1tyheMBYCoonbPHrU79ajdAAAA2SO7Zycga6gTesOGDW7BxsbGRuvo6LA1a9bQnT4Dk4Xjwd81hiWZi41mo97eXteFrmOq12Y2LJILANOhds8etTu1qN0AAADZhSAdWXUyWV1dbWVlZS6wfOKJJ1zHr2ZyA1HoZKusrHSvSS5KAMBp1G5EEbUbAAAgOxGkI+to7rS601taWuzw4cPW3t5OdzpC7WST+vp6Ky0t5ZkAgElQuxEV1G4AAIDsRZCOrO1wW7JkietOVzcw3enwiU42AJg5ajfCRO0GAAAAQTqyWklJCd3p8IpONgCYHWo3fKN2AwAAQAjSkfXocIOvTraDBw9aV1eXVVRU2LJly5iFDgAJonbDB2o3AAAAYhGkA9N0uK1cudLNZQVmo7Oz072mhFnoAJA81G6kCrUbAAAAExGkA1N0uB06dMi2b99u8+fPd4F6fj7fLpj5reANDQ02ODhoixcvtqVLl9KFDgBJRu1GMlG7AQAAMBWSQWCKDrd169ZZT0+PNTY22uOPP+7C9RUrVlhubi7HDNPq7+93i9jqT41xWbNmjRUVFXHUACCFqN2YDWo3AAAAzoUgHZhGaWmpG/eiudYK1B977DGrrKy02tpaAnWcZWhoyAXox48fH7uTQcEOAMAfajdmgtoNAACAeBGkA3HcMl5eXu460jU3vampyc3NrK6udm/AqVOn3AiX7u5uF5yvXbvW5s2bx4EBgJBQu3Eu1G4AAADMFEE6MIOT8kWLFrmO9NbWVjty5Ij7U93peh+yz8jIiFtEVBdWCgoKbNWqVbZgwQL3WgEAhI/ajYmo3QAAAEgUQTowQ5qRrgVJFaq3tLS4TuTm5marq6tzISqy4yRcz31bW5sLafTcaxY6AToARBO1G9RuAAAAzBZBOpDoN09+vutGX7x4sQvS9+7da4WFhW7ci0J2ZOZt4Brtc+zYMRsdHbWlS5e655oFaAEgPVC7sw+1GwAAAMlCkA7MksLzFStWuC51dShr1IfCVnUoK2jVSTvSW39/v3te+/r63POp51XjfPLy8sLeNQBAAqjdmY/aDQAAgGQj4QOSpKioyJYtW+ZC1o6ODjf6Q4uTatFJvV+LUCK9aPa5ZuEPDAy453H16tVWWlrKCBcAyBDU7sxD7QYAAECqEKQDSaYuZY170ciPnp4eF6hv377ddb/pffoYo0Cia2hoyN1R0N3d7eap6s4CLSLKhRAAyFzU7vRG7QYAAIAPBOlAimjhSS0+qjd1NKs7XaG6Opznzp3r5qvPmTOH4x8BCszVwdba2mqDg4OuQ1F3FihEZzQPAGQPanf6oHYDAADAN4J0wIPi4mIXnCucVaezZqnv2LHDCgoKrKyszC1Qqo51+NXb2+vCc80+D7rPNe9eFzgUpgAAshe1O5qo3QAAAAgLQTrgkUa6lJeXuzd1PqtL/dixY3b06FEXqqtTXaNf5s+fz/OSAgrLNb9eb7pLYHh42M0+10UOPScsHgoAoHZHC7UbAAAAUUGQDoRE40Nqamrcm0J1daorVN+9e7cLdNUJV1lZ6d6YqT67uam6UNHV1eWOc3Dbvi5Y6E/CcwAAtTtaqN0AAACIIoJ0ICKhuoJdvalLWqG6gt/GxkY7fPiw+7hGwGixUkbAnNvx48fHRracPHnSdfur41zHUB3ojG0BAFC7o4XaDQAAgKgjSAciRh3SmtWtt9HRURcGK1TXOBItVhqMgFE3tYJhFsM0N6ZF3fw9PT3W39/vLkZozrkuTOgYqbsfAABqd3RQuwEAAJBuckaV1AGIPH2rajSJQnV1rJ84ccLNDVXwrnC9pKTESktLvYbrCqy3bNliF1xwgbcRKcGJtxYb0/E4deqUOw56zOo21+PXRQYuMAAAwkbtPo3aDQAAgExAkA6k8cm5ZogqUNft0HqbGK6rE1vhusaapCJYTnWQru5yhebqyo8NzfXY1HGu4Fx/6o3gHAAQddRuajcAAADSF6NdgDSlOd+ana43BeVTnaBrzvqhQ4dc0K2wOQjZNWtd/1dhu7rZ9TGfi5oqEFc4rrBcnWrab70pLFdAPzE013x4QnMAQDqjdgMAAADpi450IMMpXNeCmwrVFVjr70Forb8rtA4mPClID95iA3f9qfcpAAje9G/9v4aGBqurq3Pv078VfuvP4O+xAbn+HWxPfw+2qRA/dlv6U+E+neYAgGxE7QYAAACihyAdyHI6WVe4rVB94ltsCB6E7UFIHvv3IFyX2LBdb0EwHoTkE998dsEDAJAJqN0AAACAfwTpAAAAAAAAAABMg1ZQAAAAAAAAAACmQZAOAAAAAAAAAMA0CNIBAAAAAAAAAJgGQToAAAAAAAAAANMgSAcAAAAAAAAAYBoE6QAAAAAAAAAATIMgHQAAAAAAAACAaRCkAwAAAAAAAAAwDYJ0AAAAAAAAAACmQZAOAAAAAAAAAMA0CNKBLPDLX/7SDh8+HPZuAACAOFG7AQAAgGjJGR0dHQ17J4BsOSEeGBiY8uMVFRX29Kc/fdqv8Ytf/MI2bNhgNTU1M9r2pZdeam9/+9vtFa94xTk/995777Xe3l7395ycHKusrLRNmzbZvHnzLEq0n4sWLXLHAwCAVKB2Jxe1GwAAAOksP+wdALLF/fffb11dXe7v7e3t9tBDD9nll19uJSUl7n2rV68+Z5D+vve9z66//voZB+kz8bGPfcxOnTrlAuqRkRHXyd7Q0GC33HKLXXHFFRYV2s9nP/vZBOkAgJShdicXtRsAAADpjCAd8EQheOCBBx5wQfpNN91ktbW1Y+/v6+uzP/zhD3by5El70pOeZAsXLhzXxTU4OGiPPfaY5efnu7cXvvCF7iS/u7vbdY8vXrzY1q9fP+vucQX873rXu8b+rf2cLEgfGhqyLVu22PHjx62+vt6WLVs27uM/+9nP7Pzzz7e8vDzbsWOH268LLrjAcnPHT5XaunWrtba22sqVK23VqlWWLEeOHLFt27bZnDlz7MILLxy7aBFrz549dujQIVuxYoV7LtT1/5znPCdyHfgAAP+o3dRuAAAAIECQDkSEAnGNX1m+fLkLfh9//HF7z3veY1dddZX7+IMPPuiCawXDx44ds6KiIhekP/zwwy4I1pQm/alA+rOf/aw9+clPTtq+LV261E6cODHufdqPt7zlLW4kjQL8Rx991K688spxocONN97ognN1tKvjXoG5wvKvfOUrLlzXhYFrr73WmpqaXGe59l9B+mc+85lZ7/N//Md/2G233eYC9I6ODuvs7HT/VrAfuPXWW+1rX/uaXXzxxS50V5CuCxY/+clPCNIBAOdE7aZ2AwAAIHsQpAMR0N/f70Ln17zmNfbOd77Tve873/mOfehDH7JnPvOZbpSLOsR/+MMf2tVXX20ve9nLxv7vO97xjnFf63Of+5x98IMftO9///sJ78+BAwfsxz/+sRvt0tjY6MLmt771rWMfV6CvEP0Nb3iD/eVf/uXYuBrt11Of+lR70YteNK7L/kc/+pEVFxfb0aNH7fnPf77dc8899tznPtfuu+8+27t3r/36178e6xZXF/tsqfv905/+tH3hC19w4190keHd7363uzCh46IQXxcqvvzlL9vtt9/ugvTh4eFxjxEAgOlQu6ndAAAAyC7j5ysACMUjjzxibW1t9qY3vWnsfa961atswYIFbqGzc1FHt0JpdVIXFhbazp07XdidqIMHD7oRJ7/61a/c19V+xI6gUXe8Ot/Ly8vtpz/9qd15551uVI1Gu/zud78b97Ve/vKXuxBdtDioOtIV1Iver650bS/wghe8wGZLx0Ed7grRRWNv3vzmN9vu3bvdKBe566673PgcheiicP11r3vdrLcNAMgO1G5qNwAAALILHelABDQ3N1tZWZnNnz9/7H0KfxVe62PTef/7328/+MEP7LzzznNfY2BgwHVga/xLVVVVUmakf/e733Ud6OoW15gXdakXFBS4sD3WkiVL3GiaWArhYynoV3gu6rZXF7662hWya7HVV7/61W7O+2zomMUG/xLMb9fH9PVbWlrOWrQ1lYu4AgAyC7Wb2g0AAIDsQpAORIA6uzUCRaNUYhfi1CKi+thUNJ7k29/+tgu4g+BYHXIanaIwPVkUrGssir72S1/6Ujc/XAuifuQjH5l0Ac946WLB9ddf78bTaH66RteoE18XBjRTPVE6ZkHneaCnp2fsY0HAr5nsk30OAADx1BpqN7UbAAAA2YPRLkAEBAtgapRKQGNI9u/fbxdddNHY+7QIaezIFs0c13gUdYIHNLIk2bRYqKhrXJ72tKe5USia4x7r1KlTblZ6vLT/unig7nYtCqqFSrWI6vbt22e1v1poVYuf6usHNIKmtLTU1qxZM/Y5v//9762rq2vsc+IZowMAgFC7qd0AAADILnSkAxFQXV1tb3zjG904Ff2pcFwLYWrRzmCGt2zevNmF1wqe1Qn+lKc8xY1KUUf3pZdealu2bEnKYp3BYqOiWejBgpyXXHKJe59Gxtxwww2uI12LhWqsjEalaNvXXXed25d4PPzww25BUM1F18WABx54wD02Pa6Z7megvr7eXvziF9s3vvEN+5u/+Ru75pprXKD+xS9+0e2zuulFn/OlL33JXvva19pVV13l5syrEz7olAcAYDrUbmo3AAAAskvOaDLnPwCIi7rNb7vtNnvve99rFRUVY+/XzPF7773XjU1RaK0xKvn5Z653ae7517/+ddchrhEwt9xyixtP8s1vftM6OjrcQp6XXXaZff7zn3fd3ZqZLh/4wAdccBxPQH3rrbe6UDwIlHXruoLyl7zkJS7kjrVt2za3sKe2rRnk+pwVK1aMffzGG290M8+1qGfgU5/6lG3atMmuuOKKsWOhr6HAXl/jla98ZVyz3WP3M5a+7pVXXunmsGu2+xNPPOEuOiis1wz2WL29vfbVr37VDh8+7PZbXeqa167nINH58gCAzETtpnYDAAAguxGkA8haGusSXGwQda3rToD7778/1P0CAACTo3YDAAAgLIx2AbJIc3Ozmx0+GXWbq2s7m/ZTo2kUpGtu+q5du+xb3/qW3XzzzUn52gAAJAO1ezxqNwAAAMJCkA5kEY1P0fiYyQTjT7JpPz/4wQ/aHXfcYY899pgbsaNZ8LFjaAAACBu1ezxqNwAAAMLCaBcAAAAAAAAAAKaRy9EBAAAAAAAAAGBqBOkAAAAAAAAAAEyDIB0AAAAAAAAAgGkQpAMAAAAAAAAAMA2CdAAAAAAAAAAApkGQDgAAAAAAAADANAjSAQAAAAAAAACYBkE6AAAAAAAAAADTIEgHAAAAAAAAAMCm9v8B50JPpZH0quwAAAAASUVORK5CYII=">
            <a:extLst>
              <a:ext uri="{FF2B5EF4-FFF2-40B4-BE49-F238E27FC236}">
                <a16:creationId xmlns:a16="http://schemas.microsoft.com/office/drawing/2014/main" id="{358E22D2-4E23-E9E2-A6B7-E42A918DC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38" y="404007"/>
            <a:ext cx="10208923" cy="604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95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06 · CARACTERIZAÇÃO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Ficha técnica dos cinco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 (%)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Idade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Estudo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Bens (med.)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Despesas (med.)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mulheres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superior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brancos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solteiros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78D6"/>
                          </a:solidFill>
                          <a:latin typeface="Calibri"/>
                        </a:rPr>
                        <a:t>A · Patrimonializados c/ campanha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418 (60%)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50,7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15,0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R$ 644 mil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R$ 133 mil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4501F"/>
                          </a:solidFill>
                          <a:latin typeface="Calibri"/>
                        </a:rPr>
                        <a:t>B · Campanha s/ patrimônio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112 (16%)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43,5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12,9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R$ 21 mil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875E"/>
                          </a:solidFill>
                          <a:latin typeface="Calibri"/>
                        </a:rPr>
                        <a:t>C · Patrimônio s/ despesas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78 (11%)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49,8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13,4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R$ 203 mil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A3AA7"/>
                          </a:solidFill>
                          <a:latin typeface="Calibri"/>
                        </a:rPr>
                        <a:t>D · Jovens baixa estrutura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44 (6%)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37,1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9,3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03A68"/>
                          </a:solidFill>
                          <a:latin typeface="Calibri"/>
                        </a:rPr>
                        <a:t>E · Escolarizados s/ bens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40 (6%)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50,9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14,7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Base (692)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48,6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14,1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R$ 209 mil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R$ 36 mil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</a:rPr>
              <a:t>Dois contrastes que só aparecem com K = 5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D2433"/>
                </a:solidFill>
                <a:latin typeface="Calibri"/>
              </a:rPr>
              <a:t>D × E: mesmo zero em bens e despesas, perfis opostos. D tem 37 anos, 54% de mulheres e 32% de brancos; E tem 51 anos, 25% de mulheres e 70% de brancos. Já B, que faz campanha sem patrimônio, é paritário em gênero (as mulheres declaram bens medianos de R$ 100 mil, contra R$ 320 mil dos homens, mas têm despesa mediana até maior).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06 · CARACTERIZAÇÃO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Gênero, cor/raça, escolaridade e estado civil por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08_composicao_categor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94" y="1280160"/>
            <a:ext cx="7975050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06840" y="1417320"/>
            <a:ext cx="2743200" cy="48463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0" y="1600200"/>
            <a:ext cx="2286000" cy="4526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</a:rPr>
              <a:t>Destaques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D2433"/>
                </a:solidFill>
                <a:latin typeface="Calibri"/>
              </a:rPr>
              <a:t>Gênero: </a:t>
            </a:r>
            <a:r>
              <a:rPr sz="1150" b="0" i="0">
                <a:solidFill>
                  <a:srgbClr val="1D2433"/>
                </a:solidFill>
                <a:latin typeface="Calibri"/>
              </a:rPr>
              <a:t>mulheres são 54% em D e 50% em B, contra 25% em 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D2433"/>
                </a:solidFill>
                <a:latin typeface="Calibri"/>
              </a:rPr>
              <a:t>Cor/raça: </a:t>
            </a:r>
            <a:r>
              <a:rPr sz="1150" b="0" i="0">
                <a:solidFill>
                  <a:srgbClr val="1D2433"/>
                </a:solidFill>
                <a:latin typeface="Calibri"/>
              </a:rPr>
              <a:t>pretos e pardos são 58% em B e 61% em D; brancos são 70% em 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D2433"/>
                </a:solidFill>
                <a:latin typeface="Calibri"/>
              </a:rPr>
              <a:t>Escolaridade: </a:t>
            </a:r>
            <a:r>
              <a:rPr sz="1150" b="0" i="0">
                <a:solidFill>
                  <a:srgbClr val="1D2433"/>
                </a:solidFill>
                <a:latin typeface="Calibri"/>
              </a:rPr>
              <a:t>superior completo vai de 79% (A) a 0% (D).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D2433"/>
                </a:solidFill>
                <a:latin typeface="Calibri"/>
              </a:rPr>
              <a:t>Estado civil: </a:t>
            </a:r>
            <a:r>
              <a:rPr sz="1150" b="0" i="0">
                <a:solidFill>
                  <a:srgbClr val="1D2433"/>
                </a:solidFill>
                <a:latin typeface="Calibri"/>
              </a:rPr>
              <a:t>77% de solteiros em D; 61% de casados em 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06 · CARACTERIZAÇÃO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Profissão e partido desenham o perfil de cada 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09_indice_concentr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1" y="1113133"/>
            <a:ext cx="5573002" cy="53333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86482" y="13716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 · Patrimonializados c/ campanha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482" y="1755648"/>
            <a:ext cx="5166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D2433"/>
                </a:solidFill>
                <a:latin typeface="Calibri"/>
              </a:rPr>
              <a:t>Política 1,5× · PL 1,5× · PT 1,5× · UNIÃO 1,5× · AGIR ausente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45539" y="2359152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 · Campanha s/ patrimônio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6482" y="2743200"/>
            <a:ext cx="5166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D2433"/>
                </a:solidFill>
                <a:latin typeface="Calibri"/>
              </a:rPr>
              <a:t>PSOL 2,9× · MISSÃO 2,6× · PDT 2,4× · Comunicação 2,1×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86482" y="3346704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 · Patrimônio s/ despesas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482" y="3730752"/>
            <a:ext cx="5166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D2433"/>
                </a:solidFill>
                <a:latin typeface="Calibri"/>
              </a:rPr>
              <a:t>DC 3,3× · AGIR 2,4× · PODE 2,0× · nenhum candidato do PL e da UNIÃO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86482" y="4334256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 · Jovens baixa estrutura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6482" y="4718304"/>
            <a:ext cx="5166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D2433"/>
                </a:solidFill>
                <a:latin typeface="Calibri"/>
              </a:rPr>
              <a:t>Aposentado/estudante/lar 5,8× · AGIR 5,2× · DC 3,3× · MISSÃO 2,5×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6482" y="532180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D55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 · Escolarizados s/ bens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6482" y="5705856"/>
            <a:ext cx="5166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D2433"/>
                </a:solidFill>
                <a:latin typeface="Calibri"/>
              </a:rPr>
              <a:t>DC 4,0× · AGIR 3,5× · AVANTE 2,0× · Comunicação 2,2×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06 · NOMEAÇÃO DOS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Cinco perfis, cinco nomes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103120" cy="38404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645920"/>
            <a:ext cx="868680" cy="8686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17830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60%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da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Cluster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mbria"/>
              </a:rPr>
              <a:t>Patrimonializados, escolarizados e com campanha 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Bens (mediana R$ 644 mil) e despesas (mediana R$ 133 mil); 15,0 anos de estudo; políticos de carreira e legendas grandes.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463040"/>
            <a:ext cx="2103120" cy="38404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99232" y="1645920"/>
            <a:ext cx="868680" cy="8686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4" y="17830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16%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da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697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4501F"/>
                </a:solidFill>
                <a:latin typeface="Calibri"/>
              </a:rPr>
              <a:t>Cluster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01752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mbria"/>
              </a:rPr>
              <a:t>Campanha ativa sem patrimônio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406908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Nenhum bem declarado, todos com despesas (mediana R$ 21 mil); paritário em gênero; PSOL, MISSÃO e PDT.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463040"/>
            <a:ext cx="2103120" cy="38404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66944" y="1645920"/>
            <a:ext cx="868680" cy="86868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17830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11%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da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697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3875E"/>
                </a:solidFill>
                <a:latin typeface="Calibri"/>
              </a:rPr>
              <a:t>Cluster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01752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mbria"/>
              </a:rPr>
              <a:t>Patrimonializados sem despesas declaradas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406908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Bens (mediana R$ 203 mil), mas 96% sem despesas; 68% homens; DC e AGIR.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1775" y="1463040"/>
            <a:ext cx="2103120" cy="38404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534655" y="1645920"/>
            <a:ext cx="868680" cy="868680"/>
          </a:xfrm>
          <a:prstGeom prst="ellipse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7" y="17830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6%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da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5" y="2697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3AA7"/>
                </a:solidFill>
                <a:latin typeface="Calibri"/>
              </a:rPr>
              <a:t>Cluster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5" y="301752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mbria"/>
              </a:rPr>
              <a:t>Jovens com baixa estrutura declarada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5" y="406908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37 anos, 9,3 anos de estudo, sem superior; 77% solteiros; 54% mulheres.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19488" y="1463040"/>
            <a:ext cx="2103120" cy="38404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802367" y="1645920"/>
            <a:ext cx="868680" cy="868680"/>
          </a:xfrm>
          <a:prstGeom prst="ellipse">
            <a:avLst/>
          </a:prstGeom>
          <a:solidFill>
            <a:srgbClr val="D55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19" y="17830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6%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da 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2697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03A68"/>
                </a:solidFill>
                <a:latin typeface="Calibri"/>
              </a:rPr>
              <a:t>Cluster 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7" y="301752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mbria"/>
              </a:rPr>
              <a:t>Escolarizados sem bens nem despesas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7" y="406908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51 anos, 68% com superior; 75% homens; 70% brancos; sem bens e sem despesas.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86400"/>
            <a:ext cx="11109960" cy="804672"/>
          </a:xfrm>
          <a:prstGeom prst="roundRect">
            <a:avLst>
              <a:gd name="adj" fmla="val 8000"/>
            </a:avLst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532120"/>
            <a:ext cx="10698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</a:rPr>
              <a:t>Nomes do grupo, conferidos nos dados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uma checagem no notebook confirma o perfil de cada nome: A e C têm bens; A e B têm despesas; C não tem despesas; D é mais jovem e menos escolarizado que 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07 · PREPARAÇÃO PARA O APRIORI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Faixas por quartil: sempre quatro, mas com empates repartidos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10_quart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98" y="1325880"/>
            <a:ext cx="11234122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1605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libri"/>
              </a:rPr>
              <a:t>Idade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 faixas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21–40 · 40–48 · 48–57 · 57–86 anos; fronteiras com empates pequenos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1605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4297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libri"/>
              </a:rPr>
              <a:t>Anos de estudo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47091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sem rank: 2 faixas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12064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Q1 = 1–13 anos; Q2 mistura 13 e 16; Q3 = Q4 = 16 anos (divididos pela ordem das linhas)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605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libri"/>
              </a:rPr>
              <a:t>Bens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7091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sem rank: 3 faixas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2064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Q1 = só zeros (173 dos 194); os outros 21 zeros caem em Q2, até R$ 207 mil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16052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4297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libri"/>
              </a:rPr>
              <a:t>Despesas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47091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 faixas limpas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12064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Q1 = zero até R$ 1 mil · Q4 acima de R$ 233 mil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08 · REGRAS DE ASSOCIAÇÃO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Como a cesta do Apriori foi montada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libri"/>
              </a:rPr>
              <a:t>Faixas por quartil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38428" cy="292608"/>
          </a:xfrm>
          <a:prstGeom prst="roundRect">
            <a:avLst>
              <a:gd name="adj" fmla="val 50000"/>
            </a:avLst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Idade Q1–Q4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4227" y="1965960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Estudo Q1–Q4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6683" y="19659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Bens Q1–Q4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5403" y="1965960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Despesas Q1–Q4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libri"/>
              </a:rPr>
              <a:t>Perfil cadastral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Partido (27)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1095" y="3063240"/>
            <a:ext cx="704088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Gênero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2344" y="3063240"/>
            <a:ext cx="1659636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Grau de instrução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9140" y="3063240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Estado civil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Cor/raça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63624" y="347472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UF de nascimento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3474720"/>
            <a:ext cx="704088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UF (4)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D2433"/>
                </a:solidFill>
                <a:latin typeface="Calibri"/>
              </a:rPr>
              <a:t>Resultado da clusterização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2354580" cy="29260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cluster = um dos 5 perfis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55448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D2433"/>
                </a:solidFill>
                <a:latin typeface="Cambria"/>
              </a:rPr>
              <a:t>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17627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itens possíveis na cesta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55448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D2433"/>
                </a:solidFill>
                <a:latin typeface="Cambria"/>
              </a:rPr>
              <a:t>3.534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17627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itemsets frequentes (suporte ≥ 2%)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1752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D2433"/>
                </a:solidFill>
                <a:latin typeface="Cambria"/>
              </a:rPr>
              <a:t>12.084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63931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regras com lift ≥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01752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D2433"/>
                </a:solidFill>
                <a:latin typeface="Cambria"/>
              </a:rPr>
              <a:t>≤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63931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itens por regra (max_len)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4572000"/>
            <a:ext cx="4389120" cy="169164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43800" y="475488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</a:rPr>
              <a:t>Dois sentidos, duas perguntas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2433"/>
                </a:solidFill>
                <a:latin typeface="Calibri"/>
              </a:rPr>
              <a:t>Cluster → X: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o que caracteriza quem está no grupo?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2433"/>
                </a:solidFill>
                <a:latin typeface="Calibri"/>
              </a:rPr>
              <a:t>X → cluster: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que combinação prevê o grupo?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08 · REGRAS DE ASSOCIAÇÃO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Cluster no antecedente: o que caracteriza cada 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11_grafo_anteced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0598"/>
            <a:ext cx="7589520" cy="47597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37160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 · Campanha s/ patrimônio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92% em Bens=Q1; PSOL 2,9× e PDT 2,4×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37744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 · Patrimônio s/ despesas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97% em Despesas=Q1; DC 3,3×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 · Jovens baixa estrutura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74904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84% sem superior completo (lift 3,4); médio completo 2,7×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38912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D55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 · Escolarizados s/ bens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5488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100% em Despesas=Q1; as regras de estudo (Q2/Q4) vêm do empate no rank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539496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 · Patrimonializados c/ campanha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76072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Despesas=Q4 (41%); PL e PT 1,5×; lift baixo porque A é 60% da base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08 · REGRAS DE ASSOCIAÇÃO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Cluster no consequente: que combinação prevê cada 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12_grafo_consequ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75291"/>
            <a:ext cx="7223760" cy="45303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3258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73568" y="1417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D2433"/>
                </a:solidFill>
                <a:latin typeface="Calibri"/>
              </a:rPr>
              <a:t>Despesas=Q4 + Superior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80136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→ A · Patrimonializados c/ campanha</a:t>
            </a:r>
            <a:r>
              <a:rPr sz="1100" b="0" i="0">
                <a:solidFill>
                  <a:srgbClr val="52514E"/>
                </a:solidFill>
                <a:latin typeface="Calibri"/>
              </a:rPr>
              <a:t>   conf 1,00 · lift 1,7 · n=149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350008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244144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D2433"/>
                </a:solidFill>
                <a:latin typeface="Calibri"/>
              </a:rPr>
              <a:t>Bens=Q4 + Despesas=Q1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8254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3875E"/>
                </a:solidFill>
                <a:latin typeface="Calibri"/>
              </a:rPr>
              <a:t>→ C · Patrimônio s/ despesas</a:t>
            </a:r>
            <a:r>
              <a:rPr sz="1100" b="0" i="0">
                <a:solidFill>
                  <a:srgbClr val="52514E"/>
                </a:solidFill>
                <a:latin typeface="Calibri"/>
              </a:rPr>
              <a:t>   conf 0,95 · lift 8,4 · n=18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374136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8" y="3465576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D2433"/>
                </a:solidFill>
                <a:latin typeface="Calibri"/>
              </a:rPr>
              <a:t>Estudo=Q1 + Idade=Q1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384962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3AA7"/>
                </a:solidFill>
                <a:latin typeface="Calibri"/>
              </a:rPr>
              <a:t>→ D · Jovens baixa estrutura</a:t>
            </a:r>
            <a:r>
              <a:rPr sz="1100" b="0" i="0">
                <a:solidFill>
                  <a:srgbClr val="52514E"/>
                </a:solidFill>
                <a:latin typeface="Calibri"/>
              </a:rPr>
              <a:t>   conf 0,36 · lift 5,6 · n=20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398264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4489704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D2433"/>
                </a:solidFill>
                <a:latin typeface="Calibri"/>
              </a:rPr>
              <a:t>Partido=PSOL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48737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4501F"/>
                </a:solidFill>
                <a:latin typeface="Calibri"/>
              </a:rPr>
              <a:t>→ B · Campanha s/ patrimônio</a:t>
            </a:r>
            <a:r>
              <a:rPr sz="1100" b="0" i="0">
                <a:solidFill>
                  <a:srgbClr val="52514E"/>
                </a:solidFill>
                <a:latin typeface="Calibri"/>
              </a:rPr>
              <a:t>   conf 0,47 · lift 2,9 · n=14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5422392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551383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D2433"/>
                </a:solidFill>
                <a:latin typeface="Calibri"/>
              </a:rPr>
              <a:t>Cor=BRANCA + Gênero=MASCULINO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5897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03A68"/>
                </a:solidFill>
                <a:latin typeface="Calibri"/>
              </a:rPr>
              <a:t>→ E · Escolarizados s/ bens</a:t>
            </a:r>
            <a:r>
              <a:rPr sz="1100" b="0" i="0">
                <a:solidFill>
                  <a:srgbClr val="52514E"/>
                </a:solidFill>
                <a:latin typeface="Calibri"/>
              </a:rPr>
              <a:t>   conf 0,09 · lift 1,5 · n=20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09 · VALIDAÇÃO DOS PERFIS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As regras confirmam os nomes? Sim, em 4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Regra financeira (define)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Evidência cadastral (interpreta)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Veredito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A78D6"/>
                          </a:solidFill>
                          <a:latin typeface="Calibri"/>
                        </a:rPr>
                        <a:t>A · Patrimonializados c/ campanha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Despesas=Q4 + Instrução=Superior Completo → conf 1,00 (lift 1,7)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Superior completo + Despesas=Q4 → 100% (149); PL, PT e UNIÃO 1,5×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Confirma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4501F"/>
                          </a:solidFill>
                          <a:latin typeface="Calibri"/>
                        </a:rPr>
                        <a:t>B · Campanha s/ patrimônio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Bens=Q1 + Despesas=Q2 → conf 1,00 (lift 6,2)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PSOL → B (lift 2,9); mulher + médio completo (2,6)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Confirma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875E"/>
                          </a:solidFill>
                          <a:latin typeface="Calibri"/>
                        </a:rPr>
                        <a:t>C · Patrimônio s/ despesas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Bens=Q4 + Despesas=Q1 → conf 0,95 (lift 8,4)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DC → C (lift 3,3); 68% homens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Confirma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A3AA7"/>
                          </a:solidFill>
                          <a:latin typeface="Calibri"/>
                        </a:rPr>
                        <a:t>D · Jovens baixa estrutura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Despesas=Q1 + Estudo=Q1 → conf 0,52 (lift 8,2)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sem superior + até 40 anos (lift 5,6); solteiro + sem superior (5,4)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Confirma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03A68"/>
                          </a:solidFill>
                          <a:latin typeface="Calibri"/>
                        </a:rPr>
                        <a:t>E · Escolarizados s/ bens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Bens=Q1 + Despesas=Q1 → conf 0,47 (lift 8,1)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regras cadastrais fracas (lift ≈ 1,5); escolaridade próxima da média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D2433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EB6834"/>
                </a:solidFill>
                <a:latin typeface="Calibri"/>
              </a:rPr>
              <a:t>Leitura para a banca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D2433"/>
                </a:solidFill>
                <a:latin typeface="Calibri"/>
              </a:rPr>
              <a:t>Os três primeiros cortes são financeiros, e as regras confirmam isso com confiança perto de 1. O 5º perfil (E) é definido pela combinação de idade, estudo e ausência de recursos; nenhum atributo cadastral sozinho o prevê. Isso é esperado num grupo de 40 candidatos (5,8%).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10 · DETECÇÃO DE ANOMALIAS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Isolation Forest: por que contaminação de 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461727"/>
              </p:ext>
            </p:extLst>
          </p:nvPr>
        </p:nvGraphicFramePr>
        <p:xfrm>
          <a:off x="548640" y="1554480"/>
          <a:ext cx="49377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contamination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atípicos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da base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score no corte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0,01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1,0%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-0,146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0,02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2,0%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-0,134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0,03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3,0%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-0,120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433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24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2433"/>
                          </a:solidFill>
                          <a:latin typeface="Calibri"/>
                        </a:rPr>
                        <a:t>5,1%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2433"/>
                          </a:solidFill>
                          <a:latin typeface="Calibri"/>
                        </a:rPr>
                        <a:t>-0,101</a:t>
                      </a:r>
                    </a:p>
                  </a:txBody>
                  <a:tcPr marL="73152" marR="73152" marT="36576" marB="36576" anchor="ctr">
                    <a:solidFill>
                      <a:srgbClr val="FD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D2433"/>
                          </a:solidFill>
                          <a:latin typeface="Calibri"/>
                        </a:rPr>
                        <a:t>0,08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D2433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D2433"/>
                          </a:solidFill>
                          <a:latin typeface="Calibri"/>
                        </a:rPr>
                        <a:t>8,1%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D2433"/>
                          </a:solidFill>
                          <a:latin typeface="Calibri"/>
                        </a:rPr>
                        <a:t>-0,074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D2433"/>
                          </a:solidFill>
                          <a:latin typeface="Calibri"/>
                        </a:rPr>
                        <a:t>auto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433"/>
                          </a:solidFill>
                          <a:latin typeface="Calibri"/>
                        </a:rPr>
                        <a:t>34,7%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D2433"/>
                          </a:solidFill>
                          <a:latin typeface="Calibri"/>
                        </a:rPr>
                        <a:t>0 (</a:t>
                      </a:r>
                      <a:r>
                        <a:rPr sz="1200" b="0" dirty="0" err="1">
                          <a:solidFill>
                            <a:srgbClr val="1D2433"/>
                          </a:solidFill>
                          <a:latin typeface="Calibri"/>
                        </a:rPr>
                        <a:t>limiar</a:t>
                      </a:r>
                      <a:r>
                        <a:rPr sz="1200" b="0" dirty="0">
                          <a:solidFill>
                            <a:srgbClr val="1D2433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D2433"/>
                          </a:solidFill>
                          <a:latin typeface="Calibri"/>
                        </a:rPr>
                        <a:t>padrão</a:t>
                      </a:r>
                      <a:r>
                        <a:rPr sz="1200" b="0" dirty="0">
                          <a:solidFill>
                            <a:srgbClr val="1D2433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dirty="0">
                <a:solidFill>
                  <a:srgbClr val="EB6834"/>
                </a:solidFill>
                <a:latin typeface="Calibri"/>
              </a:rPr>
              <a:t>'auto' </a:t>
            </a:r>
            <a:r>
              <a:rPr sz="1050" b="1" i="0" dirty="0" err="1">
                <a:solidFill>
                  <a:srgbClr val="EB6834"/>
                </a:solidFill>
                <a:latin typeface="Calibri"/>
              </a:rPr>
              <a:t>não</a:t>
            </a:r>
            <a:r>
              <a:rPr sz="1050" b="1" i="0" dirty="0">
                <a:solidFill>
                  <a:srgbClr val="EB6834"/>
                </a:solidFill>
                <a:latin typeface="Calibri"/>
              </a:rPr>
              <a:t> serve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52514E"/>
                </a:solidFill>
                <a:latin typeface="Calibri"/>
              </a:rPr>
              <a:t>marca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240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candidatos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(35%).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50292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dirty="0">
                <a:solidFill>
                  <a:srgbClr val="EB6834"/>
                </a:solidFill>
                <a:latin typeface="Calibri"/>
              </a:rPr>
              <a:t>Dobra da curva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 dirty="0">
                <a:solidFill>
                  <a:srgbClr val="52514E"/>
                </a:solidFill>
                <a:latin typeface="Calibri"/>
              </a:rPr>
              <a:t>o corte de 5%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fica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em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score -0,10,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onde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a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queda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íngreme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termina.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5552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dirty="0" err="1">
                <a:solidFill>
                  <a:srgbClr val="EB6834"/>
                </a:solidFill>
                <a:latin typeface="Calibri"/>
              </a:rPr>
              <a:t>Examinável</a:t>
            </a:r>
            <a:endParaRPr sz="1050" b="1" i="0" dirty="0">
              <a:solidFill>
                <a:srgbClr val="EB6834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 dirty="0">
                <a:solidFill>
                  <a:srgbClr val="52514E"/>
                </a:solidFill>
                <a:latin typeface="Calibri"/>
              </a:rPr>
              <a:t>35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casos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podem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ser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analisados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um a um.</a:t>
            </a:r>
          </a:p>
        </p:txBody>
      </p:sp>
      <p:pic>
        <p:nvPicPr>
          <p:cNvPr id="11" name="Picture 10" descr="15_curva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535886"/>
            <a:ext cx="5897880" cy="47006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10 · DETECÇÃO DE ANOMALIAS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 dirty="0" err="1">
                <a:solidFill>
                  <a:srgbClr val="1D2433"/>
                </a:solidFill>
                <a:latin typeface="Cambria"/>
              </a:rPr>
              <a:t>Anomalias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na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população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: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escolaridade</a:t>
            </a:r>
            <a:r>
              <a:rPr lang="pt-BR" sz="2800" b="1" dirty="0">
                <a:solidFill>
                  <a:srgbClr val="1D2433"/>
                </a:solidFill>
                <a:latin typeface="Cambria"/>
              </a:rPr>
              <a:t>,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idade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extremas</a:t>
            </a:r>
            <a:r>
              <a:rPr lang="pt-BR" sz="2800" b="1" i="0" dirty="0">
                <a:solidFill>
                  <a:srgbClr val="1D2433"/>
                </a:solidFill>
                <a:latin typeface="Cambria"/>
              </a:rPr>
              <a:t> e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riqueza</a:t>
            </a:r>
            <a:endParaRPr sz="2800" b="1" i="0" dirty="0">
              <a:solidFill>
                <a:srgbClr val="1D2433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13_anomalias_glob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145" y="1500036"/>
            <a:ext cx="8937822" cy="316340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663440"/>
          <a:ext cx="11064239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Candidato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Partido/UF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Idade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Instrução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Bens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Despesas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Por que é atípico</a:t>
                      </a:r>
                    </a:p>
                  </a:txBody>
                  <a:tcPr marL="73152" marR="73152" marT="36576" marB="36576" anchor="ctr">
                    <a:solidFill>
                      <a:srgbClr val="1D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Adair Henriques Vovô Do Jeep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PSDB/GO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Fund. compl.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R$ 25,0 mi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R$ 250 mil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>
                          <a:solidFill>
                            <a:srgbClr val="1D2433"/>
                          </a:solidFill>
                          <a:latin typeface="Calibri"/>
                        </a:rPr>
                        <a:t>Patrimonializados</a:t>
                      </a:r>
                      <a:r>
                        <a:rPr sz="950" b="0" dirty="0">
                          <a:solidFill>
                            <a:srgbClr val="1D2433"/>
                          </a:solidFill>
                          <a:latin typeface="Calibri"/>
                        </a:rPr>
                        <a:t> c/ </a:t>
                      </a:r>
                      <a:r>
                        <a:rPr sz="950" b="0" dirty="0" err="1">
                          <a:solidFill>
                            <a:srgbClr val="1D2433"/>
                          </a:solidFill>
                          <a:latin typeface="Calibri"/>
                        </a:rPr>
                        <a:t>campanha</a:t>
                      </a:r>
                      <a:endParaRPr sz="950" b="0" dirty="0">
                        <a:solidFill>
                          <a:srgbClr val="1D24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Idade ↑ · Anos de estudo 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Chico Sá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AVANTE/MS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Fund. incompl.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R$ 150 mil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R$ 18 mil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Patrimonializados c/ campanha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Anos de estudo ↓ · Idade ↑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Barbara Bombom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PSOL/GO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Lê e escreve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R$ 0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R$ 3 mil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Campanha s/ patrimônio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Anos de estudo ↓ · Bens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Silva Fotografo - O Corno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AGIR/DF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Fund. incompl.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R$ 50 mil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R$ 0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Patrimônio s/ despesas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Anos de estudo ↓ · Despesas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Isa Marcondes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REPUBLICANOS/MS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Fund. incompl.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R$ 277 mil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R$ 1,0 mi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D2433"/>
                          </a:solidFill>
                          <a:latin typeface="Calibri"/>
                        </a:rPr>
                        <a:t>Patrimonializados c/ campanha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1D2433"/>
                          </a:solidFill>
                          <a:latin typeface="Calibri"/>
                        </a:rPr>
                        <a:t>Anos de </a:t>
                      </a:r>
                      <a:r>
                        <a:rPr sz="950" b="0" dirty="0" err="1">
                          <a:solidFill>
                            <a:srgbClr val="1D2433"/>
                          </a:solidFill>
                          <a:latin typeface="Calibri"/>
                        </a:rPr>
                        <a:t>estudo</a:t>
                      </a:r>
                      <a:r>
                        <a:rPr sz="950" b="0" dirty="0">
                          <a:solidFill>
                            <a:srgbClr val="1D2433"/>
                          </a:solidFill>
                          <a:latin typeface="Calibri"/>
                        </a:rPr>
                        <a:t> ↓ · </a:t>
                      </a:r>
                      <a:r>
                        <a:rPr sz="950" b="0" dirty="0" err="1">
                          <a:solidFill>
                            <a:srgbClr val="1D2433"/>
                          </a:solidFill>
                          <a:latin typeface="Calibri"/>
                        </a:rPr>
                        <a:t>Despesas</a:t>
                      </a:r>
                      <a:endParaRPr sz="950" b="0" dirty="0">
                        <a:solidFill>
                          <a:srgbClr val="1D24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10 · DETECÇÃO DE ANOMALIAS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 dirty="0" err="1">
                <a:solidFill>
                  <a:srgbClr val="1D2433"/>
                </a:solidFill>
                <a:latin typeface="Cambria"/>
              </a:rPr>
              <a:t>Dentro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 de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cada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grupo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aparecem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outras</a:t>
            </a:r>
            <a:r>
              <a:rPr sz="2800" b="1" i="0" dirty="0">
                <a:solidFill>
                  <a:srgbClr val="1D2433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1D2433"/>
                </a:solidFill>
                <a:latin typeface="Cambria"/>
              </a:rPr>
              <a:t>histórias</a:t>
            </a:r>
            <a:endParaRPr sz="2800" b="1" i="0" dirty="0">
              <a:solidFill>
                <a:srgbClr val="1D2433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7640" y="6148549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00102" y="5116178"/>
            <a:ext cx="2651760" cy="1417273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87712" y="5257261"/>
            <a:ext cx="1371600" cy="20850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Global × 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4792" y="5524942"/>
            <a:ext cx="23774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dirty="0">
                <a:solidFill>
                  <a:srgbClr val="1D2433"/>
                </a:solidFill>
                <a:latin typeface="Calibri"/>
              </a:rPr>
              <a:t>Global ×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4792" y="5793121"/>
            <a:ext cx="237744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 dirty="0">
                <a:solidFill>
                  <a:srgbClr val="52514E"/>
                </a:solidFill>
                <a:latin typeface="Calibri"/>
              </a:rPr>
              <a:t>14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atípicos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nos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dois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olhares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; 22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só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dentro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do cluster, que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passariam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despercebidos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na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52514E"/>
                </a:solidFill>
                <a:latin typeface="Calibri"/>
              </a:rPr>
              <a:t>análise</a:t>
            </a:r>
            <a:r>
              <a:rPr sz="1050" b="0" i="0" dirty="0">
                <a:solidFill>
                  <a:srgbClr val="52514E"/>
                </a:solidFill>
                <a:latin typeface="Calibri"/>
              </a:rPr>
              <a:t> global.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607E8E31-5E4D-5D1A-99DB-113476EB0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3" y="1210929"/>
            <a:ext cx="3589122" cy="3192463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0038CDD0-BF3E-02C6-3AFE-E6CA3D2EE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350" y="2615137"/>
            <a:ext cx="8569639" cy="974836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2132C99B-3A2B-A4E2-ACD3-42E11DA7C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499" y="1210928"/>
            <a:ext cx="8569639" cy="1340363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4FB6F7B6-2A7C-F9D4-F349-D47E7A2D7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4740" y="3699611"/>
            <a:ext cx="8629657" cy="1098787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A912832C-EE3E-6430-071A-0C4A195E4E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3" y="4955655"/>
            <a:ext cx="9221007" cy="707196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A3A1B52D-F5FA-5738-0DC4-9E405909AA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43" y="5986777"/>
            <a:ext cx="9134857" cy="68018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11 · 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O que os dados nos ensinaram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58191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Perfis encontrados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5740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Patrimonializados com campanha (60%), campanha sem patrimônio (16%), patrimônio sem despesas (11%), jovens com baixa estrutura (6%) e escolarizados sem bens nem despesas (6%).</a:t>
            </a:r>
          </a:p>
        </p:txBody>
      </p:sp>
      <p:sp>
        <p:nvSpPr>
          <p:cNvPr id="7" name="Oval 6"/>
          <p:cNvSpPr/>
          <p:nvPr/>
        </p:nvSpPr>
        <p:spPr>
          <a:xfrm>
            <a:off x="6172200" y="1600200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58191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O que mais diferenciou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5740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Primeiro, ter ou não patrimônio e despesas (os 3 primeiros cortes). Depois, entre os sem recursos, a idade e o estudo, que separam D de 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91363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Regras que explicaram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8912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Superior + despesas altas → A (100%). Bens altos sem despesas → C (lift 8,4). Sem superior + até 40 anos → D (lift 5,6). PSOL → B (2,9). DC → C (3,3).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3931920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91363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Anomalias marcantes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38912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No olhar global, baixa escolaridade e idades de 85 e 86 anos. Em A, fortunas de R$ 67 a 104 mi (duas antes dos 30 anos). Em C, D e E, casos de fronteira.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11 · 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Confirmado, inesperado e a nossa contribuição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33375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377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1" i="0">
                <a:solidFill>
                  <a:srgbClr val="1D2433"/>
                </a:solidFill>
                <a:latin typeface="Calibri"/>
              </a:rPr>
              <a:t>Confirmou o que se esperava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D2433"/>
                </a:solidFill>
                <a:latin typeface="Calibri"/>
              </a:rPr>
              <a:t>Legendas grandes e políticos de carreira estão no grupo com patrimônio e campanha.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D2433"/>
                </a:solidFill>
                <a:latin typeface="Calibri"/>
              </a:rPr>
              <a:t>No topo, patrimônio alto e campanha ativa andam juntos.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D2433"/>
                </a:solidFill>
                <a:latin typeface="Calibri"/>
              </a:rPr>
              <a:t>Candidaturas sem recursos concentram-se em legendas menores (DC, AGIR).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394960" cy="3337560"/>
          </a:xfrm>
          <a:prstGeom prst="roundRect">
            <a:avLst>
              <a:gd name="adj" fmla="val 8000"/>
            </a:avLst>
          </a:prstGeom>
          <a:solidFill>
            <a:srgbClr val="FD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1" i="0">
                <a:solidFill>
                  <a:srgbClr val="C4501F"/>
                </a:solidFill>
                <a:latin typeface="Calibri"/>
              </a:rPr>
              <a:t>Foi inesperado / trouxe informação nova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50" b="1" i="0">
                <a:solidFill>
                  <a:srgbClr val="EB6834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D2433"/>
                </a:solidFill>
                <a:latin typeface="Calibri"/>
              </a:rPr>
              <a:t>112 candidatos sem bens fazem campanha; 78 com bens não fazem.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50" b="1" i="0">
                <a:solidFill>
                  <a:srgbClr val="EB6834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D2433"/>
                </a:solidFill>
                <a:latin typeface="Calibri"/>
              </a:rPr>
              <a:t>B é paritário em gênero e o mais diverso em cor/raça entre os grupos com recursos.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50" b="1" i="0">
                <a:solidFill>
                  <a:srgbClr val="EB6834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D2433"/>
                </a:solidFill>
                <a:latin typeface="Calibri"/>
              </a:rPr>
              <a:t>A falta de recursos tem dois perfis sociais opostos (D × E).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50" b="1" i="0">
                <a:solidFill>
                  <a:srgbClr val="EB6834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D2433"/>
                </a:solidFill>
                <a:latin typeface="Calibri"/>
              </a:rPr>
              <a:t>O traço mais raro é a baixa escolaridade, não a riqueza.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230368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B6834"/>
                </a:solidFill>
                <a:latin typeface="Calibri"/>
              </a:rPr>
              <a:t>Contribuição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 recurso mobilizado na campanha é uma dimensão própria, que separa candidaturas ativas das inativas melhor que o patrimônio. Com K = 5, a análise mostra ainda que 'não ter recursos' esconde dois perfis sociais distintos.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APÊNDICE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D2433"/>
                </a:solidFill>
                <a:latin typeface="Cambria"/>
              </a:rPr>
              <a:t>Notas metodológicas e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Fonte: TSE — candidatos, bens declarados e despesas contratadas, Eleições 2026 (DF, GO, MS, MT)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983"/>
                </a:solidFill>
                <a:latin typeface="Calibri"/>
              </a:rP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52514E"/>
                </a:solidFill>
                <a:latin typeface="Calibri"/>
              </a:rPr>
              <a:t>SQ_CANDIDATO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Padronizado como texto nas duas bases; sem nulos e sem duplicatas; 4 candidatos com despesa fora da base descartados no left join.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554480"/>
            <a:ext cx="384048" cy="384048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50876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52514E"/>
                </a:solidFill>
                <a:latin typeface="Calibri"/>
              </a:rPr>
              <a:t>Agregação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4 arquivos concatenados, filtro DS_CARGO = Deputado Federal, soma por candidato; 501 linhas idênticas mantidas (0,5% do valor).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52514E"/>
                </a:solidFill>
                <a:latin typeface="Calibri"/>
              </a:rPr>
              <a:t>fillna(0) + log1p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27 sem registro recebem zero (não NaN); somados aos 128 com registro zerado, são 155 com despesa zero.</a:t>
            </a:r>
          </a:p>
        </p:txBody>
      </p:sp>
      <p:sp>
        <p:nvSpPr>
          <p:cNvPr id="12" name="Oval 11"/>
          <p:cNvSpPr/>
          <p:nvPr/>
        </p:nvSpPr>
        <p:spPr>
          <a:xfrm>
            <a:off x="6172200" y="2788920"/>
            <a:ext cx="384048" cy="384048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432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52514E"/>
                </a:solidFill>
                <a:latin typeface="Calibri"/>
              </a:rPr>
              <a:t>Quartis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qcut sobre o rank (notebook 03): 4 faixas de 173; empates repartidos pela ordem das linhas (estudo Q2–Q4 e bens Q1/Q2).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023359"/>
            <a:ext cx="384048" cy="384048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39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52514E"/>
                </a:solidFill>
                <a:latin typeface="Calibri"/>
              </a:rPr>
              <a:t>Escolha do 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Bisecting com critério de inércia média (notebook 02), K de 2 a 10; K=5: silhueta 0,488, perfil D × E, K=6 fragmenta C.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4023359"/>
            <a:ext cx="384048" cy="384048"/>
          </a:xfrm>
          <a:prstGeom prst="ellipse">
            <a:avLst/>
          </a:prstGeom>
          <a:solidFill>
            <a:srgbClr val="1D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977639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52514E"/>
                </a:solidFill>
                <a:latin typeface="Calibri"/>
              </a:rPr>
              <a:t>Contaminação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0,05 global (dobra da curva de scores; o 'auto' marcaria 35%); por cluster, max(5%, 2/n) com escala do próprio grupo; 200 árvores.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11109960" cy="10515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5276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EB6834"/>
                </a:solidFill>
                <a:latin typeface="Calibri"/>
              </a:rPr>
              <a:t>Limitações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1D2433"/>
                </a:solidFill>
                <a:latin typeface="Calibri"/>
              </a:rPr>
              <a:t>Prestação de contas parcial (DF de 22/09; GO, MS e MT de 29/09; clusters B e E diferem em 1 candidato dos notebooks rodados com a base de 22/09) · sem resultado da eleição · separação em boa parte 'zero × não zero' · hipótese de financiamento partidário exige os dados de receitas.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5670</Words>
  <Application>Microsoft Office PowerPoint</Application>
  <PresentationFormat>Widescreen</PresentationFormat>
  <Paragraphs>682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Gino Pedreira Lucchese</cp:lastModifiedBy>
  <cp:revision>5</cp:revision>
  <dcterms:created xsi:type="dcterms:W3CDTF">2013-01-27T09:14:16Z</dcterms:created>
  <dcterms:modified xsi:type="dcterms:W3CDTF">2026-09-30T23:10:33Z</dcterms:modified>
  <cp:category/>
</cp:coreProperties>
</file>